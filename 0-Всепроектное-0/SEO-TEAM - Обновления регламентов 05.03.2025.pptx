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383B9-B2DE-4A00-915A-E2A412E424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DA8BE5-B07D-4E15-9244-6711BEFEBF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95BEC-D158-4BC8-A612-1C6DD925F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EC31E-97C2-4172-8B4F-7FE124BB58E5}" type="datetimeFigureOut">
              <a:rPr lang="ru-RU" smtClean="0"/>
              <a:t>05.03.2025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4811D-FAAE-4050-B9E5-7D64097DC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3BB34-3CA7-4ED3-907E-357D7F5F7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9138A-5C43-474A-929B-28845473B5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9924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8279B-422E-4868-94EE-096DABD1A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7E8AE-9FC7-433B-9323-675AC90FC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AB4610-20BF-49FA-A96B-FE7D87293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EC31E-97C2-4172-8B4F-7FE124BB58E5}" type="datetimeFigureOut">
              <a:rPr lang="ru-RU" smtClean="0"/>
              <a:t>05.03.2025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E9FC6-3F81-46DC-AFC5-53652535C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4B65F-5B7F-4E8B-873D-AF0206FC1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9138A-5C43-474A-929B-28845473B5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9686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2288C-4425-4495-B3AD-F3EE7883F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ACBF6-736B-42AA-B749-BC87EBABB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93BBB-EF39-42F9-B4AD-02308DB52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EC31E-97C2-4172-8B4F-7FE124BB58E5}" type="datetimeFigureOut">
              <a:rPr lang="ru-RU" smtClean="0"/>
              <a:t>05.03.2025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B1E14-FAC5-48EB-A884-ECF67C25D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78F33-050C-47F1-98B7-AF08E1754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9138A-5C43-474A-929B-28845473B5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3926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494FE-6DA1-4FF6-ADB3-F4EE587AA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A94C7-574A-47D8-B91A-6BEC537101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5ED8F1-5B5C-497E-AA75-502C445793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4A7F8E-9F9F-43D5-B89E-4378CBE22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EC31E-97C2-4172-8B4F-7FE124BB58E5}" type="datetimeFigureOut">
              <a:rPr lang="ru-RU" smtClean="0"/>
              <a:t>05.03.2025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CE81BC-2C42-4484-84B3-06145A009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8E980F-020E-4F63-9238-13F292B10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9138A-5C43-474A-929B-28845473B5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9894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F07EE-D572-409D-AB13-A8DC20CFF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0CD3F-EFC9-4DA8-B876-9B48B6533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1D180-2FAD-43C3-A33B-E8DB98F2F4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7D3183-78E7-4BA2-9930-15B0868466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C72878-305B-40CC-8228-E9CACE04F0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619D16-FBBD-446C-A714-389E8B1F7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EC31E-97C2-4172-8B4F-7FE124BB58E5}" type="datetimeFigureOut">
              <a:rPr lang="ru-RU" smtClean="0"/>
              <a:t>05.03.2025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A59457-93D7-41B4-B5DC-44FEDE0E5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FB870B-9D3F-4120-B1B5-81694D250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9138A-5C43-474A-929B-28845473B5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5286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27C17-06B8-4309-BCDD-59B229F7B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8F3B0C-44AC-46B0-B41D-E1D14800C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EC31E-97C2-4172-8B4F-7FE124BB58E5}" type="datetimeFigureOut">
              <a:rPr lang="ru-RU" smtClean="0"/>
              <a:t>05.03.2025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C2720C-00F6-4CA2-ABAC-1CF54B518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1AE3C4-CBA1-4617-B418-8138620ED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9138A-5C43-474A-929B-28845473B5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5389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308B37-D546-45D7-928A-25F932869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EC31E-97C2-4172-8B4F-7FE124BB58E5}" type="datetimeFigureOut">
              <a:rPr lang="ru-RU" smtClean="0"/>
              <a:t>05.03.2025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F34115-1DC3-4924-A494-AC24551E5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2F20A9-91AC-4CA8-86AC-F12A9DFC9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9138A-5C43-474A-929B-28845473B5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7040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DB484-3BF7-4197-BCB1-F06017867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3A5B8-1C7E-40DC-AB34-BE47D3FC4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0AA0DB-F65C-4B40-8E48-62DA189272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D5F0CD-B9D9-4698-8CD2-4EE58D7DD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EC31E-97C2-4172-8B4F-7FE124BB58E5}" type="datetimeFigureOut">
              <a:rPr lang="ru-RU" smtClean="0"/>
              <a:t>05.03.2025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B31168-89B3-4809-9622-75A00FB2B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931718-0081-44D9-A525-DD4531F2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9138A-5C43-474A-929B-28845473B5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3220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E7D92-12CD-4256-ACBC-ECB251F5A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C4358C-3AD1-4A84-A077-281A2F2CCD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897812-91B5-4D14-A8C7-CAD4CA4C34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8E7797-F8D2-49FB-ABB8-15742D0B7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EC31E-97C2-4172-8B4F-7FE124BB58E5}" type="datetimeFigureOut">
              <a:rPr lang="ru-RU" smtClean="0"/>
              <a:t>05.03.2025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9FE251-3678-4968-9448-6DAD8EC52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B97E2-16CD-4112-8F08-65149A2B2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9138A-5C43-474A-929B-28845473B5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742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B688B-174E-4792-9499-8590635AE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62C346-4A87-48E5-86BD-38D4D8896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0FC0B-58DA-4BDE-A4EC-8AAF22A8E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EC31E-97C2-4172-8B4F-7FE124BB58E5}" type="datetimeFigureOut">
              <a:rPr lang="ru-RU" smtClean="0"/>
              <a:t>05.03.2025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83E28-7CEA-4A7C-A59C-7B18CF0FF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2E585-ECE7-43D6-9697-E658A33F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9138A-5C43-474A-929B-28845473B5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1569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028305-1281-4B15-9C66-60D8932B58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4205EA-927E-4736-B3DF-96633348CA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A5FD1-9840-4B37-885E-52FB08B46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EC31E-97C2-4172-8B4F-7FE124BB58E5}" type="datetimeFigureOut">
              <a:rPr lang="ru-RU" smtClean="0"/>
              <a:t>05.03.2025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B7EFD-8855-400D-912F-A986A4392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32D24-D6F0-454F-8594-C2A9AD507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9138A-5C43-474A-929B-28845473B5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8598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0A7D98-1BEB-43B4-B239-A338EE348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D879F-1BED-4F7A-9AE5-DB175AF06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9B76E-FB6A-435D-8DC8-D6BF30F404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CEC31E-97C2-4172-8B4F-7FE124BB58E5}" type="datetimeFigureOut">
              <a:rPr lang="ru-RU" smtClean="0"/>
              <a:t>05.03.2025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60D73-A1D4-423E-8375-D2B47A09CE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65C08-7EB5-4065-91CA-0118444F2D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9138A-5C43-474A-929B-28845473B5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2742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document/d/1sRBxe-DebXCnptKsSMzv-7l23SGC_P8g67Db756X6BE/edit?tab=t.0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IvvyzerZfD_jd8uKHGCu9B_CaeKQ572iWyS6dZZE_e0/edit?gid=0#gid=0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ff-Kz-16aa_Z5-t5lSEGRPjwaaWym0RKpegHrl3R8Ac/edit?gid=869977696#gid=869977696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BrlSJP-0cHk38-UkN2XDmk6fB5QkhDnkTiXYQ79uPQM/edit?gid=17429036#gid=17429036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xJm7tSRVe7GTfJOaIvAj5ZSK5XL3jyBOCFiVqbQzSVI/edit?gid=1689946528#gid=1689946528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arsenkin.ru/tools/check-h/" TargetMode="External"/><Relationship Id="rId3" Type="http://schemas.openxmlformats.org/officeDocument/2006/relationships/hyperlink" Target="https://prahov.ru/urls-in-domains-visibility-merged/" TargetMode="External"/><Relationship Id="rId7" Type="http://schemas.openxmlformats.org/officeDocument/2006/relationships/hyperlink" Target="https://prahov.ru/reshuffled_urls_reconsiliation/" TargetMode="External"/><Relationship Id="rId2" Type="http://schemas.openxmlformats.org/officeDocument/2006/relationships/hyperlink" Target="https://arsenkin.ru/tools/check-top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rahov.ru/url_parsing_preparation/" TargetMode="External"/><Relationship Id="rId11" Type="http://schemas.openxmlformats.org/officeDocument/2006/relationships/hyperlink" Target="https://docs.google.com/document/d/1sRBxe-DebXCnptKsSMzv-7l23SGC_P8g67Db756X6BE/edit?tab=t.0#heading=h.anh8s47ckagc" TargetMode="External"/><Relationship Id="rId5" Type="http://schemas.openxmlformats.org/officeDocument/2006/relationships/hyperlink" Target="https://prahov.ru/tdh1_parsing/" TargetMode="External"/><Relationship Id="rId10" Type="http://schemas.openxmlformats.org/officeDocument/2006/relationships/hyperlink" Target="https://word-keeper.ru/core/commerce" TargetMode="External"/><Relationship Id="rId4" Type="http://schemas.openxmlformats.org/officeDocument/2006/relationships/hyperlink" Target="https://prahov.ru/url_masks_analyzer/" TargetMode="External"/><Relationship Id="rId9" Type="http://schemas.openxmlformats.org/officeDocument/2006/relationships/hyperlink" Target="https://prahov.ru/urls-keywords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rahov.ru/masslsi/" TargetMode="External"/><Relationship Id="rId2" Type="http://schemas.openxmlformats.org/officeDocument/2006/relationships/hyperlink" Target="https://prahov.ru/similar-queries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8E3-2F33-4B97-B265-F18A7BC89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0281"/>
            <a:ext cx="9144000" cy="1655763"/>
          </a:xfrm>
        </p:spPr>
        <p:txBody>
          <a:bodyPr>
            <a:noAutofit/>
          </a:bodyPr>
          <a:lstStyle/>
          <a:p>
            <a:r>
              <a:rPr lang="ru-RU" sz="9600" dirty="0"/>
              <a:t>Обновления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9FCD7B-8F8A-4442-A85D-1BA16DE8C6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15851"/>
            <a:ext cx="9144000" cy="4854066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6000" dirty="0" err="1"/>
              <a:t>Промпт</a:t>
            </a:r>
            <a:r>
              <a:rPr lang="ru-RU" sz="6000" dirty="0"/>
              <a:t>-каталог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6000" dirty="0"/>
              <a:t>SERM</a:t>
            </a:r>
            <a:endParaRPr lang="ru-RU" sz="6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6000" dirty="0"/>
              <a:t>КФ+КНДРК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6000" dirty="0"/>
              <a:t>SEO</a:t>
            </a:r>
            <a:r>
              <a:rPr lang="ru-RU" sz="6000" dirty="0"/>
              <a:t> на этапе разработки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6000" dirty="0"/>
              <a:t>Гибридная структура</a:t>
            </a:r>
          </a:p>
        </p:txBody>
      </p:sp>
    </p:spTree>
    <p:extLst>
      <p:ext uri="{BB962C8B-B14F-4D97-AF65-F5344CB8AC3E}">
        <p14:creationId xmlns:p14="http://schemas.microsoft.com/office/powerpoint/2010/main" val="3036600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8E3-2F33-4B97-B265-F18A7BC89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0281"/>
            <a:ext cx="9144000" cy="1655763"/>
          </a:xfrm>
        </p:spPr>
        <p:txBody>
          <a:bodyPr>
            <a:noAutofit/>
          </a:bodyPr>
          <a:lstStyle/>
          <a:p>
            <a:r>
              <a:rPr lang="ru-RU" sz="9600" dirty="0" err="1"/>
              <a:t>Промпт</a:t>
            </a:r>
            <a:r>
              <a:rPr lang="ru-RU" sz="9600" dirty="0"/>
              <a:t>-каталог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9FCD7B-8F8A-4442-A85D-1BA16DE8C6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15851"/>
            <a:ext cx="9144000" cy="4854066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3600" dirty="0"/>
              <a:t>Тут </a:t>
            </a:r>
            <a:r>
              <a:rPr lang="af-ZA" sz="1400" dirty="0">
                <a:hlinkClick r:id="rId2"/>
              </a:rPr>
              <a:t>https://docs.google.com/document/d/1sRBxe-DebXCnptKsSMzv-7l23SGC_P8g67Db756X6BE/edit?tab=t.0</a:t>
            </a:r>
            <a:r>
              <a:rPr lang="ru-RU" sz="1400" dirty="0"/>
              <a:t>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3600" dirty="0"/>
              <a:t>+ в Библиотеке фишек и регламентов на листе </a:t>
            </a:r>
            <a:r>
              <a:rPr lang="en-US" sz="3600" dirty="0"/>
              <a:t>“</a:t>
            </a:r>
            <a:r>
              <a:rPr lang="ru-RU" sz="3600" dirty="0"/>
              <a:t>Документы</a:t>
            </a:r>
            <a:r>
              <a:rPr lang="en-US" sz="3600" dirty="0"/>
              <a:t>”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3600" dirty="0"/>
              <a:t>Структура + обновление конкретного </a:t>
            </a:r>
            <a:r>
              <a:rPr lang="ru-RU" sz="3600" dirty="0" err="1"/>
              <a:t>промпта</a:t>
            </a:r>
            <a:endParaRPr lang="ru-RU" sz="36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3600" dirty="0"/>
              <a:t>Будет дополняться и структурироваться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3600" dirty="0"/>
              <a:t>Обсуждение сложности дополнения (принять решение)</a:t>
            </a:r>
            <a:r>
              <a:rPr lang="en-US" sz="3600" dirty="0"/>
              <a:t> </a:t>
            </a:r>
            <a:endParaRPr lang="ru-RU" sz="36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ru-RU" sz="36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ru-RU" sz="1500" dirty="0"/>
          </a:p>
        </p:txBody>
      </p:sp>
    </p:spTree>
    <p:extLst>
      <p:ext uri="{BB962C8B-B14F-4D97-AF65-F5344CB8AC3E}">
        <p14:creationId xmlns:p14="http://schemas.microsoft.com/office/powerpoint/2010/main" val="859968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8E3-2F33-4B97-B265-F18A7BC89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0281"/>
            <a:ext cx="9144000" cy="1655763"/>
          </a:xfrm>
        </p:spPr>
        <p:txBody>
          <a:bodyPr>
            <a:noAutofit/>
          </a:bodyPr>
          <a:lstStyle/>
          <a:p>
            <a:r>
              <a:rPr lang="en-US" sz="9600" dirty="0"/>
              <a:t>SERM</a:t>
            </a:r>
            <a:endParaRPr lang="ru-RU" sz="9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9FCD7B-8F8A-4442-A85D-1BA16DE8C6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15851"/>
            <a:ext cx="9144000" cy="4854066"/>
          </a:xfrm>
        </p:spPr>
        <p:txBody>
          <a:bodyPr>
            <a:normAutofit fontScale="92500"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3600" dirty="0"/>
              <a:t>Тут</a:t>
            </a:r>
            <a:r>
              <a:rPr lang="en-US" sz="3600" dirty="0"/>
              <a:t> - </a:t>
            </a:r>
            <a:r>
              <a:rPr lang="af-ZA" sz="1300" dirty="0">
                <a:hlinkClick r:id="rId2"/>
              </a:rPr>
              <a:t>https://docs.google.com/spreadsheets/d/1IvvyzerZfD_jd8uKHGCu9B_CaeKQ572iWyS6dZZE_e0/edit?gid=0#gid=0</a:t>
            </a:r>
            <a:r>
              <a:rPr lang="af-ZA" sz="1300" dirty="0"/>
              <a:t> </a:t>
            </a:r>
            <a:endParaRPr lang="ru-RU" sz="13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3600" dirty="0"/>
              <a:t>+ в Библиотеке фишек и регламентов на листе </a:t>
            </a:r>
            <a:r>
              <a:rPr lang="en-US" sz="3600" dirty="0"/>
              <a:t>“</a:t>
            </a:r>
            <a:r>
              <a:rPr lang="ru-RU" sz="3600" dirty="0"/>
              <a:t>Документы</a:t>
            </a:r>
            <a:r>
              <a:rPr lang="en-US" sz="3600" dirty="0"/>
              <a:t>”</a:t>
            </a:r>
          </a:p>
          <a:p>
            <a:pPr algn="l"/>
            <a:r>
              <a:rPr lang="ru-RU" sz="3600" dirty="0"/>
              <a:t>Важно</a:t>
            </a:r>
            <a:r>
              <a:rPr lang="en-US" sz="3600" dirty="0"/>
              <a:t>(!)</a:t>
            </a:r>
            <a:endParaRPr lang="ru-RU" sz="3600" dirty="0"/>
          </a:p>
          <a:p>
            <a:pPr marL="742950" indent="-742950" algn="l">
              <a:buAutoNum type="arabicParenR"/>
            </a:pPr>
            <a:r>
              <a:rPr lang="ru-RU" sz="3600" dirty="0"/>
              <a:t>Регламент надо читать</a:t>
            </a:r>
          </a:p>
          <a:p>
            <a:pPr marL="742950" indent="-742950" algn="l">
              <a:buAutoNum type="arabicParenR"/>
            </a:pPr>
            <a:r>
              <a:rPr lang="ru-RU" sz="3600" dirty="0"/>
              <a:t>Цену надо уточнять</a:t>
            </a:r>
          </a:p>
          <a:p>
            <a:pPr marL="742950" indent="-742950" algn="l">
              <a:buAutoNum type="arabicParenR"/>
            </a:pPr>
            <a:r>
              <a:rPr lang="ru-RU" sz="3600" dirty="0"/>
              <a:t>Есть памятка</a:t>
            </a:r>
            <a:r>
              <a:rPr lang="en-US" sz="3600" dirty="0"/>
              <a:t>, </a:t>
            </a:r>
            <a:r>
              <a:rPr lang="ru-RU" sz="3600" dirty="0"/>
              <a:t>2 брифа</a:t>
            </a:r>
            <a:r>
              <a:rPr lang="en-US" sz="3600" dirty="0"/>
              <a:t> </a:t>
            </a:r>
            <a:r>
              <a:rPr lang="ru-RU" sz="3600" dirty="0"/>
              <a:t>и ТЗ</a:t>
            </a:r>
          </a:p>
          <a:p>
            <a:pPr marL="742950" indent="-742950" algn="l">
              <a:buAutoNum type="arabicParenR"/>
            </a:pPr>
            <a:r>
              <a:rPr lang="ru-RU" sz="3600" dirty="0"/>
              <a:t>ТЗ делает </a:t>
            </a:r>
            <a:r>
              <a:rPr lang="en-US" sz="3600" dirty="0"/>
              <a:t>SEO</a:t>
            </a:r>
            <a:r>
              <a:rPr lang="ru-RU" sz="3600" dirty="0"/>
              <a:t>шник</a:t>
            </a:r>
            <a:r>
              <a:rPr lang="en-US" sz="3600" dirty="0"/>
              <a:t>, </a:t>
            </a:r>
            <a:r>
              <a:rPr lang="ru-RU" sz="3600" dirty="0"/>
              <a:t>но отдает Полине</a:t>
            </a:r>
            <a:endParaRPr lang="en-US" sz="3600" dirty="0"/>
          </a:p>
          <a:p>
            <a:pPr marL="742950" indent="-742950" algn="l">
              <a:buAutoNum type="arabicParenR"/>
            </a:pPr>
            <a:r>
              <a:rPr lang="ru-RU" sz="3600" dirty="0"/>
              <a:t>Неоговоренные площадки - отдельно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ru-RU" sz="1500" dirty="0"/>
          </a:p>
        </p:txBody>
      </p:sp>
    </p:spTree>
    <p:extLst>
      <p:ext uri="{BB962C8B-B14F-4D97-AF65-F5344CB8AC3E}">
        <p14:creationId xmlns:p14="http://schemas.microsoft.com/office/powerpoint/2010/main" val="931868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8E3-2F33-4B97-B265-F18A7BC89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0281"/>
            <a:ext cx="9144000" cy="1655763"/>
          </a:xfrm>
        </p:spPr>
        <p:txBody>
          <a:bodyPr>
            <a:noAutofit/>
          </a:bodyPr>
          <a:lstStyle/>
          <a:p>
            <a:r>
              <a:rPr lang="ru-RU" sz="9600" dirty="0"/>
              <a:t>КФ+КНДРК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9FCD7B-8F8A-4442-A85D-1BA16DE8C6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15851"/>
            <a:ext cx="9144000" cy="4854066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3600" dirty="0"/>
              <a:t>Тут</a:t>
            </a:r>
            <a:r>
              <a:rPr lang="en-US" sz="3600" dirty="0"/>
              <a:t> - </a:t>
            </a:r>
            <a:r>
              <a:rPr lang="af-ZA" sz="1100" dirty="0">
                <a:hlinkClick r:id="rId2"/>
              </a:rPr>
              <a:t>https://docs.google.com/spreadsheets/d/1ff-Kz-16aa_Z5-t5lSEGRPjwaaWym0RKpegHrl3R8Ac/edit?gid=869977696#gid=869977696</a:t>
            </a:r>
            <a:r>
              <a:rPr lang="ru-RU" sz="1100" dirty="0"/>
              <a:t>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3600" dirty="0"/>
              <a:t>+ в Библиотеке фишек и регламентов на листе </a:t>
            </a:r>
            <a:r>
              <a:rPr lang="en-US" sz="3600" dirty="0"/>
              <a:t>“</a:t>
            </a:r>
            <a:r>
              <a:rPr lang="ru-RU" sz="3600" dirty="0"/>
              <a:t>Документы</a:t>
            </a:r>
            <a:r>
              <a:rPr lang="en-US" sz="3600" dirty="0"/>
              <a:t>”</a:t>
            </a:r>
            <a:endParaRPr lang="ru-RU" sz="36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600" dirty="0">
                <a:highlight>
                  <a:srgbClr val="FF0000"/>
                </a:highlight>
              </a:rPr>
              <a:t>?</a:t>
            </a:r>
            <a:r>
              <a:rPr lang="ru-RU" sz="3600" dirty="0"/>
              <a:t>+ в файлах новых проектов</a:t>
            </a:r>
            <a:endParaRPr lang="en-US" sz="3600" dirty="0"/>
          </a:p>
          <a:p>
            <a:pPr algn="l"/>
            <a:r>
              <a:rPr lang="ru-RU" sz="3600" dirty="0"/>
              <a:t>Важно</a:t>
            </a:r>
            <a:r>
              <a:rPr lang="en-US" sz="3600" dirty="0"/>
              <a:t>(!)</a:t>
            </a:r>
            <a:endParaRPr lang="ru-RU" sz="3600" dirty="0"/>
          </a:p>
          <a:p>
            <a:pPr marL="742950" indent="-742950" algn="l">
              <a:buAutoNum type="arabicParenR"/>
            </a:pPr>
            <a:r>
              <a:rPr lang="ru-RU" sz="3600" dirty="0"/>
              <a:t>Ожидает обкатки на реальных проектах</a:t>
            </a:r>
          </a:p>
          <a:p>
            <a:pPr marL="742950" indent="-742950" algn="l">
              <a:buAutoNum type="arabicParenR"/>
            </a:pPr>
            <a:r>
              <a:rPr lang="ru-RU" sz="3600" dirty="0"/>
              <a:t>В регламент можно и нужно интегрировать данные анализа КНДРК</a:t>
            </a:r>
          </a:p>
          <a:p>
            <a:pPr algn="l"/>
            <a:endParaRPr lang="ru-RU" sz="3600" dirty="0"/>
          </a:p>
          <a:p>
            <a:pPr algn="l"/>
            <a:endParaRPr lang="ru-RU" sz="36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ru-RU" sz="1500" dirty="0"/>
          </a:p>
        </p:txBody>
      </p:sp>
    </p:spTree>
    <p:extLst>
      <p:ext uri="{BB962C8B-B14F-4D97-AF65-F5344CB8AC3E}">
        <p14:creationId xmlns:p14="http://schemas.microsoft.com/office/powerpoint/2010/main" val="3770039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8E3-2F33-4B97-B265-F18A7BC89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11060"/>
            <a:ext cx="12192000" cy="1015534"/>
          </a:xfrm>
        </p:spPr>
        <p:txBody>
          <a:bodyPr>
            <a:noAutofit/>
          </a:bodyPr>
          <a:lstStyle/>
          <a:p>
            <a:r>
              <a:rPr lang="en-US" sz="8800" dirty="0"/>
              <a:t>SEO </a:t>
            </a:r>
            <a:r>
              <a:rPr lang="ru-RU" sz="8800" dirty="0"/>
              <a:t>на этапе разработки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9FCD7B-8F8A-4442-A85D-1BA16DE8C6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15851"/>
            <a:ext cx="9144000" cy="4854066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3600" dirty="0"/>
              <a:t>Тут</a:t>
            </a:r>
            <a:r>
              <a:rPr lang="en-US" sz="3600" dirty="0"/>
              <a:t> - </a:t>
            </a:r>
            <a:r>
              <a:rPr lang="af-ZA" sz="1100" dirty="0">
                <a:hlinkClick r:id="rId2"/>
              </a:rPr>
              <a:t>https://docs.google.com/spreadsheets/d/1BrlSJP-0cHk38-UkN2XDmk6fB5QkhDnkTiXYQ79uPQM/edit?gid=17429036#gid=17429036</a:t>
            </a:r>
            <a:r>
              <a:rPr lang="ru-RU" sz="1100" dirty="0"/>
              <a:t>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3600" dirty="0"/>
              <a:t>+ в Библиотеке фишек и регламентов на листе </a:t>
            </a:r>
            <a:r>
              <a:rPr lang="en-US" sz="3600" dirty="0"/>
              <a:t>“</a:t>
            </a:r>
            <a:r>
              <a:rPr lang="ru-RU" sz="3600" dirty="0"/>
              <a:t>Документы</a:t>
            </a:r>
            <a:r>
              <a:rPr lang="en-US" sz="3600" dirty="0"/>
              <a:t>”</a:t>
            </a:r>
            <a:endParaRPr lang="ru-RU" sz="36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3600" dirty="0"/>
              <a:t>Ожидает обкатки на реальных проектах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3600" dirty="0"/>
              <a:t>Самая сложная часть в составлении структуры выделена отдельно</a:t>
            </a:r>
          </a:p>
          <a:p>
            <a:pPr algn="l"/>
            <a:endParaRPr lang="ru-RU" sz="3600" dirty="0"/>
          </a:p>
          <a:p>
            <a:pPr algn="l"/>
            <a:endParaRPr lang="ru-RU" sz="36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ru-RU" sz="1500" dirty="0"/>
          </a:p>
        </p:txBody>
      </p:sp>
    </p:spTree>
    <p:extLst>
      <p:ext uri="{BB962C8B-B14F-4D97-AF65-F5344CB8AC3E}">
        <p14:creationId xmlns:p14="http://schemas.microsoft.com/office/powerpoint/2010/main" val="3509852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8E3-2F33-4B97-B265-F18A7BC89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23" y="411060"/>
            <a:ext cx="12133277" cy="1015534"/>
          </a:xfrm>
        </p:spPr>
        <p:txBody>
          <a:bodyPr>
            <a:noAutofit/>
          </a:bodyPr>
          <a:lstStyle/>
          <a:p>
            <a:r>
              <a:rPr lang="ru-RU" sz="8800" dirty="0" err="1"/>
              <a:t>Гибдирная</a:t>
            </a:r>
            <a:r>
              <a:rPr lang="ru-RU" sz="8800" dirty="0"/>
              <a:t> структура</a:t>
            </a:r>
            <a:r>
              <a:rPr lang="en-US" sz="8800" dirty="0"/>
              <a:t> </a:t>
            </a:r>
            <a:r>
              <a:rPr lang="ru-RU" sz="8800" dirty="0"/>
              <a:t>ч.1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9FCD7B-8F8A-4442-A85D-1BA16DE8C6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15851"/>
            <a:ext cx="9144000" cy="4854066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3600" dirty="0"/>
              <a:t>Тут</a:t>
            </a:r>
            <a:r>
              <a:rPr lang="en-US" sz="3600" dirty="0"/>
              <a:t> - </a:t>
            </a:r>
            <a:r>
              <a:rPr lang="af-ZA" sz="1100" dirty="0">
                <a:hlinkClick r:id="rId2"/>
              </a:rPr>
              <a:t>https://docs.google.com/spreadsheets/d/1xJm7tSRVe7GTfJOaIvAj5ZSK5XL3jyBOCFiVqbQzSVI/edit?gid=1689946528#gid=1689946528</a:t>
            </a:r>
            <a:r>
              <a:rPr lang="ru-RU" sz="1100" dirty="0"/>
              <a:t>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3600" dirty="0"/>
              <a:t>+ в Библиотеке фишек и регламентов на листе </a:t>
            </a:r>
            <a:r>
              <a:rPr lang="en-US" sz="3600" dirty="0"/>
              <a:t>“</a:t>
            </a:r>
            <a:r>
              <a:rPr lang="ru-RU" sz="3600" dirty="0"/>
              <a:t>Документы</a:t>
            </a:r>
            <a:r>
              <a:rPr lang="en-US" sz="3600" dirty="0"/>
              <a:t>”</a:t>
            </a:r>
            <a:endParaRPr lang="ru-RU" sz="3600" dirty="0"/>
          </a:p>
          <a:p>
            <a:pPr algn="l"/>
            <a:r>
              <a:rPr lang="ru-RU" sz="3600" dirty="0"/>
              <a:t>Важно</a:t>
            </a:r>
            <a:r>
              <a:rPr lang="en-US" sz="3600" dirty="0"/>
              <a:t>(!) + </a:t>
            </a:r>
            <a:r>
              <a:rPr lang="ru-RU" sz="3600" dirty="0"/>
              <a:t>Почему</a:t>
            </a:r>
            <a:r>
              <a:rPr lang="en-US" sz="3600" dirty="0"/>
              <a:t>?</a:t>
            </a:r>
            <a:endParaRPr lang="ru-RU" sz="3600" dirty="0"/>
          </a:p>
          <a:p>
            <a:pPr marL="742950" indent="-742950" algn="l">
              <a:buFont typeface="+mj-lt"/>
              <a:buAutoNum type="arabicPeriod"/>
            </a:pPr>
            <a:r>
              <a:rPr lang="ru-RU" sz="3200" dirty="0"/>
              <a:t>Имеет общую канву</a:t>
            </a:r>
            <a:r>
              <a:rPr lang="en-US" sz="3200" dirty="0"/>
              <a:t>, </a:t>
            </a:r>
            <a:r>
              <a:rPr lang="ru-RU" sz="3200" dirty="0"/>
              <a:t>но требует навыков </a:t>
            </a:r>
            <a:r>
              <a:rPr lang="en-US" sz="3200" dirty="0"/>
              <a:t>SEO</a:t>
            </a:r>
            <a:r>
              <a:rPr lang="ru-RU" sz="3200" dirty="0"/>
              <a:t>-специалиста</a:t>
            </a:r>
          </a:p>
          <a:p>
            <a:pPr marL="742950" indent="-742950" algn="l">
              <a:buFont typeface="+mj-lt"/>
              <a:buAutoNum type="arabicPeriod"/>
            </a:pPr>
            <a:r>
              <a:rPr lang="ru-RU" sz="3200" dirty="0"/>
              <a:t>Представляются разнообразные инструменты для разных этапов реализации </a:t>
            </a:r>
          </a:p>
          <a:p>
            <a:pPr marL="742950" indent="-742950" algn="l">
              <a:buAutoNum type="arabicParenR"/>
            </a:pPr>
            <a:endParaRPr lang="ru-RU" sz="3600" dirty="0"/>
          </a:p>
          <a:p>
            <a:pPr marL="742950" indent="-742950" algn="l">
              <a:buAutoNum type="arabicParenR"/>
            </a:pPr>
            <a:endParaRPr lang="ru-RU" sz="3600" dirty="0"/>
          </a:p>
          <a:p>
            <a:pPr algn="l"/>
            <a:endParaRPr lang="ru-RU" sz="36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ru-RU" sz="1500" dirty="0"/>
          </a:p>
        </p:txBody>
      </p:sp>
    </p:spTree>
    <p:extLst>
      <p:ext uri="{BB962C8B-B14F-4D97-AF65-F5344CB8AC3E}">
        <p14:creationId xmlns:p14="http://schemas.microsoft.com/office/powerpoint/2010/main" val="1449717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8E3-2F33-4B97-B265-F18A7BC89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23" y="411060"/>
            <a:ext cx="12133277" cy="1015534"/>
          </a:xfrm>
        </p:spPr>
        <p:txBody>
          <a:bodyPr>
            <a:noAutofit/>
          </a:bodyPr>
          <a:lstStyle/>
          <a:p>
            <a:r>
              <a:rPr lang="ru-RU" sz="8800" dirty="0" err="1"/>
              <a:t>Гибдирная</a:t>
            </a:r>
            <a:r>
              <a:rPr lang="ru-RU" sz="8800" dirty="0"/>
              <a:t> структура</a:t>
            </a:r>
            <a:r>
              <a:rPr lang="en-US" sz="8800" dirty="0"/>
              <a:t> </a:t>
            </a:r>
            <a:r>
              <a:rPr lang="ru-RU" sz="8800" dirty="0"/>
              <a:t>ч.</a:t>
            </a:r>
            <a:r>
              <a:rPr lang="en-US" sz="8800" dirty="0"/>
              <a:t>2</a:t>
            </a:r>
            <a:endParaRPr lang="ru-RU" sz="8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9FCD7B-8F8A-4442-A85D-1BA16DE8C6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501" y="1426594"/>
            <a:ext cx="11728776" cy="5341675"/>
          </a:xfrm>
        </p:spPr>
        <p:txBody>
          <a:bodyPr>
            <a:normAutofit/>
          </a:bodyPr>
          <a:lstStyle/>
          <a:p>
            <a:pPr algn="l"/>
            <a:r>
              <a:rPr lang="ru-RU" sz="1050" dirty="0"/>
              <a:t>Общая логика</a:t>
            </a:r>
            <a:r>
              <a:rPr lang="en-US" sz="1050" dirty="0"/>
              <a:t> </a:t>
            </a:r>
            <a:r>
              <a:rPr lang="ru-RU" sz="1050" dirty="0"/>
              <a:t>ускоренной гибридной структуры (+ее издержки)</a:t>
            </a:r>
            <a:r>
              <a:rPr lang="en-US" sz="1050" dirty="0"/>
              <a:t>:</a:t>
            </a:r>
            <a:endParaRPr lang="ru-RU" sz="1050" dirty="0"/>
          </a:p>
          <a:p>
            <a:pPr marL="342900" indent="-342900" algn="l">
              <a:buAutoNum type="arabicParenR"/>
            </a:pPr>
            <a:r>
              <a:rPr lang="ru-RU" sz="1050" dirty="0"/>
              <a:t>Берем все услуги в запросной коммерческой форме и снимаем по ним топ 10 по </a:t>
            </a:r>
            <a:r>
              <a:rPr lang="en-US" sz="1050" dirty="0"/>
              <a:t>Y </a:t>
            </a:r>
            <a:r>
              <a:rPr lang="ru-RU" sz="1050" dirty="0"/>
              <a:t>и по </a:t>
            </a:r>
            <a:r>
              <a:rPr lang="en-US" sz="1050" dirty="0"/>
              <a:t>G </a:t>
            </a:r>
            <a:r>
              <a:rPr lang="ru-RU" sz="1050" dirty="0"/>
              <a:t>(бриф/сайт/приоритеты) (руки + </a:t>
            </a:r>
            <a:r>
              <a:rPr lang="af-ZA" sz="1050" dirty="0">
                <a:hlinkClick r:id="rId2"/>
              </a:rPr>
              <a:t>https://arsenkin.ru/tools/check-top/</a:t>
            </a:r>
            <a:r>
              <a:rPr lang="en-US" sz="1050" dirty="0"/>
              <a:t>) </a:t>
            </a:r>
            <a:endParaRPr lang="ru-RU" sz="1050" dirty="0"/>
          </a:p>
          <a:p>
            <a:pPr marL="342900" indent="-342900" algn="l">
              <a:buAutoNum type="arabicParenR"/>
            </a:pPr>
            <a:r>
              <a:rPr lang="ru-RU" sz="1050" dirty="0"/>
              <a:t>Вытаскиваем </a:t>
            </a:r>
            <a:r>
              <a:rPr lang="ru-RU" sz="1050" b="1" dirty="0"/>
              <a:t>тематические</a:t>
            </a:r>
            <a:r>
              <a:rPr lang="ru-RU" sz="1050" dirty="0"/>
              <a:t> домены </a:t>
            </a:r>
            <a:r>
              <a:rPr lang="ru-RU" sz="1050" b="1" dirty="0"/>
              <a:t>по максимуму </a:t>
            </a:r>
            <a:r>
              <a:rPr lang="ru-RU" sz="1050" dirty="0"/>
              <a:t>и собираем ТОП-</a:t>
            </a:r>
            <a:r>
              <a:rPr lang="en-US" sz="1050" dirty="0"/>
              <a:t>URL (</a:t>
            </a:r>
            <a:r>
              <a:rPr lang="en-US" sz="1050" dirty="0">
                <a:hlinkClick r:id="rId3"/>
              </a:rPr>
              <a:t>https://prahov.ru/urls-in-domains-visibility-merged/</a:t>
            </a:r>
            <a:r>
              <a:rPr lang="en-US" sz="1050" dirty="0"/>
              <a:t> ) </a:t>
            </a:r>
            <a:r>
              <a:rPr lang="ru-RU" sz="1050" dirty="0">
                <a:highlight>
                  <a:srgbClr val="FF0000"/>
                </a:highlight>
              </a:rPr>
              <a:t>(пример)</a:t>
            </a:r>
            <a:r>
              <a:rPr lang="ru-RU" sz="1050" dirty="0"/>
              <a:t> </a:t>
            </a:r>
          </a:p>
          <a:p>
            <a:pPr marL="342900" indent="-342900" algn="l">
              <a:buAutoNum type="arabicParenR"/>
            </a:pPr>
            <a:r>
              <a:rPr lang="ru-RU" sz="1050" dirty="0"/>
              <a:t>Фильтруем массив </a:t>
            </a:r>
            <a:r>
              <a:rPr lang="en-US" sz="1050" dirty="0"/>
              <a:t>URL </a:t>
            </a:r>
            <a:r>
              <a:rPr lang="ru-RU" sz="1050" dirty="0"/>
              <a:t>по маскам</a:t>
            </a:r>
            <a:r>
              <a:rPr lang="en-US" sz="1050" dirty="0"/>
              <a:t>, </a:t>
            </a:r>
            <a:r>
              <a:rPr lang="ru-RU" sz="1050" dirty="0"/>
              <a:t>чтобы осталось только то</a:t>
            </a:r>
            <a:r>
              <a:rPr lang="en-US" sz="1050" dirty="0"/>
              <a:t>, </a:t>
            </a:r>
            <a:r>
              <a:rPr lang="ru-RU" sz="1050" dirty="0"/>
              <a:t>что пойдет в структуру</a:t>
            </a:r>
            <a:r>
              <a:rPr lang="en-US" sz="1050" dirty="0"/>
              <a:t> (</a:t>
            </a:r>
            <a:r>
              <a:rPr lang="en-US" sz="1050" dirty="0">
                <a:hlinkClick r:id="rId4"/>
              </a:rPr>
              <a:t>https://prahov.ru/url_masks_analyzer/</a:t>
            </a:r>
            <a:r>
              <a:rPr lang="en-US" sz="1050" dirty="0"/>
              <a:t>) </a:t>
            </a:r>
            <a:r>
              <a:rPr lang="ru-RU" sz="1050" dirty="0">
                <a:highlight>
                  <a:srgbClr val="FF0000"/>
                </a:highlight>
              </a:rPr>
              <a:t>(пример)</a:t>
            </a:r>
            <a:r>
              <a:rPr lang="ru-RU" sz="1050" dirty="0"/>
              <a:t> </a:t>
            </a:r>
            <a:endParaRPr lang="en-US" sz="1050" dirty="0"/>
          </a:p>
          <a:p>
            <a:pPr marL="342900" indent="-342900" algn="l">
              <a:buFont typeface="Arial" panose="020B0604020202020204" pitchFamily="34" charset="0"/>
              <a:buAutoNum type="arabicParenR"/>
            </a:pPr>
            <a:r>
              <a:rPr lang="ru-RU" sz="1050" dirty="0" err="1"/>
              <a:t>Парсим</a:t>
            </a:r>
            <a:r>
              <a:rPr lang="ru-RU" sz="1050" dirty="0"/>
              <a:t> Темы </a:t>
            </a:r>
            <a:r>
              <a:rPr lang="en-US" sz="1050" dirty="0"/>
              <a:t>TDH1 (</a:t>
            </a:r>
            <a:r>
              <a:rPr lang="en-US" sz="1050" dirty="0">
                <a:hlinkClick r:id="rId5"/>
              </a:rPr>
              <a:t>https://prahov.ru/tdh1_parsing/</a:t>
            </a:r>
            <a:r>
              <a:rPr lang="en-US" sz="1050" dirty="0"/>
              <a:t> </a:t>
            </a:r>
            <a:r>
              <a:rPr lang="ru-RU" sz="1050" dirty="0"/>
              <a:t>ИЛИ</a:t>
            </a:r>
            <a:r>
              <a:rPr lang="en-US" sz="1050" dirty="0"/>
              <a:t> </a:t>
            </a:r>
            <a:r>
              <a:rPr lang="en-US" sz="1050" dirty="0">
                <a:hlinkClick r:id="rId6"/>
              </a:rPr>
              <a:t>https://prahov.ru/url_parsing_preparation/</a:t>
            </a:r>
            <a:r>
              <a:rPr lang="en-US" sz="1050" dirty="0"/>
              <a:t> + </a:t>
            </a:r>
            <a:r>
              <a:rPr lang="ru-RU" sz="1050" dirty="0"/>
              <a:t>Лягушка</a:t>
            </a:r>
            <a:r>
              <a:rPr lang="en-US" sz="1050" dirty="0"/>
              <a:t> +  </a:t>
            </a:r>
            <a:r>
              <a:rPr lang="en-US" sz="1050" dirty="0">
                <a:hlinkClick r:id="rId7"/>
              </a:rPr>
              <a:t>https://prahov.ru/reshuffled_urls_reconsiliation/</a:t>
            </a:r>
            <a:r>
              <a:rPr lang="en-US" sz="1050" dirty="0"/>
              <a:t> </a:t>
            </a:r>
            <a:r>
              <a:rPr lang="ru-RU" sz="1050" dirty="0">
                <a:highlight>
                  <a:srgbClr val="FF0000"/>
                </a:highlight>
              </a:rPr>
              <a:t>(пример)</a:t>
            </a:r>
            <a:r>
              <a:rPr lang="ru-RU" sz="1050" dirty="0"/>
              <a:t> ИЛИ</a:t>
            </a:r>
            <a:r>
              <a:rPr lang="en-US" sz="1050" dirty="0"/>
              <a:t> </a:t>
            </a:r>
            <a:r>
              <a:rPr lang="en-US" sz="1050" dirty="0">
                <a:hlinkClick r:id="rId8"/>
              </a:rPr>
              <a:t>https://arsenkin.ru/tools/check-h/</a:t>
            </a:r>
            <a:r>
              <a:rPr lang="ru-RU" sz="1050" dirty="0"/>
              <a:t> )</a:t>
            </a:r>
          </a:p>
          <a:p>
            <a:pPr marL="342900" indent="-342900" algn="l">
              <a:buAutoNum type="arabicParenR"/>
            </a:pPr>
            <a:r>
              <a:rPr lang="ru-RU" sz="1050" dirty="0" err="1"/>
              <a:t>Парсим</a:t>
            </a:r>
            <a:r>
              <a:rPr lang="ru-RU" sz="1050" dirty="0"/>
              <a:t> запросы с</a:t>
            </a:r>
            <a:r>
              <a:rPr lang="en-US" sz="1050" dirty="0"/>
              <a:t> Y </a:t>
            </a:r>
            <a:r>
              <a:rPr lang="ru-RU" sz="1050" dirty="0"/>
              <a:t>и </a:t>
            </a:r>
            <a:r>
              <a:rPr lang="en-US" sz="1050" dirty="0"/>
              <a:t>G </a:t>
            </a:r>
            <a:r>
              <a:rPr lang="ru-RU" sz="1050" dirty="0"/>
              <a:t>для массива </a:t>
            </a:r>
            <a:r>
              <a:rPr lang="en-US" sz="1050" dirty="0"/>
              <a:t>URL - </a:t>
            </a:r>
            <a:r>
              <a:rPr lang="en-US" sz="1050" dirty="0">
                <a:hlinkClick r:id="rId9"/>
              </a:rPr>
              <a:t>https://prahov.ru/urls-keywords/</a:t>
            </a:r>
            <a:r>
              <a:rPr lang="en-US" sz="1050" dirty="0"/>
              <a:t> </a:t>
            </a:r>
            <a:r>
              <a:rPr lang="ru-RU" sz="1050" dirty="0">
                <a:highlight>
                  <a:srgbClr val="FF0000"/>
                </a:highlight>
              </a:rPr>
              <a:t>(пример)</a:t>
            </a:r>
            <a:r>
              <a:rPr lang="ru-RU" sz="1050" dirty="0"/>
              <a:t> </a:t>
            </a:r>
            <a:endParaRPr lang="en-US" sz="1050" dirty="0"/>
          </a:p>
          <a:p>
            <a:pPr marL="342900" indent="-342900" algn="l">
              <a:buFont typeface="Arial" panose="020B0604020202020204" pitchFamily="34" charset="0"/>
              <a:buAutoNum type="arabicParenR"/>
            </a:pPr>
            <a:r>
              <a:rPr lang="ru-RU" sz="1050" dirty="0" err="1"/>
              <a:t>Парсим</a:t>
            </a:r>
            <a:r>
              <a:rPr lang="ru-RU" sz="1050" dirty="0"/>
              <a:t> </a:t>
            </a:r>
            <a:r>
              <a:rPr lang="ru-RU" sz="1050" dirty="0" err="1"/>
              <a:t>коммерческость</a:t>
            </a:r>
            <a:r>
              <a:rPr lang="ru-RU" sz="1050" dirty="0"/>
              <a:t> запросов </a:t>
            </a:r>
            <a:r>
              <a:rPr lang="af-ZA" sz="1050" dirty="0">
                <a:hlinkClick r:id="rId10"/>
              </a:rPr>
              <a:t>https://word-keeper.ru/core/commerce</a:t>
            </a:r>
            <a:r>
              <a:rPr lang="en-US" sz="1050" dirty="0"/>
              <a:t> &gt; </a:t>
            </a:r>
            <a:r>
              <a:rPr lang="ru-RU" sz="1050" dirty="0"/>
              <a:t>Выявляем </a:t>
            </a:r>
            <a:r>
              <a:rPr lang="ru-RU" sz="1050" b="1" dirty="0" err="1"/>
              <a:t>коммерческость</a:t>
            </a:r>
            <a:r>
              <a:rPr lang="ru-RU" sz="1050" b="1" dirty="0"/>
              <a:t> </a:t>
            </a:r>
            <a:r>
              <a:rPr lang="en-US" sz="1050" b="1" dirty="0"/>
              <a:t>URL</a:t>
            </a:r>
            <a:r>
              <a:rPr lang="en-US" sz="1050" dirty="0"/>
              <a:t> (Excel </a:t>
            </a:r>
            <a:r>
              <a:rPr lang="ru-RU" sz="1050" dirty="0"/>
              <a:t>+ формула) </a:t>
            </a:r>
            <a:r>
              <a:rPr lang="ru-RU" sz="1050" dirty="0">
                <a:highlight>
                  <a:srgbClr val="FF0000"/>
                </a:highlight>
              </a:rPr>
              <a:t>(пример)</a:t>
            </a:r>
            <a:endParaRPr lang="ru-RU" sz="1050" dirty="0"/>
          </a:p>
          <a:p>
            <a:pPr marL="342900" indent="-342900" algn="l">
              <a:buAutoNum type="arabicParenR"/>
            </a:pPr>
            <a:r>
              <a:rPr lang="ru-RU" sz="1050" dirty="0"/>
              <a:t>Формируем строки структуры для ИИ (</a:t>
            </a:r>
            <a:r>
              <a:rPr lang="en-US" sz="1050" dirty="0"/>
              <a:t>ID/</a:t>
            </a:r>
            <a:r>
              <a:rPr lang="ru-RU" sz="1050" dirty="0"/>
              <a:t>Видимость</a:t>
            </a:r>
            <a:r>
              <a:rPr lang="en-US" sz="1050" dirty="0"/>
              <a:t>/</a:t>
            </a:r>
            <a:r>
              <a:rPr lang="ru-RU" sz="1050" dirty="0" err="1"/>
              <a:t>Коммерческость</a:t>
            </a:r>
            <a:r>
              <a:rPr lang="en-US" sz="1050" dirty="0"/>
              <a:t>/</a:t>
            </a:r>
            <a:r>
              <a:rPr lang="ru-RU" sz="1050" dirty="0"/>
              <a:t>Тема) </a:t>
            </a:r>
            <a:r>
              <a:rPr lang="ru-RU" sz="1050" dirty="0">
                <a:highlight>
                  <a:srgbClr val="FF0000"/>
                </a:highlight>
              </a:rPr>
              <a:t>(пример)</a:t>
            </a:r>
            <a:r>
              <a:rPr lang="ru-RU" sz="1050" dirty="0"/>
              <a:t> </a:t>
            </a:r>
          </a:p>
          <a:p>
            <a:pPr marL="342900" indent="-342900" algn="l">
              <a:buAutoNum type="arabicParenR"/>
            </a:pPr>
            <a:r>
              <a:rPr lang="ru-RU" sz="1050" dirty="0"/>
              <a:t>Разделяем коммерческие строки</a:t>
            </a:r>
            <a:r>
              <a:rPr lang="en-US" sz="1050" dirty="0"/>
              <a:t> </a:t>
            </a:r>
            <a:r>
              <a:rPr lang="ru-RU" sz="1050" dirty="0"/>
              <a:t>от информационных </a:t>
            </a:r>
          </a:p>
          <a:p>
            <a:pPr marL="342900" indent="-342900" algn="l">
              <a:buAutoNum type="arabicParenR"/>
            </a:pPr>
            <a:r>
              <a:rPr lang="ru-RU" sz="1050" dirty="0"/>
              <a:t>Отправляем коммерческие строки на итерационное устранение менее видимых дубликатов (Пример </a:t>
            </a:r>
            <a:r>
              <a:rPr lang="ru-RU" sz="1050" dirty="0" err="1"/>
              <a:t>промпта</a:t>
            </a:r>
            <a:r>
              <a:rPr lang="ru-RU" sz="1050" dirty="0"/>
              <a:t> </a:t>
            </a:r>
            <a:r>
              <a:rPr lang="af-ZA" sz="1050" dirty="0">
                <a:hlinkClick r:id="rId11"/>
              </a:rPr>
              <a:t>https://docs.google.com/document/d/1sRBxe-DebXCnptKsSMzv-7l23SGC_P8g67Db756X6BE/edit?tab=t.0#heading=h.anh8s47ckagc</a:t>
            </a:r>
            <a:r>
              <a:rPr lang="ru-RU" sz="1050" dirty="0"/>
              <a:t> ) </a:t>
            </a:r>
          </a:p>
          <a:p>
            <a:pPr marL="342900" indent="-342900" algn="l">
              <a:buAutoNum type="arabicParenR"/>
            </a:pPr>
            <a:r>
              <a:rPr lang="ru-RU" sz="1050" dirty="0"/>
              <a:t>Создаем структуру</a:t>
            </a:r>
            <a:r>
              <a:rPr lang="en-US" sz="1050" dirty="0"/>
              <a:t>: </a:t>
            </a:r>
          </a:p>
          <a:p>
            <a:pPr marL="800100" lvl="1" indent="-342900" algn="l">
              <a:buAutoNum type="arabicParenR"/>
            </a:pPr>
            <a:r>
              <a:rPr lang="ru-RU" sz="1050" dirty="0"/>
              <a:t>Либо сразу через наращивание </a:t>
            </a:r>
            <a:r>
              <a:rPr lang="ru-RU" sz="1050" dirty="0" err="1"/>
              <a:t>брифовой</a:t>
            </a:r>
            <a:r>
              <a:rPr lang="ru-RU" sz="1050" dirty="0"/>
              <a:t> структуры гибридными штуками (вот основа </a:t>
            </a:r>
            <a:r>
              <a:rPr lang="en-US" sz="1050" dirty="0"/>
              <a:t>&gt; </a:t>
            </a:r>
            <a:r>
              <a:rPr lang="ru-RU" sz="1050" dirty="0"/>
              <a:t>встрой новые пункты и покажи дубликаты)</a:t>
            </a:r>
          </a:p>
          <a:p>
            <a:pPr marL="800100" lvl="1" indent="-342900" algn="l">
              <a:buAutoNum type="arabicParenR"/>
            </a:pPr>
            <a:r>
              <a:rPr lang="ru-RU" sz="1050" dirty="0"/>
              <a:t>Либо через создание гибридной структуры и потом сращивание ее с </a:t>
            </a:r>
            <a:r>
              <a:rPr lang="ru-RU" sz="1050" dirty="0" err="1"/>
              <a:t>брифовой</a:t>
            </a:r>
            <a:r>
              <a:rPr lang="ru-RU" sz="1050" dirty="0"/>
              <a:t> (сделай структуру по </a:t>
            </a:r>
            <a:r>
              <a:rPr lang="ru-RU" sz="1050" dirty="0" err="1"/>
              <a:t>брифовой</a:t>
            </a:r>
            <a:r>
              <a:rPr lang="ru-RU" sz="1050" dirty="0"/>
              <a:t> </a:t>
            </a:r>
            <a:r>
              <a:rPr lang="en-US" sz="1050" dirty="0"/>
              <a:t>&gt; </a:t>
            </a:r>
            <a:r>
              <a:rPr lang="ru-RU" sz="1050" dirty="0"/>
              <a:t>раскидай эту структуру в старую)</a:t>
            </a:r>
          </a:p>
          <a:p>
            <a:pPr lvl="1" algn="l"/>
            <a:r>
              <a:rPr lang="en-US" sz="1050" dirty="0"/>
              <a:t>(</a:t>
            </a:r>
            <a:r>
              <a:rPr lang="ru-RU" sz="1050" dirty="0"/>
              <a:t>Важно! Для следующих шага нужна единый формат данных для старой и для гибридной структуры</a:t>
            </a:r>
            <a:r>
              <a:rPr lang="en-US" sz="1050" dirty="0"/>
              <a:t>, </a:t>
            </a:r>
            <a:r>
              <a:rPr lang="ru-RU" sz="1050" dirty="0"/>
              <a:t>чтобы можно было отдать клиенту итоговую совмещенную структуру на обработку и создать итоговый документ без переделки с нуля)</a:t>
            </a:r>
          </a:p>
          <a:p>
            <a:pPr marL="342900" lvl="1" indent="-342900" algn="l">
              <a:spcBef>
                <a:spcPts val="1000"/>
              </a:spcBef>
              <a:buFont typeface="+mj-lt"/>
              <a:buAutoNum type="arabicParenR" startAt="11"/>
            </a:pPr>
            <a:r>
              <a:rPr lang="ru-RU" sz="1050" dirty="0"/>
              <a:t>Оформляем структуру</a:t>
            </a:r>
            <a:r>
              <a:rPr lang="en-US" sz="1050" dirty="0"/>
              <a:t>:</a:t>
            </a:r>
          </a:p>
          <a:p>
            <a:pPr marL="800100" lvl="1" indent="-342900" algn="l">
              <a:buFont typeface="+mj-lt"/>
              <a:buAutoNum type="arabicParenR"/>
            </a:pPr>
            <a:r>
              <a:rPr lang="ru-RU" sz="1050" dirty="0"/>
              <a:t>Либо в </a:t>
            </a:r>
            <a:r>
              <a:rPr lang="en-US" sz="1050" dirty="0"/>
              <a:t>Markdown # ## ###</a:t>
            </a:r>
            <a:r>
              <a:rPr lang="ru-RU" sz="1050" dirty="0"/>
              <a:t> </a:t>
            </a:r>
            <a:r>
              <a:rPr lang="ru-RU" sz="1050" dirty="0">
                <a:highlight>
                  <a:srgbClr val="FF0000"/>
                </a:highlight>
              </a:rPr>
              <a:t>(пример)</a:t>
            </a:r>
            <a:endParaRPr lang="en-US" sz="1050" dirty="0">
              <a:highlight>
                <a:srgbClr val="FF0000"/>
              </a:highlight>
            </a:endParaRPr>
          </a:p>
          <a:p>
            <a:pPr marL="800100" lvl="1" indent="-342900" algn="l">
              <a:buFont typeface="+mj-lt"/>
              <a:buAutoNum type="arabicParenR"/>
            </a:pPr>
            <a:r>
              <a:rPr lang="ru-RU" sz="1050" dirty="0"/>
              <a:t>Либо в </a:t>
            </a:r>
            <a:r>
              <a:rPr lang="en-US" sz="1050" dirty="0"/>
              <a:t>Excel</a:t>
            </a:r>
            <a:r>
              <a:rPr lang="ru-RU" sz="1050" dirty="0"/>
              <a:t> </a:t>
            </a:r>
            <a:r>
              <a:rPr lang="ru-RU" sz="1050" dirty="0">
                <a:highlight>
                  <a:srgbClr val="FF0000"/>
                </a:highlight>
              </a:rPr>
              <a:t>(пример)</a:t>
            </a:r>
          </a:p>
          <a:p>
            <a:pPr algn="l"/>
            <a:r>
              <a:rPr lang="ru-RU" sz="1050" dirty="0"/>
              <a:t>12) Согласовываем с клиентом </a:t>
            </a:r>
            <a:r>
              <a:rPr lang="en-US" sz="1050" dirty="0"/>
              <a:t>&gt; </a:t>
            </a:r>
            <a:r>
              <a:rPr lang="ru-RU" sz="1050" dirty="0"/>
              <a:t>учитываем его правки </a:t>
            </a:r>
            <a:r>
              <a:rPr lang="en-US" sz="1050" dirty="0"/>
              <a:t>&gt; </a:t>
            </a:r>
            <a:r>
              <a:rPr lang="ru-RU" sz="1050" dirty="0"/>
              <a:t>переделываем структуру с учётом правок</a:t>
            </a:r>
            <a:r>
              <a:rPr lang="en-US" sz="1050" dirty="0"/>
              <a:t> &gt;</a:t>
            </a:r>
            <a:r>
              <a:rPr lang="ru-RU" sz="1050" dirty="0"/>
              <a:t> сдаём.</a:t>
            </a:r>
          </a:p>
          <a:p>
            <a:pPr marL="342900" indent="-342900" algn="l">
              <a:buAutoNum type="arabicParenR"/>
            </a:pPr>
            <a:endParaRPr lang="ru-RU" sz="1050" dirty="0"/>
          </a:p>
        </p:txBody>
      </p:sp>
    </p:spTree>
    <p:extLst>
      <p:ext uri="{BB962C8B-B14F-4D97-AF65-F5344CB8AC3E}">
        <p14:creationId xmlns:p14="http://schemas.microsoft.com/office/powerpoint/2010/main" val="3864497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8E3-2F33-4B97-B265-F18A7BC89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23" y="411060"/>
            <a:ext cx="12133277" cy="1015534"/>
          </a:xfrm>
        </p:spPr>
        <p:txBody>
          <a:bodyPr>
            <a:noAutofit/>
          </a:bodyPr>
          <a:lstStyle/>
          <a:p>
            <a:r>
              <a:rPr lang="ru-RU" sz="8800" dirty="0"/>
              <a:t>Завершение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9FCD7B-8F8A-4442-A85D-1BA16DE8C6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501" y="1426594"/>
            <a:ext cx="11728776" cy="5341675"/>
          </a:xfrm>
        </p:spPr>
        <p:txBody>
          <a:bodyPr>
            <a:normAutofit/>
          </a:bodyPr>
          <a:lstStyle/>
          <a:p>
            <a:pPr marL="342900" indent="-342900" algn="l">
              <a:buAutoNum type="arabicParenR"/>
            </a:pPr>
            <a:r>
              <a:rPr lang="af-ZA" sz="4000" dirty="0">
                <a:hlinkClick r:id="rId2"/>
              </a:rPr>
              <a:t>https://prahov.ru/similar-queries/</a:t>
            </a:r>
            <a:r>
              <a:rPr lang="ru-RU" sz="4000" dirty="0"/>
              <a:t> </a:t>
            </a:r>
            <a:endParaRPr lang="en-US" sz="4000" dirty="0"/>
          </a:p>
          <a:p>
            <a:pPr marL="342900" indent="-342900" algn="l">
              <a:buAutoNum type="arabicParenR"/>
            </a:pPr>
            <a:r>
              <a:rPr lang="af-ZA" sz="4000" dirty="0">
                <a:hlinkClick r:id="rId3"/>
              </a:rPr>
              <a:t>https://prahov.ru/masslsi/</a:t>
            </a:r>
            <a:r>
              <a:rPr lang="en-US" sz="4000" dirty="0"/>
              <a:t> </a:t>
            </a:r>
            <a:endParaRPr lang="ru-RU" sz="4000" dirty="0"/>
          </a:p>
          <a:p>
            <a:pPr marL="342900" indent="-342900" algn="l">
              <a:buAutoNum type="arabicParenR"/>
            </a:pPr>
            <a:r>
              <a:rPr lang="ru-RU" sz="4000" dirty="0"/>
              <a:t>Планы 2025 + ОС по правкам + новые инструменты по запросам</a:t>
            </a:r>
          </a:p>
          <a:p>
            <a:pPr marL="342900" indent="-342900" algn="l">
              <a:buAutoNum type="arabicParenR"/>
            </a:pP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2878872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770</TotalTime>
  <Words>730</Words>
  <Application>Microsoft Office PowerPoint</Application>
  <PresentationFormat>Widescreen</PresentationFormat>
  <Paragraphs>66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Обновления</vt:lpstr>
      <vt:lpstr>Промпт-каталог</vt:lpstr>
      <vt:lpstr>SERM</vt:lpstr>
      <vt:lpstr>КФ+КНДРК</vt:lpstr>
      <vt:lpstr>SEO на этапе разработки</vt:lpstr>
      <vt:lpstr>Гибдирная структура ч.1</vt:lpstr>
      <vt:lpstr>Гибдирная структура ч.2</vt:lpstr>
      <vt:lpstr>Завершение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Обновления</dc:title>
  <dc:creator>Павел Прахов</dc:creator>
  <cp:lastModifiedBy>Павел Прахов</cp:lastModifiedBy>
  <cp:revision>18</cp:revision>
  <dcterms:created xsi:type="dcterms:W3CDTF">2025-03-05T07:32:53Z</dcterms:created>
  <dcterms:modified xsi:type="dcterms:W3CDTF">2025-03-05T21:10:14Z</dcterms:modified>
</cp:coreProperties>
</file>