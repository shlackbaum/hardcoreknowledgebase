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3522A-A844-447B-9008-1641478FC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9E69A-6E84-4DA6-AB6C-2B86E99F2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5E6DB-AC73-4399-9EBF-28F4E4D5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81875-11C8-405B-AD74-389C7486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FC693-3F1D-453D-A61F-00824E7A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736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E1BB8-264C-4415-8357-225A20FD9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6D072-6854-43B9-803A-F304F6DC0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B1680-85F0-400C-9187-A288FABC5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F848-6786-4554-A49F-E3551D0D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DEB2-D1C1-40CE-B8C9-BB38F78A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764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64FE-EE80-4E96-B4E9-387BBC24D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6C953-9948-4D16-B90D-F2EEB7ABB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1EA78-AE77-4F3F-AA4A-3523CE86F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A4FE8-253F-49C2-B25E-2A7CD9372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DBDA-C13C-4262-BEDD-4641EE457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4395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B1DE-260A-46DF-A611-7CC11CE45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9D832-8504-41F7-BBDC-C873AC282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E0865-0051-4C3B-8481-3F4728777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FCBA6-B242-48DB-B519-C76B74BC8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6E596-B92E-4AB3-BD19-049292CE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A3765-1675-4323-8E9A-C98319FD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193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13BFE-F2E5-4F4D-A1FF-42273D14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F1FAD-2256-4FA7-B452-9BECF88D8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569901-EB32-4B65-A120-F81A23CDD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90BEA5-5CA9-4EFB-9C2F-0882BE07E8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8B684-DD2C-46A8-9357-20F1F4ECED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9A6305-8C49-446E-9314-31684FAEB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4C9AD6-C3E7-458E-858C-7B9BF97C2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3C2568-A25D-4AF1-B199-DF831405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355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E83AE-C8A6-4802-B259-4C15839CA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53452-80C1-4DCA-82BA-8950B5EB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FD46A-EC73-4D51-87BA-E0FCE524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8F3515-A721-4A4A-AEEA-72C53A234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54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45546C-7690-4C10-BF34-6AE87BC14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CEAEB2-B4D9-4D6A-AE5C-C0B9C8A9C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E749B-807D-4254-B2C6-223EFFB6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96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7F7D1-1C07-4D11-A3AF-0ED98C8F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8A72-F5A8-4B84-B1DB-B6CCEB1F3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A7103-FDC1-4D74-85AB-873B38996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BFDB3-9E36-436B-B030-F201C47B8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B6DE8-6C7C-43EA-B5DE-2606452A3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3247A-8B90-4AF7-AC35-3374A0B1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66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D6B7-8282-4C73-9810-66B97675B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449062-3BE6-4849-BF43-B6D55021A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4BAC2-C4DA-43F4-9CD2-6DAB42F68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1A27F-7E76-401A-8BF0-E1596E5D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12997-BBF5-45C9-AABF-1BCE3F0B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FAE0F-2FE7-449C-8FEF-07A4B65DC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45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A8EDF-CE39-4A69-84C8-482B850EA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71E-DD9C-4A85-BA4F-180CFE0C17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3E56E-CA7A-4332-A446-53D5DEF9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C581A-CC75-42D8-A9CA-FAD51311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41F7D-776F-4E79-AA6B-CD857649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793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B53EE1-2F7E-4175-9713-FDC68E84E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E28DD-F077-4895-BE81-58DB6D98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CCA1-E29B-439C-A1AD-5D8D00DFB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E91B8-C1B1-48C4-9F55-4DA3A8B2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9DD3D-F242-4342-841E-0385EE1D6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44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2472C-A77C-4CC2-B79B-07C96F46B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75F14-DD46-4EDB-AC20-441CE656B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B9386-804D-4D5B-A90E-6958627B73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7DE8D-694A-4D34-B100-302C09E4B6F6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9FCA6-1638-4B4E-9812-B4BB32CC2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F7F8E-8F2B-4655-973F-771263429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77ED9-A288-4E36-8575-D6B84031C9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229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234" y="3593000"/>
            <a:ext cx="9144000" cy="788150"/>
          </a:xfrm>
        </p:spPr>
        <p:txBody>
          <a:bodyPr>
            <a:normAutofit fontScale="90000"/>
          </a:bodyPr>
          <a:lstStyle/>
          <a:p>
            <a:r>
              <a:rPr lang="ru-RU" sz="6700" dirty="0"/>
              <a:t>Тимлиды</a:t>
            </a:r>
            <a:r>
              <a:rPr lang="ru-RU" sz="4900" dirty="0"/>
              <a:t> </a:t>
            </a:r>
            <a:br>
              <a:rPr lang="ru-RU" sz="4900" dirty="0"/>
            </a:br>
            <a:r>
              <a:rPr lang="ru-RU" sz="6700" dirty="0"/>
              <a:t>Регламент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375794" y="2600587"/>
            <a:ext cx="9419440" cy="3561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 algn="l"/>
            <a:endParaRPr lang="ru-RU" sz="2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6239DCE-2AD7-4B24-A6D6-6BBE6EF60F76}"/>
              </a:ext>
            </a:extLst>
          </p:cNvPr>
          <p:cNvSpPr txBox="1">
            <a:spLocks/>
          </p:cNvSpPr>
          <p:nvPr/>
        </p:nvSpPr>
        <p:spPr>
          <a:xfrm>
            <a:off x="1528194" y="2752987"/>
            <a:ext cx="9419440" cy="3561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 algn="l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5778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6004" y="294030"/>
            <a:ext cx="9144000" cy="2004554"/>
          </a:xfrm>
        </p:spPr>
        <p:txBody>
          <a:bodyPr>
            <a:normAutofit/>
          </a:bodyPr>
          <a:lstStyle/>
          <a:p>
            <a:r>
              <a:rPr lang="ru-RU" dirty="0"/>
              <a:t>Почему этот регламент существует</a:t>
            </a:r>
            <a:r>
              <a:rPr lang="en-US" dirty="0"/>
              <a:t>?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375794" y="2600587"/>
            <a:ext cx="9419440" cy="3561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 algn="l"/>
            <a:r>
              <a:rPr lang="ru-RU" sz="2800" dirty="0"/>
              <a:t>У нас не было ясного зафиксированного регламента о зонах ответственности и обязанностях тимлида.</a:t>
            </a:r>
          </a:p>
          <a:p>
            <a:pPr marL="963000" algn="l"/>
            <a:br>
              <a:rPr lang="ru-RU" sz="2800" dirty="0"/>
            </a:br>
            <a:r>
              <a:rPr lang="ru-RU" sz="2800" dirty="0"/>
              <a:t>Эта ошибка</a:t>
            </a:r>
            <a:r>
              <a:rPr lang="en-US" sz="2800" dirty="0"/>
              <a:t>,</a:t>
            </a:r>
            <a:r>
              <a:rPr lang="ru-RU" sz="2800" dirty="0"/>
              <a:t> допущенная</a:t>
            </a:r>
            <a:r>
              <a:rPr lang="en-US" sz="2800" dirty="0"/>
              <a:t> </a:t>
            </a:r>
            <a:r>
              <a:rPr lang="ru-RU" sz="2800" dirty="0"/>
              <a:t>руководителем направления</a:t>
            </a:r>
            <a:r>
              <a:rPr lang="en-US" sz="2800" dirty="0"/>
              <a:t>, </a:t>
            </a:r>
            <a:r>
              <a:rPr lang="ru-RU" sz="2800" dirty="0"/>
              <a:t>стоила всей команде большого количества отвалов по проектам. </a:t>
            </a:r>
          </a:p>
          <a:p>
            <a:pPr marL="963000" algn="l"/>
            <a:br>
              <a:rPr lang="ru-RU" sz="2800" dirty="0"/>
            </a:br>
            <a:r>
              <a:rPr lang="ru-RU" sz="2800" dirty="0"/>
              <a:t>Сейчас эта ошибка должна быть исправлена</a:t>
            </a:r>
            <a:r>
              <a:rPr lang="en-US" sz="2800" dirty="0"/>
              <a:t>, </a:t>
            </a:r>
            <a:r>
              <a:rPr lang="ru-RU" sz="2800" dirty="0"/>
              <a:t>и поэтому создана первая версия этого регламента</a:t>
            </a:r>
          </a:p>
        </p:txBody>
      </p:sp>
    </p:spTree>
    <p:extLst>
      <p:ext uri="{BB962C8B-B14F-4D97-AF65-F5344CB8AC3E}">
        <p14:creationId xmlns:p14="http://schemas.microsoft.com/office/powerpoint/2010/main" val="3756564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6004" y="294030"/>
            <a:ext cx="9144000" cy="989486"/>
          </a:xfrm>
        </p:spPr>
        <p:txBody>
          <a:bodyPr>
            <a:normAutofit/>
          </a:bodyPr>
          <a:lstStyle/>
          <a:p>
            <a:r>
              <a:rPr lang="ru-RU" sz="4900" dirty="0"/>
              <a:t>Иерархия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386280" y="1996580"/>
            <a:ext cx="9419440" cy="399316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 algn="l"/>
            <a:r>
              <a:rPr lang="ru-RU" sz="2800" dirty="0"/>
              <a:t>В наших услугах существуют 5 релевантных звеньев</a:t>
            </a:r>
            <a:r>
              <a:rPr lang="en-US" sz="2800" dirty="0"/>
              <a:t>:</a:t>
            </a:r>
            <a:br>
              <a:rPr lang="en-US" sz="2800" dirty="0"/>
            </a:br>
            <a:endParaRPr lang="ru-RU" sz="2800" dirty="0"/>
          </a:p>
          <a:p>
            <a:pPr marL="963000" algn="l"/>
            <a:r>
              <a:rPr lang="ru-RU" sz="2800" dirty="0"/>
              <a:t>1. Клиенты  </a:t>
            </a:r>
          </a:p>
          <a:p>
            <a:pPr marL="963000" algn="l"/>
            <a:r>
              <a:rPr lang="ru-RU" sz="2400" b="1" dirty="0"/>
              <a:t>Стоят на первом месте в иерархии</a:t>
            </a:r>
            <a:r>
              <a:rPr lang="en-US" sz="2400" dirty="0"/>
              <a:t>, </a:t>
            </a:r>
            <a:r>
              <a:rPr lang="ru-RU" sz="2400" dirty="0"/>
              <a:t>т.к. они могут </a:t>
            </a:r>
            <a:r>
              <a:rPr lang="en-US" sz="2400" dirty="0"/>
              <a:t>“</a:t>
            </a:r>
            <a:r>
              <a:rPr lang="ru-RU" sz="2400" dirty="0"/>
              <a:t>уволить с рынка</a:t>
            </a:r>
            <a:r>
              <a:rPr lang="en-US" sz="2400" dirty="0"/>
              <a:t>” </a:t>
            </a:r>
            <a:r>
              <a:rPr lang="ru-RU" sz="2400" dirty="0"/>
              <a:t>всех нас отказом от сотрудничества и оплаты работы</a:t>
            </a:r>
          </a:p>
          <a:p>
            <a:pPr marL="963000" algn="l"/>
            <a:endParaRPr lang="ru-RU" sz="1600" dirty="0"/>
          </a:p>
          <a:p>
            <a:pPr marL="963000" algn="l"/>
            <a:r>
              <a:rPr lang="ru-RU" sz="2800" dirty="0"/>
              <a:t>2. </a:t>
            </a:r>
            <a:r>
              <a:rPr lang="ru-RU" sz="2800" dirty="0" err="1"/>
              <a:t>Паша+Паша</a:t>
            </a:r>
            <a:r>
              <a:rPr lang="ru-RU" sz="2800" dirty="0"/>
              <a:t> (руководство)</a:t>
            </a:r>
          </a:p>
          <a:p>
            <a:pPr marL="963000" algn="l"/>
            <a:r>
              <a:rPr lang="ru-RU" sz="2800" dirty="0"/>
              <a:t>3. Тимлиды</a:t>
            </a:r>
          </a:p>
          <a:p>
            <a:pPr marL="963000" algn="l"/>
            <a:r>
              <a:rPr lang="ru-RU" sz="2800" dirty="0"/>
              <a:t>4. </a:t>
            </a:r>
            <a:r>
              <a:rPr lang="en-US" sz="2800" dirty="0"/>
              <a:t>SEO-</a:t>
            </a:r>
            <a:r>
              <a:rPr lang="ru-RU" sz="2800" dirty="0"/>
              <a:t>специалисты</a:t>
            </a:r>
          </a:p>
          <a:p>
            <a:pPr marL="963000" algn="l"/>
            <a:r>
              <a:rPr lang="ru-RU" sz="2800" dirty="0"/>
              <a:t>5. Младшие специалисты</a:t>
            </a:r>
          </a:p>
        </p:txBody>
      </p:sp>
    </p:spTree>
    <p:extLst>
      <p:ext uri="{BB962C8B-B14F-4D97-AF65-F5344CB8AC3E}">
        <p14:creationId xmlns:p14="http://schemas.microsoft.com/office/powerpoint/2010/main" val="227083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6004" y="294030"/>
            <a:ext cx="9144000" cy="989486"/>
          </a:xfrm>
        </p:spPr>
        <p:txBody>
          <a:bodyPr>
            <a:normAutofit/>
          </a:bodyPr>
          <a:lstStyle/>
          <a:p>
            <a:r>
              <a:rPr lang="ru-RU" sz="4900" dirty="0"/>
              <a:t>Зоны ответственности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1319168" y="1392572"/>
            <a:ext cx="9419440" cy="53270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7350" indent="-514350" algn="l">
              <a:buAutoNum type="arabicPeriod"/>
            </a:pPr>
            <a:r>
              <a:rPr lang="ru-RU" sz="2400" dirty="0"/>
              <a:t>Паша + Паша</a:t>
            </a:r>
            <a:r>
              <a:rPr lang="en-US" sz="2400" dirty="0"/>
              <a:t>, </a:t>
            </a:r>
            <a:r>
              <a:rPr lang="ru-RU" sz="2400" dirty="0"/>
              <a:t>Тимлиды</a:t>
            </a:r>
            <a:r>
              <a:rPr lang="en-US" sz="2400" dirty="0"/>
              <a:t>, SEO-</a:t>
            </a:r>
            <a:r>
              <a:rPr lang="ru-RU" sz="2400" dirty="0"/>
              <a:t>специалисты находятся </a:t>
            </a:r>
            <a:r>
              <a:rPr lang="ru-RU" sz="2400" b="1" dirty="0"/>
              <a:t>в подчинении у клиентов и отвечают перед ними </a:t>
            </a:r>
            <a:r>
              <a:rPr lang="ru-RU" sz="2400" dirty="0"/>
              <a:t>за качество работ по проектам.</a:t>
            </a:r>
            <a:r>
              <a:rPr lang="en-US" sz="2400" b="1" dirty="0"/>
              <a:t> </a:t>
            </a:r>
            <a:r>
              <a:rPr lang="ru-RU" sz="2400" b="1" dirty="0"/>
              <a:t>Все и Всегда. </a:t>
            </a:r>
            <a:endParaRPr lang="en-US" sz="2400" b="1" dirty="0"/>
          </a:p>
          <a:p>
            <a:pPr marL="1477350" indent="-514350" algn="l">
              <a:buAutoNum type="arabicPeriod"/>
            </a:pPr>
            <a:endParaRPr lang="ru-RU" sz="2400" b="1" dirty="0"/>
          </a:p>
          <a:p>
            <a:pPr marL="1477350" indent="-514350" algn="l">
              <a:buAutoNum type="arabicPeriod"/>
            </a:pPr>
            <a:r>
              <a:rPr lang="ru-RU" sz="2400" b="1" dirty="0"/>
              <a:t>Тимлиды</a:t>
            </a:r>
            <a:r>
              <a:rPr lang="ru-RU" sz="2400" dirty="0"/>
              <a:t> отвечают (после клиентов) перед звеном </a:t>
            </a:r>
            <a:r>
              <a:rPr lang="ru-RU" sz="2400" b="1" dirty="0"/>
              <a:t>Паша + Паша </a:t>
            </a:r>
            <a:r>
              <a:rPr lang="ru-RU" sz="2400" dirty="0"/>
              <a:t>(за качество работ по проектам своих подчиненных и по своим проектам)</a:t>
            </a:r>
            <a:endParaRPr lang="en-US" sz="2400" dirty="0"/>
          </a:p>
          <a:p>
            <a:pPr marL="1477350" indent="-514350" algn="l">
              <a:buAutoNum type="arabicPeriod"/>
            </a:pPr>
            <a:endParaRPr lang="ru-RU" sz="2400" dirty="0"/>
          </a:p>
          <a:p>
            <a:pPr marL="1477350" indent="-514350" algn="l">
              <a:buAutoNum type="arabicPeriod"/>
            </a:pPr>
            <a:r>
              <a:rPr lang="en-US" sz="2400" dirty="0"/>
              <a:t>SEO-</a:t>
            </a:r>
            <a:r>
              <a:rPr lang="ru-RU" sz="2400" dirty="0"/>
              <a:t>специалисты отвечают (после клиентов) перед своими </a:t>
            </a:r>
            <a:r>
              <a:rPr lang="ru-RU" sz="2400" b="1" dirty="0"/>
              <a:t>тимлидами. </a:t>
            </a:r>
            <a:r>
              <a:rPr lang="ru-RU" sz="2400" dirty="0"/>
              <a:t>В третью очередь – перед звеном </a:t>
            </a:r>
            <a:r>
              <a:rPr lang="en-US" sz="2400" dirty="0"/>
              <a:t>“</a:t>
            </a:r>
            <a:r>
              <a:rPr lang="ru-RU" sz="2400" dirty="0"/>
              <a:t>Паша + Паша</a:t>
            </a:r>
            <a:r>
              <a:rPr lang="en-US" sz="2400" dirty="0"/>
              <a:t>”</a:t>
            </a:r>
          </a:p>
          <a:p>
            <a:pPr marL="1477350" indent="-514350" algn="l">
              <a:buAutoNum type="arabicPeriod"/>
            </a:pPr>
            <a:endParaRPr lang="en-US" sz="2400" b="1" dirty="0"/>
          </a:p>
          <a:p>
            <a:pPr marL="1477350" indent="-514350" algn="l">
              <a:buAutoNum type="arabicPeriod"/>
            </a:pPr>
            <a:r>
              <a:rPr lang="ru-RU" sz="2400" dirty="0"/>
              <a:t>Паша + Паша отвечают перед клиентами и первыми и последними получают по башке в случае негатива. Особенно Паша Науменко</a:t>
            </a:r>
            <a:r>
              <a:rPr lang="en-US" sz="2400" dirty="0"/>
              <a:t>, </a:t>
            </a:r>
            <a:r>
              <a:rPr lang="ru-RU" sz="2400" dirty="0"/>
              <a:t>как человек в договоре и лицо компании</a:t>
            </a:r>
          </a:p>
        </p:txBody>
      </p:sp>
    </p:spTree>
    <p:extLst>
      <p:ext uri="{BB962C8B-B14F-4D97-AF65-F5344CB8AC3E}">
        <p14:creationId xmlns:p14="http://schemas.microsoft.com/office/powerpoint/2010/main" val="3697208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071" y="0"/>
            <a:ext cx="11081857" cy="1283516"/>
          </a:xfrm>
        </p:spPr>
        <p:txBody>
          <a:bodyPr>
            <a:normAutofit fontScale="90000"/>
          </a:bodyPr>
          <a:lstStyle/>
          <a:p>
            <a:r>
              <a:rPr lang="ru-RU" sz="4900" dirty="0"/>
              <a:t>Что такое </a:t>
            </a:r>
            <a:r>
              <a:rPr lang="en-US" sz="4900" dirty="0"/>
              <a:t>“</a:t>
            </a:r>
            <a:r>
              <a:rPr lang="ru-RU" sz="4900" dirty="0"/>
              <a:t>хорошо</a:t>
            </a:r>
            <a:r>
              <a:rPr lang="en-US" sz="4900" dirty="0"/>
              <a:t>”, </a:t>
            </a:r>
            <a:r>
              <a:rPr lang="ru-RU" sz="4900" dirty="0"/>
              <a:t>и что такое </a:t>
            </a:r>
            <a:r>
              <a:rPr lang="en-US" sz="4900" dirty="0"/>
              <a:t>“</a:t>
            </a:r>
            <a:r>
              <a:rPr lang="ru-RU" sz="4900" dirty="0"/>
              <a:t>плохо</a:t>
            </a:r>
            <a:r>
              <a:rPr lang="en-US" sz="4900" dirty="0"/>
              <a:t>”</a:t>
            </a:r>
            <a:br>
              <a:rPr lang="en-US" sz="4900" dirty="0"/>
            </a:br>
            <a:r>
              <a:rPr lang="ru-RU" sz="4900" dirty="0"/>
              <a:t>Тимлид </a:t>
            </a:r>
            <a:r>
              <a:rPr lang="en-US" sz="4900" dirty="0"/>
              <a:t>Edition</a:t>
            </a:r>
            <a:endParaRPr lang="ru-RU" sz="49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4B1320-A06F-4D26-8992-1F76E751AF4E}"/>
              </a:ext>
            </a:extLst>
          </p:cNvPr>
          <p:cNvSpPr txBox="1">
            <a:spLocks/>
          </p:cNvSpPr>
          <p:nvPr/>
        </p:nvSpPr>
        <p:spPr>
          <a:xfrm>
            <a:off x="0" y="1528194"/>
            <a:ext cx="3867326" cy="6795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/>
            <a:r>
              <a:rPr lang="ru-RU" sz="2400" b="1" dirty="0"/>
              <a:t>Хорошо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71AFAB-0CE1-4EAA-BBAA-AD279BBE5F9B}"/>
              </a:ext>
            </a:extLst>
          </p:cNvPr>
          <p:cNvSpPr txBox="1">
            <a:spLocks/>
          </p:cNvSpPr>
          <p:nvPr/>
        </p:nvSpPr>
        <p:spPr>
          <a:xfrm>
            <a:off x="8124038" y="1528194"/>
            <a:ext cx="2548157" cy="67950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63000" algn="l"/>
            <a:r>
              <a:rPr lang="ru-RU" sz="2400" b="1" dirty="0"/>
              <a:t>Плохо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5C39308-BD99-4040-BF11-F53F20297864}"/>
              </a:ext>
            </a:extLst>
          </p:cNvPr>
          <p:cNvSpPr txBox="1">
            <a:spLocks/>
          </p:cNvSpPr>
          <p:nvPr/>
        </p:nvSpPr>
        <p:spPr>
          <a:xfrm>
            <a:off x="234889" y="2038173"/>
            <a:ext cx="4949504" cy="2195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Давать свободу действий </a:t>
            </a:r>
            <a:r>
              <a:rPr lang="en-US" sz="1200" dirty="0"/>
              <a:t>SEO-</a:t>
            </a:r>
            <a:r>
              <a:rPr lang="ru-RU" sz="1200" dirty="0"/>
              <a:t>специалистам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3AE1C58-BF86-4E03-8238-F1A0324F8F1E}"/>
              </a:ext>
            </a:extLst>
          </p:cNvPr>
          <p:cNvSpPr txBox="1">
            <a:spLocks/>
          </p:cNvSpPr>
          <p:nvPr/>
        </p:nvSpPr>
        <p:spPr>
          <a:xfrm>
            <a:off x="6788785" y="2101436"/>
            <a:ext cx="4309144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 err="1"/>
              <a:t>Микроменеджмент</a:t>
            </a:r>
            <a:r>
              <a:rPr lang="ru-RU" sz="1200" b="1" dirty="0"/>
              <a:t> </a:t>
            </a:r>
            <a:r>
              <a:rPr lang="en-US" sz="1200" b="1" dirty="0"/>
              <a:t>SEO-</a:t>
            </a:r>
            <a:r>
              <a:rPr lang="ru-RU" sz="1200" b="1" dirty="0"/>
              <a:t>специалистов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AB8534-8E09-4850-A14F-330BBAE96CFF}"/>
              </a:ext>
            </a:extLst>
          </p:cNvPr>
          <p:cNvSpPr txBox="1">
            <a:spLocks/>
          </p:cNvSpPr>
          <p:nvPr/>
        </p:nvSpPr>
        <p:spPr>
          <a:xfrm>
            <a:off x="5399713" y="2081516"/>
            <a:ext cx="1389077" cy="352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408C1F-E109-4292-B3FC-E393A4CEB22B}"/>
              </a:ext>
            </a:extLst>
          </p:cNvPr>
          <p:cNvSpPr txBox="1">
            <a:spLocks/>
          </p:cNvSpPr>
          <p:nvPr/>
        </p:nvSpPr>
        <p:spPr>
          <a:xfrm>
            <a:off x="234889" y="2407465"/>
            <a:ext cx="4949504" cy="2635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Каждую неделю сверять стратегию по всем проектам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E670813-87B2-4D5E-A46F-621B89BBFCFA}"/>
              </a:ext>
            </a:extLst>
          </p:cNvPr>
          <p:cNvSpPr txBox="1">
            <a:spLocks/>
          </p:cNvSpPr>
          <p:nvPr/>
        </p:nvSpPr>
        <p:spPr>
          <a:xfrm>
            <a:off x="6788785" y="2361499"/>
            <a:ext cx="5403215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Отдать и стратегию и тактику на откуп опыту и навыкам </a:t>
            </a:r>
            <a:r>
              <a:rPr lang="en-US" sz="1200" b="1" dirty="0"/>
              <a:t>SEO-</a:t>
            </a:r>
            <a:r>
              <a:rPr lang="ru-RU" sz="1200" b="1" dirty="0"/>
              <a:t>специалиста. 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3EF06F-F22E-47CC-A678-4BA4D9899049}"/>
              </a:ext>
            </a:extLst>
          </p:cNvPr>
          <p:cNvSpPr txBox="1">
            <a:spLocks/>
          </p:cNvSpPr>
          <p:nvPr/>
        </p:nvSpPr>
        <p:spPr>
          <a:xfrm>
            <a:off x="5399713" y="2375131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DA0599C-2898-4814-947C-D55ECA60DCDE}"/>
              </a:ext>
            </a:extLst>
          </p:cNvPr>
          <p:cNvSpPr txBox="1">
            <a:spLocks/>
          </p:cNvSpPr>
          <p:nvPr/>
        </p:nvSpPr>
        <p:spPr>
          <a:xfrm>
            <a:off x="234889" y="2735158"/>
            <a:ext cx="4949504" cy="2523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Проверять раз в месяц оформление</a:t>
            </a:r>
            <a:r>
              <a:rPr lang="en-US" sz="1200" dirty="0"/>
              <a:t>, </a:t>
            </a:r>
            <a:r>
              <a:rPr lang="ru-RU" sz="1200" dirty="0"/>
              <a:t>качество</a:t>
            </a:r>
            <a:r>
              <a:rPr lang="en-US" sz="1200" dirty="0"/>
              <a:t>, </a:t>
            </a:r>
            <a:r>
              <a:rPr lang="ru-RU" sz="1200" dirty="0"/>
              <a:t>полноту и ясность отчётов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94D65F-ED13-4381-BB87-5BF6445840DC}"/>
              </a:ext>
            </a:extLst>
          </p:cNvPr>
          <p:cNvSpPr txBox="1">
            <a:spLocks/>
          </p:cNvSpPr>
          <p:nvPr/>
        </p:nvSpPr>
        <p:spPr>
          <a:xfrm>
            <a:off x="5399712" y="2700204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2EE22E-3CBF-43C2-84F5-9260F7088F62}"/>
              </a:ext>
            </a:extLst>
          </p:cNvPr>
          <p:cNvSpPr txBox="1">
            <a:spLocks/>
          </p:cNvSpPr>
          <p:nvPr/>
        </p:nvSpPr>
        <p:spPr>
          <a:xfrm>
            <a:off x="6788785" y="2735158"/>
            <a:ext cx="5403212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Забить на проверку отчётов после испытательного периода. 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CC38459-D325-4C38-8293-5BA16AEA044F}"/>
              </a:ext>
            </a:extLst>
          </p:cNvPr>
          <p:cNvSpPr txBox="1">
            <a:spLocks/>
          </p:cNvSpPr>
          <p:nvPr/>
        </p:nvSpPr>
        <p:spPr>
          <a:xfrm>
            <a:off x="234892" y="3045903"/>
            <a:ext cx="4949504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Проверять раз в неделю </a:t>
            </a:r>
            <a:r>
              <a:rPr lang="ru-RU" sz="1200" dirty="0" err="1"/>
              <a:t>Топвизор</a:t>
            </a:r>
            <a:r>
              <a:rPr lang="en-US" sz="1200" dirty="0"/>
              <a:t> (</a:t>
            </a:r>
            <a:r>
              <a:rPr lang="ru-RU" sz="1200" dirty="0"/>
              <a:t>динамика позиций + качество ядра по полноте</a:t>
            </a:r>
            <a:r>
              <a:rPr lang="en-US" sz="1200" dirty="0"/>
              <a:t>, </a:t>
            </a:r>
            <a:r>
              <a:rPr lang="ru-RU" sz="1200" dirty="0" err="1"/>
              <a:t>мусорности</a:t>
            </a:r>
            <a:r>
              <a:rPr lang="ru-RU" sz="1200" dirty="0"/>
              <a:t> и достижимости) и</a:t>
            </a:r>
            <a:r>
              <a:rPr lang="en-US" sz="1200" dirty="0"/>
              <a:t> </a:t>
            </a:r>
            <a:r>
              <a:rPr lang="ru-RU" sz="1200" dirty="0"/>
              <a:t>Метрику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6157B96-2B4F-4F5A-95A1-1093313623A5}"/>
              </a:ext>
            </a:extLst>
          </p:cNvPr>
          <p:cNvSpPr txBox="1">
            <a:spLocks/>
          </p:cNvSpPr>
          <p:nvPr/>
        </p:nvSpPr>
        <p:spPr>
          <a:xfrm>
            <a:off x="5399712" y="3086796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1D1B01A-55F6-43E2-8EDB-72DB7ADB6D1A}"/>
              </a:ext>
            </a:extLst>
          </p:cNvPr>
          <p:cNvSpPr txBox="1">
            <a:spLocks/>
          </p:cNvSpPr>
          <p:nvPr/>
        </p:nvSpPr>
        <p:spPr>
          <a:xfrm>
            <a:off x="6788782" y="3054640"/>
            <a:ext cx="5403212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Забить на проверку динамики проекта. 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9A1C286-C8A5-4E90-A156-498C212C39FC}"/>
              </a:ext>
            </a:extLst>
          </p:cNvPr>
          <p:cNvSpPr txBox="1">
            <a:spLocks/>
          </p:cNvSpPr>
          <p:nvPr/>
        </p:nvSpPr>
        <p:spPr>
          <a:xfrm>
            <a:off x="234889" y="3410823"/>
            <a:ext cx="4949504" cy="5872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Давать обратную связь Паше + Паше системных проблемах с </a:t>
            </a:r>
            <a:r>
              <a:rPr lang="en-US" sz="1200" dirty="0"/>
              <a:t>SEO-</a:t>
            </a:r>
            <a:r>
              <a:rPr lang="ru-RU" sz="1200" dirty="0"/>
              <a:t>специалистом и его способности обслуживать проекты. Инициировать корректировки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8AC4693-D5FE-4429-8918-E73C52434074}"/>
              </a:ext>
            </a:extLst>
          </p:cNvPr>
          <p:cNvSpPr txBox="1">
            <a:spLocks/>
          </p:cNvSpPr>
          <p:nvPr/>
        </p:nvSpPr>
        <p:spPr>
          <a:xfrm>
            <a:off x="5399709" y="3451717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49F96AC-2A75-4A68-980D-D8EF899AD659}"/>
              </a:ext>
            </a:extLst>
          </p:cNvPr>
          <p:cNvSpPr txBox="1">
            <a:spLocks/>
          </p:cNvSpPr>
          <p:nvPr/>
        </p:nvSpPr>
        <p:spPr>
          <a:xfrm>
            <a:off x="6788782" y="3417484"/>
            <a:ext cx="5403218" cy="5872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Игнорировать проблемы по сотрудникам и конкретным аспектам взаимодействия по проектам или работам.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45E48592-345D-45A5-81ED-0C398FDF9FDD}"/>
              </a:ext>
            </a:extLst>
          </p:cNvPr>
          <p:cNvSpPr txBox="1">
            <a:spLocks/>
          </p:cNvSpPr>
          <p:nvPr/>
        </p:nvSpPr>
        <p:spPr>
          <a:xfrm>
            <a:off x="234889" y="4041039"/>
            <a:ext cx="4949504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Инициировать </a:t>
            </a:r>
            <a:r>
              <a:rPr lang="ru-RU" sz="1200" dirty="0" err="1"/>
              <a:t>созвоны</a:t>
            </a:r>
            <a:r>
              <a:rPr lang="ru-RU" sz="1200" dirty="0"/>
              <a:t> раз в 1-2 недели по каждому проекту каждого сотрудника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34521688-F9AD-4CDB-84A2-C7E838537830}"/>
              </a:ext>
            </a:extLst>
          </p:cNvPr>
          <p:cNvSpPr txBox="1">
            <a:spLocks/>
          </p:cNvSpPr>
          <p:nvPr/>
        </p:nvSpPr>
        <p:spPr>
          <a:xfrm>
            <a:off x="5399712" y="4031953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A027BA4-6322-4293-B5F9-C4CE76168849}"/>
              </a:ext>
            </a:extLst>
          </p:cNvPr>
          <p:cNvSpPr txBox="1">
            <a:spLocks/>
          </p:cNvSpPr>
          <p:nvPr/>
        </p:nvSpPr>
        <p:spPr>
          <a:xfrm>
            <a:off x="6792962" y="3983020"/>
            <a:ext cx="5399032" cy="7350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Созваниваться только тогда</a:t>
            </a:r>
            <a:r>
              <a:rPr lang="en-US" sz="1200" b="1" dirty="0"/>
              <a:t>, </a:t>
            </a:r>
            <a:r>
              <a:rPr lang="ru-RU" sz="1200" b="1" dirty="0"/>
              <a:t>когда этого просит </a:t>
            </a:r>
            <a:r>
              <a:rPr lang="en-US" sz="1200" b="1" dirty="0"/>
              <a:t>SEO-</a:t>
            </a:r>
            <a:r>
              <a:rPr lang="ru-RU" sz="1200" b="1" dirty="0"/>
              <a:t>специалист И/ИЛИ не инициировать свою систему ответственности над состоянием и движением проектов.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4AE03E2-38BE-4529-8626-79310CBCF498}"/>
              </a:ext>
            </a:extLst>
          </p:cNvPr>
          <p:cNvSpPr txBox="1">
            <a:spLocks/>
          </p:cNvSpPr>
          <p:nvPr/>
        </p:nvSpPr>
        <p:spPr>
          <a:xfrm>
            <a:off x="234889" y="4772287"/>
            <a:ext cx="4949504" cy="4390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Знать общий стратегический и тактический статус по каждому проекту своего сотрудника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A83F4743-86F6-469C-AE08-869453016CEF}"/>
              </a:ext>
            </a:extLst>
          </p:cNvPr>
          <p:cNvSpPr txBox="1">
            <a:spLocks/>
          </p:cNvSpPr>
          <p:nvPr/>
        </p:nvSpPr>
        <p:spPr>
          <a:xfrm>
            <a:off x="5399709" y="4707968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ADA8C4A7-5E87-4978-A5FA-5DF0F68ACF2E}"/>
              </a:ext>
            </a:extLst>
          </p:cNvPr>
          <p:cNvSpPr txBox="1">
            <a:spLocks/>
          </p:cNvSpPr>
          <p:nvPr/>
        </p:nvSpPr>
        <p:spPr>
          <a:xfrm>
            <a:off x="6788781" y="4677530"/>
            <a:ext cx="5407385" cy="653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Не иметь представления (или иметь устаревшее/слишком поверхностное представление) о том</a:t>
            </a:r>
            <a:r>
              <a:rPr lang="en-US" sz="1200" b="1" dirty="0"/>
              <a:t>, </a:t>
            </a:r>
            <a:r>
              <a:rPr lang="ru-RU" sz="1200" b="1" dirty="0"/>
              <a:t>какая динамика и стратегия у проектов сотрудников в подчинении.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D797F56-98C4-4C46-AFCA-9AE09B4B016B}"/>
              </a:ext>
            </a:extLst>
          </p:cNvPr>
          <p:cNvSpPr txBox="1">
            <a:spLocks/>
          </p:cNvSpPr>
          <p:nvPr/>
        </p:nvSpPr>
        <p:spPr>
          <a:xfrm>
            <a:off x="234889" y="5303930"/>
            <a:ext cx="4949504" cy="593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Проверять вехи по проектам</a:t>
            </a:r>
            <a:r>
              <a:rPr lang="en-US" sz="1200" dirty="0"/>
              <a:t>, </a:t>
            </a:r>
            <a:r>
              <a:rPr lang="ru-RU" sz="1200" dirty="0"/>
              <a:t>корректировать приоритетность стратегических и тактических задач</a:t>
            </a:r>
            <a:r>
              <a:rPr lang="en-US" sz="1200" dirty="0"/>
              <a:t>, </a:t>
            </a:r>
            <a:r>
              <a:rPr lang="ru-RU" sz="1200" dirty="0"/>
              <a:t>обеспечивать полноту и правильный вектор работы по проектам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32F8BFF-A943-4FBA-BDF5-08C7A07AA433}"/>
              </a:ext>
            </a:extLst>
          </p:cNvPr>
          <p:cNvSpPr txBox="1">
            <a:spLocks/>
          </p:cNvSpPr>
          <p:nvPr/>
        </p:nvSpPr>
        <p:spPr>
          <a:xfrm>
            <a:off x="5399708" y="5381867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A41FA5F3-3D93-4A3E-9E22-CC40BB85615D}"/>
              </a:ext>
            </a:extLst>
          </p:cNvPr>
          <p:cNvSpPr txBox="1">
            <a:spLocks/>
          </p:cNvSpPr>
          <p:nvPr/>
        </p:nvSpPr>
        <p:spPr>
          <a:xfrm>
            <a:off x="6788780" y="5390262"/>
            <a:ext cx="5403219" cy="653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Не смотреть в полноту закрываемых вех. Отдавать приоритетность задач и полноты движения по продвижению на </a:t>
            </a:r>
            <a:r>
              <a:rPr lang="en-US" sz="1200" b="1" dirty="0"/>
              <a:t>SEO-</a:t>
            </a:r>
            <a:r>
              <a:rPr lang="ru-RU" sz="1200" b="1" dirty="0"/>
              <a:t>специалиста.  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539D03-C147-4055-B029-41D27D5C8E41}"/>
              </a:ext>
            </a:extLst>
          </p:cNvPr>
          <p:cNvSpPr txBox="1"/>
          <p:nvPr/>
        </p:nvSpPr>
        <p:spPr>
          <a:xfrm>
            <a:off x="3046601" y="1280154"/>
            <a:ext cx="60987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40C28"/>
                </a:solidFill>
                <a:effectLst/>
                <a:latin typeface="Google Sans"/>
              </a:rPr>
              <a:t>«Болезнь легче предупредить, чем лечить»</a:t>
            </a:r>
            <a:r>
              <a:rPr lang="ru-RU" dirty="0">
                <a:solidFill>
                  <a:srgbClr val="1F1F1F"/>
                </a:solidFill>
                <a:latin typeface="Google Sans"/>
              </a:rPr>
              <a:t> (с) Гиппократ</a:t>
            </a:r>
            <a:endParaRPr lang="ru-RU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BBEF8567-EF25-4274-86BA-FB7D6BFB602C}"/>
              </a:ext>
            </a:extLst>
          </p:cNvPr>
          <p:cNvSpPr txBox="1">
            <a:spLocks/>
          </p:cNvSpPr>
          <p:nvPr/>
        </p:nvSpPr>
        <p:spPr>
          <a:xfrm>
            <a:off x="234889" y="5994254"/>
            <a:ext cx="5243121" cy="8756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dirty="0"/>
              <a:t>Периодически спрашивать и самостоятельно проверять как происходит коммуникация в чате. </a:t>
            </a:r>
            <a:br>
              <a:rPr lang="ru-RU" sz="1200" dirty="0"/>
            </a:br>
            <a:r>
              <a:rPr lang="en-US" sz="1200" dirty="0"/>
              <a:t>“</a:t>
            </a:r>
            <a:r>
              <a:rPr lang="ru-RU" sz="1200" dirty="0"/>
              <a:t>Чувствовать</a:t>
            </a:r>
            <a:r>
              <a:rPr lang="en-US" sz="1200" dirty="0"/>
              <a:t>” </a:t>
            </a:r>
            <a:r>
              <a:rPr lang="ru-RU" sz="1200" dirty="0"/>
              <a:t>удовлетворенность клиента коммуникацией в принципе</a:t>
            </a:r>
            <a:br>
              <a:rPr lang="ru-RU" sz="1200" dirty="0"/>
            </a:br>
            <a:r>
              <a:rPr lang="en-US" sz="1200" dirty="0"/>
              <a:t>“</a:t>
            </a:r>
            <a:r>
              <a:rPr lang="ru-RU" sz="1200" dirty="0"/>
              <a:t>Чувствовать</a:t>
            </a:r>
            <a:r>
              <a:rPr lang="en-US" sz="1200" dirty="0"/>
              <a:t>” </a:t>
            </a:r>
            <a:r>
              <a:rPr lang="ru-RU" sz="1200" dirty="0"/>
              <a:t>удовлетворенность клиента работами и темпом.</a:t>
            </a:r>
            <a:br>
              <a:rPr lang="ru-RU" sz="1200" dirty="0"/>
            </a:br>
            <a:r>
              <a:rPr lang="ru-RU" sz="1200" dirty="0"/>
              <a:t>Реагировать в зависимости от ощущения клиента</a:t>
            </a:r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12E8CA9D-22DB-4005-95F9-2E751730A2B0}"/>
              </a:ext>
            </a:extLst>
          </p:cNvPr>
          <p:cNvSpPr txBox="1">
            <a:spLocks/>
          </p:cNvSpPr>
          <p:nvPr/>
        </p:nvSpPr>
        <p:spPr>
          <a:xfrm>
            <a:off x="5399709" y="6072192"/>
            <a:ext cx="1389077" cy="37750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dirty="0"/>
              <a:t>&lt; ---------- &gt;</a:t>
            </a:r>
            <a:endParaRPr lang="ru-RU" sz="2000" b="1" dirty="0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5DB1831-5744-4B64-9DDC-1AA5CA1A0ACD}"/>
              </a:ext>
            </a:extLst>
          </p:cNvPr>
          <p:cNvSpPr txBox="1">
            <a:spLocks/>
          </p:cNvSpPr>
          <p:nvPr/>
        </p:nvSpPr>
        <p:spPr>
          <a:xfrm>
            <a:off x="6788781" y="6080587"/>
            <a:ext cx="5403219" cy="6536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1200" b="1" dirty="0"/>
              <a:t>Отдать коммуникацию на откуп </a:t>
            </a:r>
            <a:r>
              <a:rPr lang="en-US" sz="1200" b="1" dirty="0"/>
              <a:t>SEO-</a:t>
            </a:r>
            <a:r>
              <a:rPr lang="ru-RU" sz="1200" b="1" dirty="0"/>
              <a:t>специалиста.</a:t>
            </a:r>
            <a:br>
              <a:rPr lang="ru-RU" sz="1200" b="1" dirty="0"/>
            </a:br>
            <a:r>
              <a:rPr lang="ru-RU" sz="1200" b="1" dirty="0"/>
              <a:t>Ждать проблем в виде жалоб / отвала клиента и бегать потом с ужаленной попой. </a:t>
            </a:r>
          </a:p>
        </p:txBody>
      </p:sp>
    </p:spTree>
    <p:extLst>
      <p:ext uri="{BB962C8B-B14F-4D97-AF65-F5344CB8AC3E}">
        <p14:creationId xmlns:p14="http://schemas.microsoft.com/office/powerpoint/2010/main" val="302180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BB74-E914-4EF7-BF32-B7CED17A2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317" y="143152"/>
            <a:ext cx="11081857" cy="806040"/>
          </a:xfrm>
        </p:spPr>
        <p:txBody>
          <a:bodyPr>
            <a:normAutofit/>
          </a:bodyPr>
          <a:lstStyle/>
          <a:p>
            <a:r>
              <a:rPr lang="ru-RU" sz="4900" dirty="0"/>
              <a:t>Дополнительный </a:t>
            </a:r>
            <a:r>
              <a:rPr lang="en-US" sz="4900" dirty="0"/>
              <a:t>FAQ</a:t>
            </a:r>
            <a:endParaRPr lang="ru-RU" sz="4900" dirty="0"/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B72BA178-A277-4BF2-85E5-382A6B4F27BA}"/>
              </a:ext>
            </a:extLst>
          </p:cNvPr>
          <p:cNvSpPr txBox="1">
            <a:spLocks/>
          </p:cNvSpPr>
          <p:nvPr/>
        </p:nvSpPr>
        <p:spPr>
          <a:xfrm>
            <a:off x="1319168" y="1392572"/>
            <a:ext cx="9419440" cy="53270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77350" indent="-514350" algn="l">
              <a:buAutoNum type="arabicPeriod"/>
            </a:pPr>
            <a:endParaRPr lang="ru-RU" sz="2400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679EBC29-EEA3-4694-8B16-E549FEE3AF21}"/>
              </a:ext>
            </a:extLst>
          </p:cNvPr>
          <p:cNvSpPr txBox="1">
            <a:spLocks/>
          </p:cNvSpPr>
          <p:nvPr/>
        </p:nvSpPr>
        <p:spPr>
          <a:xfrm>
            <a:off x="0" y="1024855"/>
            <a:ext cx="12192000" cy="53270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305900" indent="-342900" algn="l">
              <a:buAutoNum type="arabicPeriod"/>
            </a:pPr>
            <a:r>
              <a:rPr lang="ru-RU" sz="1800" b="1" dirty="0"/>
              <a:t>С чего начать знакомство с проектами</a:t>
            </a:r>
            <a:r>
              <a:rPr lang="en-US" sz="1800" b="1" dirty="0"/>
              <a:t> </a:t>
            </a:r>
            <a:r>
              <a:rPr lang="ru-RU" sz="1800" b="1" dirty="0"/>
              <a:t>при первом контакте с </a:t>
            </a:r>
            <a:r>
              <a:rPr lang="en-US" sz="1800" b="1" dirty="0"/>
              <a:t>SEO-</a:t>
            </a:r>
            <a:r>
              <a:rPr lang="ru-RU" sz="1800" b="1" dirty="0"/>
              <a:t>специалистом с проектами?</a:t>
            </a:r>
            <a:endParaRPr lang="en-US" sz="1800" b="1" dirty="0"/>
          </a:p>
          <a:p>
            <a:pPr marL="1305900" indent="-342900" algn="l">
              <a:buAutoNum type="arabicPeriod"/>
            </a:pPr>
            <a:endParaRPr lang="ru-RU" sz="1800" dirty="0"/>
          </a:p>
          <a:p>
            <a:pPr marL="963000" algn="l"/>
            <a:r>
              <a:rPr lang="ru-RU" sz="1800" b="1" dirty="0"/>
              <a:t>2. Что курировать в чате</a:t>
            </a:r>
            <a:r>
              <a:rPr lang="en-US" sz="1800" b="1" dirty="0"/>
              <a:t> </a:t>
            </a:r>
            <a:r>
              <a:rPr lang="ru-RU" sz="1800" b="1" dirty="0"/>
              <a:t>и когда к нему подключаться? Например</a:t>
            </a:r>
            <a:r>
              <a:rPr lang="en-US" sz="1800" b="1" dirty="0"/>
              <a:t>:</a:t>
            </a:r>
            <a:r>
              <a:rPr lang="ru-RU" sz="1800" b="1" dirty="0"/>
              <a:t> просит </a:t>
            </a:r>
            <a:r>
              <a:rPr lang="ru-RU" sz="1800" b="1" dirty="0" err="1"/>
              <a:t>сеошник</a:t>
            </a:r>
            <a:r>
              <a:rPr lang="ru-RU" sz="1800" b="1" dirty="0"/>
              <a:t>/сложная ситуация/</a:t>
            </a:r>
            <a:r>
              <a:rPr lang="ru-RU" sz="1800" b="1" dirty="0" err="1"/>
              <a:t>сеошник</a:t>
            </a:r>
            <a:r>
              <a:rPr lang="ru-RU" sz="1800" b="1" dirty="0"/>
              <a:t> долго молчит</a:t>
            </a:r>
            <a:endParaRPr lang="en-US" sz="1800" b="1" dirty="0"/>
          </a:p>
          <a:p>
            <a:pPr marL="963000" algn="l"/>
            <a:endParaRPr lang="ru-RU" sz="1800" b="1" dirty="0"/>
          </a:p>
          <a:p>
            <a:pPr marL="963000" algn="l"/>
            <a:r>
              <a:rPr lang="ru-RU" sz="1800" b="1" dirty="0"/>
              <a:t>3. Если я как тимлид имею вопросы – к кому мне идти</a:t>
            </a:r>
            <a:r>
              <a:rPr lang="en-US" sz="1800" b="1" dirty="0"/>
              <a:t>?</a:t>
            </a:r>
            <a:r>
              <a:rPr lang="ru-RU" sz="1800" b="1" dirty="0"/>
              <a:t> А если </a:t>
            </a:r>
            <a:r>
              <a:rPr lang="en-US" sz="1800" b="1" dirty="0"/>
              <a:t>SEO</a:t>
            </a:r>
            <a:r>
              <a:rPr lang="ru-RU" sz="1800" b="1" dirty="0"/>
              <a:t>шник негодует со своего тимлида</a:t>
            </a:r>
            <a:r>
              <a:rPr lang="en-US" sz="1800" b="1" dirty="0"/>
              <a:t>?</a:t>
            </a:r>
          </a:p>
          <a:p>
            <a:pPr marL="963000" algn="l"/>
            <a:endParaRPr lang="ru-RU" sz="1800" dirty="0"/>
          </a:p>
          <a:p>
            <a:pPr marL="963000" algn="l"/>
            <a:r>
              <a:rPr lang="ru-RU" sz="1800" b="1" dirty="0"/>
              <a:t>4. Сколько в идеале </a:t>
            </a:r>
            <a:r>
              <a:rPr lang="ru-RU" sz="1800" b="1" dirty="0" err="1"/>
              <a:t>созвонов</a:t>
            </a:r>
            <a:r>
              <a:rPr lang="ru-RU" sz="1800" b="1" dirty="0"/>
              <a:t> в месяц с  сотрудником?</a:t>
            </a:r>
            <a:endParaRPr lang="en-US" sz="1800" b="1" dirty="0"/>
          </a:p>
          <a:p>
            <a:pPr marL="963000" algn="l"/>
            <a:endParaRPr lang="en-US" sz="1800" b="1" dirty="0"/>
          </a:p>
          <a:p>
            <a:pPr marL="963000" algn="l"/>
            <a:r>
              <a:rPr lang="ru-RU" sz="1800" b="1" dirty="0"/>
              <a:t>5. Есть ли какие то отчёты </a:t>
            </a:r>
            <a:r>
              <a:rPr lang="ru-RU" sz="1800" b="1" dirty="0" err="1"/>
              <a:t>тим-лидов</a:t>
            </a:r>
            <a:r>
              <a:rPr lang="ru-RU" sz="1800" b="1" dirty="0"/>
              <a:t>?</a:t>
            </a:r>
            <a:endParaRPr lang="en-US" sz="1800" b="1" dirty="0"/>
          </a:p>
          <a:p>
            <a:pPr marL="963000" algn="l"/>
            <a:endParaRPr lang="ru-RU" sz="1800" b="1" dirty="0"/>
          </a:p>
          <a:p>
            <a:pPr marL="963000" algn="l"/>
            <a:r>
              <a:rPr lang="ru-RU" sz="1800" b="1" dirty="0"/>
              <a:t>6. Какой алгоритм действий если клиент озвучил недовольство? (Обсудить/</a:t>
            </a:r>
            <a:r>
              <a:rPr lang="ru-RU" sz="1800" b="1" dirty="0" err="1"/>
              <a:t>созвон</a:t>
            </a:r>
            <a:r>
              <a:rPr lang="ru-RU" sz="1800" b="1" dirty="0"/>
              <a:t>/предложение вариантов решения/скидка/бесплатная </a:t>
            </a:r>
            <a:r>
              <a:rPr lang="ru-RU" sz="1800" b="1" dirty="0" err="1"/>
              <a:t>доп.услуга</a:t>
            </a:r>
            <a:r>
              <a:rPr lang="ru-RU" sz="1800" b="1" dirty="0"/>
              <a:t>)</a:t>
            </a:r>
            <a:endParaRPr lang="en-US" sz="1800" b="1" dirty="0"/>
          </a:p>
          <a:p>
            <a:pPr marL="963000" algn="l"/>
            <a:endParaRPr lang="en-US" sz="1800" b="1" dirty="0"/>
          </a:p>
          <a:p>
            <a:pPr marL="963000" algn="l"/>
            <a:r>
              <a:rPr lang="en-US" sz="1800" dirty="0"/>
              <a:t>7. </a:t>
            </a:r>
            <a:r>
              <a:rPr lang="ru-RU" sz="1800" b="1" dirty="0"/>
              <a:t>Может ли тимлид ли инициировать меры по отношению к своему </a:t>
            </a:r>
            <a:r>
              <a:rPr lang="ru-RU" sz="1800" b="1" dirty="0" err="1"/>
              <a:t>сеошнику</a:t>
            </a:r>
            <a:r>
              <a:rPr lang="ru-RU" sz="1800" b="1" dirty="0"/>
              <a:t>? Если плохо работает или грубит клиентам</a:t>
            </a:r>
            <a:r>
              <a:rPr lang="en-US" sz="1800" b="1" dirty="0"/>
              <a:t>?</a:t>
            </a:r>
          </a:p>
          <a:p>
            <a:pPr marL="963000" algn="l"/>
            <a:br>
              <a:rPr lang="en-US" sz="1800" dirty="0"/>
            </a:br>
            <a:r>
              <a:rPr lang="en-US" sz="1800" dirty="0"/>
              <a:t>8. </a:t>
            </a:r>
            <a:r>
              <a:rPr lang="ru-RU" sz="1800" b="1" dirty="0"/>
              <a:t>Есть ли какая то идеальная схема выстраивания работы (потоковой)?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53240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801</Words>
  <Application>Microsoft Office PowerPoint</Application>
  <PresentationFormat>Widescreen</PresentationFormat>
  <Paragraphs>68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Office Theme</vt:lpstr>
      <vt:lpstr>Тимлиды  Регламент</vt:lpstr>
      <vt:lpstr>Почему этот регламент существует?</vt:lpstr>
      <vt:lpstr>Иерархия</vt:lpstr>
      <vt:lpstr>Зоны ответственности</vt:lpstr>
      <vt:lpstr>Что такое “хорошо”, и что такое “плохо” Тимлид Edition</vt:lpstr>
      <vt:lpstr>Дополнительный FAQ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Какая базовая цель созвонов  SEO-Специалист + Тимлид?</dc:title>
  <dc:creator>Павел Прахов</dc:creator>
  <cp:lastModifiedBy>Павел Прахов</cp:lastModifiedBy>
  <cp:revision>28</cp:revision>
  <dcterms:created xsi:type="dcterms:W3CDTF">2024-03-25T15:00:46Z</dcterms:created>
  <dcterms:modified xsi:type="dcterms:W3CDTF">2024-11-18T12:55:08Z</dcterms:modified>
</cp:coreProperties>
</file>