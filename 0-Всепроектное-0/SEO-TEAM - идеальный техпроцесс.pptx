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9815-1889-40AC-A9C1-D743B095F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8D0D0-467E-499B-B854-268DCD844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B8040-408A-4A37-B798-4C152BF0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0E5D4-C1A2-43E3-930A-5038B1B4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13239-A3BD-4DE7-A594-E2606164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3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5188-6C61-4E5A-9833-697398F02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2D5FC-8239-49D6-A796-D07902DDF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2B91B-C5FB-412B-BA96-79D350D8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D799F-2A26-47B0-896D-3D6124E57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1B962-E955-4B12-A3AF-BE10DA90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46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9E619-5A6A-47AC-80E9-5870B746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8A599-3186-41E1-AF69-9A042608C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180E0-9283-4F4F-B8D4-A47B9D582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93810-4550-4A90-8A91-4E5A9D94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DAB98-275F-4458-80E0-A72D628E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65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C979-E3B1-4F7F-9E26-CF88D4CD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7D752-BE66-4353-B5E3-2AC72F23E7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11415-35C3-4157-A2ED-E4DB6BC80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9803C-FCCB-4E3B-9DFB-4E1091572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4763B-16B9-480E-9DEC-11357A4E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C1558-1C09-4E0A-BE82-1409A100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44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8BA0E-0C30-4E8B-94AD-26D7AAF7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C9FC0-83B4-4F98-AFB3-1CD6F56D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AE526-D0AE-4730-95F2-5958F5F45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D3A0A6-B4E5-42AA-883F-798D14B497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0B83C-4FF7-4881-8969-C7ADD15C2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FEEC3-7358-4E3A-8035-093515ED0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ABBA5E-62DC-4F2C-A3EE-0BCC7A67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FBADF-5F74-4966-99C8-EAA2EA84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66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6FAE-61E5-4633-9912-4F519939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E19BE-D274-4E30-9F42-6C5BB1F59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BEC7F6-7100-4980-AEEC-FE094D44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D4828-350D-4582-B2BC-AD6AD525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83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D3B06-7917-42CA-8A2D-B08A2EA8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0593D-33F7-417B-99D6-7294F3D1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B058-F8AA-425E-AC18-F8D28AD38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811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8EADE-087F-4046-BCFA-1FF8C195D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3FE10-65CC-4B72-BF8C-A204451D5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5A5DE-A0FA-459C-8CA7-498B495B3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1D7EC-7157-4DCB-9DCD-DCC53B36A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D0F43-70B6-4B60-AD10-D86E2DB0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4C38E-D83D-4477-A9AE-76942689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69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CB1C-3E19-4D41-9ECA-22319711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B9411A-C6A2-4302-82CE-9FA2151C7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0C676-332F-4F52-9C3C-CC965EE07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2FCF5-D6B9-4BA1-B5EB-ACA67BA8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53A24-AC49-451E-B25A-1479A3DE9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AC388-C0F9-4735-BC80-25EAB57D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450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BCD7-AD55-42EC-90DE-04120BE0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A3B58-D3A4-4E11-9FD5-01A85F403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0A4-2A76-4753-9010-08816E22D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21C53-6FA2-4506-B0AC-730776652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87E5-89ED-4283-B22C-4C2E9354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68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C741AB-E46B-4CA3-9E17-94DC96DA7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57630-4084-438A-9DFB-AFA7BB2E9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7F602-8DF4-4426-9DD2-C2FABBC2B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24D45-C4C7-401B-B8A1-8765E8BD3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69F23-D8A1-45AB-92F7-75EC9F2B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7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43B561-C7B8-4527-89DB-1FCC58AD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A4A55-D165-4A3E-B92D-ADD05CA17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D7BB8-79C4-4B3B-99B2-D15E0FEB5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DA4EF-EA8C-4D46-962E-E530107B1D52}" type="datetimeFigureOut">
              <a:rPr lang="ru-RU" smtClean="0"/>
              <a:t>09.04.2024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C3033-BB3A-4BB5-9DE1-A333A7D0D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0B6F3-DEAC-4EAA-A19F-46284354D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3DAB7-34EB-479E-93EC-BE4355274F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698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1619075"/>
          </a:xfrm>
        </p:spPr>
        <p:txBody>
          <a:bodyPr>
            <a:normAutofit fontScale="90000"/>
          </a:bodyPr>
          <a:lstStyle/>
          <a:p>
            <a:r>
              <a:rPr lang="en-US" dirty="0"/>
              <a:t>“</a:t>
            </a:r>
            <a:r>
              <a:rPr lang="ru-RU" dirty="0"/>
              <a:t>КОНЬВВАКУУМНЫЙ</a:t>
            </a:r>
            <a:r>
              <a:rPr lang="en-US" dirty="0"/>
              <a:t>”</a:t>
            </a:r>
            <a:r>
              <a:rPr lang="ru-RU" dirty="0"/>
              <a:t> ТЕХПРОЦЕСС </a:t>
            </a:r>
            <a:r>
              <a:rPr lang="en-US" dirty="0"/>
              <a:t>SEO</a:t>
            </a:r>
            <a:br>
              <a:rPr lang="en-US" dirty="0"/>
            </a:br>
            <a:r>
              <a:rPr lang="ru-RU" dirty="0"/>
              <a:t>Введение и первый спринт (2 недели)</a:t>
            </a:r>
            <a:endParaRPr lang="ru-RU" sz="49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4B1320-A06F-4D26-8992-1F76E751AF4E}"/>
              </a:ext>
            </a:extLst>
          </p:cNvPr>
          <p:cNvSpPr txBox="1">
            <a:spLocks/>
          </p:cNvSpPr>
          <p:nvPr/>
        </p:nvSpPr>
        <p:spPr>
          <a:xfrm>
            <a:off x="1651234" y="4157159"/>
            <a:ext cx="9144000" cy="20045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00200" lvl="1" indent="-180000">
              <a:buAutoNum type="arabicPeriod"/>
            </a:pPr>
            <a:endParaRPr lang="ru-RU" sz="9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802FA1-C527-4D0C-A9DC-E3F12830C88F}"/>
              </a:ext>
            </a:extLst>
          </p:cNvPr>
          <p:cNvSpPr txBox="1">
            <a:spLocks/>
          </p:cNvSpPr>
          <p:nvPr/>
        </p:nvSpPr>
        <p:spPr>
          <a:xfrm>
            <a:off x="1396766" y="1619074"/>
            <a:ext cx="9901806" cy="49830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600" dirty="0"/>
              <a:t>План</a:t>
            </a:r>
            <a:r>
              <a:rPr lang="en-US" sz="1600" dirty="0"/>
              <a:t>:</a:t>
            </a:r>
            <a:endParaRPr lang="ru-RU" sz="1600" dirty="0"/>
          </a:p>
          <a:p>
            <a:pPr algn="l"/>
            <a:r>
              <a:rPr lang="ru-RU" sz="1600" dirty="0"/>
              <a:t>Что это такое и зачем это всё нужно</a:t>
            </a:r>
            <a:endParaRPr lang="en-US" sz="1600" dirty="0"/>
          </a:p>
          <a:p>
            <a:pPr algn="l"/>
            <a:endParaRPr lang="ru-RU" sz="1600" b="1" dirty="0"/>
          </a:p>
          <a:p>
            <a:pPr algn="l"/>
            <a:endParaRPr lang="en-US" sz="1600" b="1" dirty="0"/>
          </a:p>
          <a:p>
            <a:pPr algn="l"/>
            <a:r>
              <a:rPr lang="ru-RU" sz="1600" b="1" dirty="0"/>
              <a:t>Спринт </a:t>
            </a:r>
            <a:r>
              <a:rPr lang="en-US" sz="1600" b="1" dirty="0"/>
              <a:t>1:</a:t>
            </a:r>
            <a:endParaRPr lang="ru-RU" sz="1600" dirty="0"/>
          </a:p>
          <a:p>
            <a:pPr algn="l"/>
            <a:r>
              <a:rPr lang="ru-RU" sz="1600" i="1" dirty="0"/>
              <a:t>Сбор данных по типам страниц</a:t>
            </a:r>
            <a:r>
              <a:rPr lang="en-US" sz="1600" i="1" dirty="0"/>
              <a:t>, </a:t>
            </a:r>
            <a:r>
              <a:rPr lang="ru-RU" sz="1600" i="1" dirty="0"/>
              <a:t>имеющимся на сайте для </a:t>
            </a:r>
            <a:r>
              <a:rPr lang="ru-RU" sz="1600" i="1" dirty="0" err="1"/>
              <a:t>техаудита</a:t>
            </a:r>
            <a:r>
              <a:rPr lang="ru-RU" sz="1600" i="1" dirty="0"/>
              <a:t> (не отдельный пункт отчета. Мелочь</a:t>
            </a:r>
            <a:r>
              <a:rPr lang="en-US" sz="1600" i="1" dirty="0"/>
              <a:t>, </a:t>
            </a:r>
            <a:r>
              <a:rPr lang="ru-RU" sz="1600" i="1" dirty="0"/>
              <a:t>но необходимая)</a:t>
            </a:r>
            <a:endParaRPr lang="en-US" sz="1600" i="1" dirty="0"/>
          </a:p>
          <a:p>
            <a:pPr marL="342900" indent="-342900" algn="l">
              <a:buAutoNum type="arabicPeriod"/>
            </a:pPr>
            <a:r>
              <a:rPr lang="ru-RU" sz="1600" dirty="0"/>
              <a:t>Составление файла для простановки приоритетов (итог</a:t>
            </a:r>
            <a:r>
              <a:rPr lang="en-US" sz="1600" dirty="0"/>
              <a:t> +</a:t>
            </a:r>
            <a:r>
              <a:rPr lang="ru-RU" sz="1600" dirty="0"/>
              <a:t> НЕ ЗАБЫТЬ ПОЗДНЕЕ</a:t>
            </a:r>
            <a:r>
              <a:rPr lang="en-US" sz="1600" dirty="0"/>
              <a:t> </a:t>
            </a:r>
            <a:r>
              <a:rPr lang="ru-RU" sz="1600" dirty="0"/>
              <a:t>корректировки реальности в т.ч. </a:t>
            </a:r>
            <a:r>
              <a:rPr lang="ru-RU" sz="1600" dirty="0" err="1"/>
              <a:t>Лендовые</a:t>
            </a:r>
            <a:r>
              <a:rPr lang="ru-RU" sz="1600" dirty="0"/>
              <a:t> или отсутствия сайта)</a:t>
            </a:r>
          </a:p>
          <a:p>
            <a:pPr marL="342900" indent="-342900" algn="l">
              <a:buFontTx/>
              <a:buAutoNum type="arabicPeriod"/>
            </a:pPr>
            <a:r>
              <a:rPr lang="ru-RU" sz="1600" dirty="0"/>
              <a:t>Сбор дополнительных данных к приоритетам (семантической ёмкости</a:t>
            </a:r>
            <a:r>
              <a:rPr lang="en-US" sz="1600" dirty="0"/>
              <a:t> +</a:t>
            </a:r>
            <a:r>
              <a:rPr lang="ru-RU" sz="1600" dirty="0"/>
              <a:t> НЕ ЗАБЫТЬ ПОЗДНЕЕ</a:t>
            </a:r>
            <a:r>
              <a:rPr lang="en-US" sz="1600" dirty="0"/>
              <a:t> </a:t>
            </a:r>
            <a:r>
              <a:rPr lang="ru-RU" sz="1600" dirty="0"/>
              <a:t>корректировки реальности)</a:t>
            </a:r>
          </a:p>
          <a:p>
            <a:pPr marL="342900" indent="-342900" algn="l">
              <a:buAutoNum type="arabicPeriod"/>
            </a:pPr>
            <a:r>
              <a:rPr lang="ru-RU" sz="1600" dirty="0"/>
              <a:t>Сбор поверхностной семантики (итог + НЕ ЗАБЫТЬ ПОЗДНЕЕ корректировки реальности)</a:t>
            </a:r>
            <a:endParaRPr lang="en-US" sz="1600" dirty="0"/>
          </a:p>
          <a:p>
            <a:pPr marL="342900" indent="-342900" algn="l">
              <a:buAutoNum type="arabicPeriod"/>
            </a:pPr>
            <a:r>
              <a:rPr lang="ru-RU" sz="1600" dirty="0"/>
              <a:t>Технический аудит (Часть 1)</a:t>
            </a:r>
            <a:endParaRPr lang="en-US" sz="1600" dirty="0"/>
          </a:p>
          <a:p>
            <a:pPr marL="342900" indent="-342900" algn="l">
              <a:buAutoNum type="arabicPeriod"/>
            </a:pPr>
            <a:r>
              <a:rPr lang="ru-RU" sz="1600" dirty="0"/>
              <a:t>1-2 важнейших технических задания по результатам </a:t>
            </a:r>
            <a:r>
              <a:rPr lang="ru-RU" sz="1600" dirty="0" err="1"/>
              <a:t>техаудита</a:t>
            </a:r>
            <a:r>
              <a:rPr lang="ru-RU" sz="1600" dirty="0"/>
              <a:t> (ГОТОВЫЕ ПРОДУКТЫ К ДЕЙСТВИЮ)</a:t>
            </a:r>
            <a:r>
              <a:rPr lang="en-US" sz="1600" dirty="0"/>
              <a:t> (</a:t>
            </a:r>
            <a:r>
              <a:rPr lang="ru-RU" sz="1600" dirty="0"/>
              <a:t>в том числе один из важнейших вариантов - накатка мета</a:t>
            </a:r>
            <a:r>
              <a:rPr lang="en-US" sz="1600" dirty="0"/>
              <a:t>, </a:t>
            </a:r>
            <a:r>
              <a:rPr lang="ru-RU" sz="1600" dirty="0"/>
              <a:t>если их нет через ТЗ или вручную если есть доступ</a:t>
            </a:r>
            <a:r>
              <a:rPr lang="en-US" sz="1600" dirty="0"/>
              <a:t>)</a:t>
            </a:r>
            <a:r>
              <a:rPr lang="ru-RU" sz="1600" dirty="0"/>
              <a:t>.</a:t>
            </a:r>
          </a:p>
          <a:p>
            <a:pPr algn="l"/>
            <a:r>
              <a:rPr lang="ru-RU" sz="1600" dirty="0"/>
              <a:t>(Отправка всех данных клиенту с указанием выполнять ТЗ + проставлять приоритеты)</a:t>
            </a:r>
          </a:p>
          <a:p>
            <a:pPr algn="l"/>
            <a:endParaRPr lang="ru-RU" sz="1600" dirty="0"/>
          </a:p>
          <a:p>
            <a:pPr algn="l"/>
            <a:r>
              <a:rPr lang="ru-RU" sz="1600" dirty="0"/>
              <a:t>К концу спринта этому моменту должны быть готовы все пункты спринта </a:t>
            </a:r>
            <a:r>
              <a:rPr lang="en-US" sz="1600" dirty="0"/>
              <a:t>1 + </a:t>
            </a:r>
            <a:r>
              <a:rPr lang="ru-RU" sz="1600" dirty="0"/>
              <a:t>клиент должен начать выполнение задач + приоритеты должны быть уже проставлены</a:t>
            </a:r>
            <a:endParaRPr lang="en-US" sz="1600" dirty="0"/>
          </a:p>
          <a:p>
            <a:pPr algn="l"/>
            <a:endParaRPr lang="ru-RU" sz="1600" b="1" dirty="0"/>
          </a:p>
          <a:p>
            <a:pPr marL="342900" indent="-342900" algn="l">
              <a:buAutoNum type="arabicPeriod"/>
            </a:pPr>
            <a:endParaRPr lang="ru-RU" sz="1600" dirty="0"/>
          </a:p>
          <a:p>
            <a:pPr marL="342900" indent="-342900" algn="l">
              <a:buAutoNum type="arabicPeriod"/>
            </a:pPr>
            <a:endParaRPr lang="ru-RU" sz="1600" dirty="0"/>
          </a:p>
          <a:p>
            <a:pPr marL="342900" indent="-342900" algn="l">
              <a:buAutoNum type="arabicPeriod"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756564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72708"/>
          </a:xfrm>
        </p:spPr>
        <p:txBody>
          <a:bodyPr>
            <a:normAutofit/>
          </a:bodyPr>
          <a:lstStyle/>
          <a:p>
            <a:r>
              <a:rPr lang="ru-RU" dirty="0"/>
              <a:t>Спринт 2</a:t>
            </a:r>
            <a:endParaRPr lang="ru-RU" sz="49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4B1320-A06F-4D26-8992-1F76E751AF4E}"/>
              </a:ext>
            </a:extLst>
          </p:cNvPr>
          <p:cNvSpPr txBox="1">
            <a:spLocks/>
          </p:cNvSpPr>
          <p:nvPr/>
        </p:nvSpPr>
        <p:spPr>
          <a:xfrm>
            <a:off x="1651234" y="4157159"/>
            <a:ext cx="9144000" cy="20045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00200" lvl="1" indent="-180000">
              <a:buAutoNum type="arabicPeriod"/>
            </a:pPr>
            <a:endParaRPr lang="ru-RU" sz="9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802FA1-C527-4D0C-A9DC-E3F12830C88F}"/>
              </a:ext>
            </a:extLst>
          </p:cNvPr>
          <p:cNvSpPr txBox="1">
            <a:spLocks/>
          </p:cNvSpPr>
          <p:nvPr/>
        </p:nvSpPr>
        <p:spPr>
          <a:xfrm>
            <a:off x="1396766" y="972708"/>
            <a:ext cx="9901806" cy="56294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1600" dirty="0"/>
          </a:p>
          <a:p>
            <a:pPr algn="l"/>
            <a:r>
              <a:rPr lang="ru-RU" sz="1600" b="1" dirty="0"/>
              <a:t>Спринт </a:t>
            </a:r>
            <a:r>
              <a:rPr lang="en-US" sz="1600" b="1" dirty="0"/>
              <a:t>2:</a:t>
            </a:r>
          </a:p>
          <a:p>
            <a:pPr marL="342900" indent="-342900" algn="l">
              <a:buAutoNum type="arabicPeriod"/>
            </a:pPr>
            <a:r>
              <a:rPr lang="ru-RU" sz="1600" dirty="0"/>
              <a:t>Составление следующих технических заданий по результату </a:t>
            </a:r>
            <a:r>
              <a:rPr lang="ru-RU" sz="1600" dirty="0" err="1"/>
              <a:t>техаудита</a:t>
            </a:r>
            <a:r>
              <a:rPr lang="en-US" sz="1600" dirty="0"/>
              <a:t>, </a:t>
            </a:r>
            <a:r>
              <a:rPr lang="ru-RU" sz="1600" dirty="0"/>
              <a:t>(где это действительно нужно) (выполнение задач</a:t>
            </a:r>
            <a:r>
              <a:rPr lang="en-US" sz="1600" dirty="0"/>
              <a:t>, </a:t>
            </a:r>
            <a:r>
              <a:rPr lang="ru-RU" sz="1600" dirty="0"/>
              <a:t>которые могут повлиять на рост проекта</a:t>
            </a:r>
            <a:r>
              <a:rPr lang="en-US" sz="1600" dirty="0"/>
              <a:t>, </a:t>
            </a:r>
            <a:r>
              <a:rPr lang="ru-RU" sz="1600" dirty="0"/>
              <a:t>без фигни и работы ради работы)</a:t>
            </a:r>
          </a:p>
          <a:p>
            <a:pPr marL="342900" indent="-342900" algn="l">
              <a:buAutoNum type="arabicPeriod"/>
            </a:pPr>
            <a:r>
              <a:rPr lang="ru-RU" sz="1600" dirty="0"/>
              <a:t>Выявление конкурентов в тематике</a:t>
            </a:r>
            <a:endParaRPr lang="en-US" sz="1600" dirty="0"/>
          </a:p>
          <a:p>
            <a:pPr marL="342900" indent="-342900" algn="l">
              <a:buAutoNum type="arabicPeriod"/>
            </a:pPr>
            <a:r>
              <a:rPr lang="ru-RU" sz="1600" dirty="0"/>
              <a:t>Анализ структур конкурентов</a:t>
            </a:r>
            <a:r>
              <a:rPr lang="en-US" sz="1600" dirty="0"/>
              <a:t> </a:t>
            </a:r>
            <a:r>
              <a:rPr lang="ru-RU" sz="1600" dirty="0"/>
              <a:t>и распределения трафика</a:t>
            </a:r>
          </a:p>
          <a:p>
            <a:pPr marL="342900" indent="-342900" algn="l">
              <a:buAutoNum type="arabicPeriod"/>
            </a:pPr>
            <a:r>
              <a:rPr lang="ru-RU" sz="1600" dirty="0"/>
              <a:t>Итоговая приоритезация посадочных на основании данных по приоритетности от клиента</a:t>
            </a:r>
            <a:r>
              <a:rPr lang="en-US" sz="1600" dirty="0"/>
              <a:t>, </a:t>
            </a:r>
            <a:r>
              <a:rPr lang="ru-RU" sz="1600" dirty="0"/>
              <a:t>дополнительных данных по приоритетам и данных по поверхностной видимости запросов </a:t>
            </a:r>
          </a:p>
          <a:p>
            <a:pPr marL="342900" indent="-342900" algn="l">
              <a:buAutoNum type="arabicPeriod"/>
            </a:pPr>
            <a:r>
              <a:rPr lang="ru-RU" sz="1600" dirty="0"/>
              <a:t>Составление и заполнение аналитического </a:t>
            </a:r>
            <a:r>
              <a:rPr lang="en-US" sz="1600" dirty="0"/>
              <a:t>On-Page </a:t>
            </a:r>
            <a:r>
              <a:rPr lang="ru-RU" sz="1600" dirty="0"/>
              <a:t>файла на основании приоритетных данных из пункта 3 по 2-3 страницам</a:t>
            </a:r>
          </a:p>
          <a:p>
            <a:pPr algn="l"/>
            <a:endParaRPr lang="en-US" sz="1600" b="1" dirty="0"/>
          </a:p>
          <a:p>
            <a:pPr algn="l"/>
            <a:r>
              <a:rPr lang="ru-RU" sz="1600" dirty="0"/>
              <a:t>(надо дёргать клиента</a:t>
            </a:r>
            <a:r>
              <a:rPr lang="en-US" sz="1600" dirty="0"/>
              <a:t>, </a:t>
            </a:r>
            <a:r>
              <a:rPr lang="ru-RU" sz="1600" dirty="0"/>
              <a:t>если он не проставил приоритеты или не двигается по техзаданиям)</a:t>
            </a:r>
          </a:p>
          <a:p>
            <a:pPr marL="342900" indent="-342900" algn="l">
              <a:buAutoNum type="arabicPeriod"/>
            </a:pPr>
            <a:endParaRPr lang="ru-RU" sz="1600" dirty="0"/>
          </a:p>
          <a:p>
            <a:pPr marL="342900" indent="-342900" algn="l">
              <a:buAutoNum type="arabicPeriod"/>
            </a:pPr>
            <a:endParaRPr lang="ru-RU" sz="1600" dirty="0"/>
          </a:p>
          <a:p>
            <a:pPr marL="342900" indent="-342900" algn="l">
              <a:buAutoNum type="arabicPeriod"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169226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72708"/>
          </a:xfrm>
        </p:spPr>
        <p:txBody>
          <a:bodyPr>
            <a:normAutofit/>
          </a:bodyPr>
          <a:lstStyle/>
          <a:p>
            <a:r>
              <a:rPr lang="ru-RU" dirty="0"/>
              <a:t>Спринт 3</a:t>
            </a:r>
            <a:endParaRPr lang="ru-RU" sz="49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4B1320-A06F-4D26-8992-1F76E751AF4E}"/>
              </a:ext>
            </a:extLst>
          </p:cNvPr>
          <p:cNvSpPr txBox="1">
            <a:spLocks/>
          </p:cNvSpPr>
          <p:nvPr/>
        </p:nvSpPr>
        <p:spPr>
          <a:xfrm>
            <a:off x="1651234" y="4157159"/>
            <a:ext cx="9144000" cy="20045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00200" lvl="1" indent="-180000">
              <a:buAutoNum type="arabicPeriod"/>
            </a:pPr>
            <a:endParaRPr lang="ru-RU" sz="9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802FA1-C527-4D0C-A9DC-E3F12830C88F}"/>
              </a:ext>
            </a:extLst>
          </p:cNvPr>
          <p:cNvSpPr txBox="1">
            <a:spLocks/>
          </p:cNvSpPr>
          <p:nvPr/>
        </p:nvSpPr>
        <p:spPr>
          <a:xfrm>
            <a:off x="1396766" y="972708"/>
            <a:ext cx="9901806" cy="56294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1600" dirty="0"/>
          </a:p>
          <a:p>
            <a:pPr algn="l"/>
            <a:r>
              <a:rPr lang="ru-RU" sz="1600" b="1" dirty="0"/>
              <a:t>Спринт 3</a:t>
            </a:r>
            <a:r>
              <a:rPr lang="en-US" sz="1600" b="1" dirty="0"/>
              <a:t>:</a:t>
            </a:r>
          </a:p>
          <a:p>
            <a:pPr marL="342900" indent="-342900" algn="l">
              <a:buAutoNum type="arabicPeriod"/>
            </a:pPr>
            <a:r>
              <a:rPr lang="ru-RU" sz="1600" dirty="0"/>
              <a:t>Составление следующих технических заданий по результату </a:t>
            </a:r>
            <a:r>
              <a:rPr lang="ru-RU" sz="1600" dirty="0" err="1"/>
              <a:t>техаудита</a:t>
            </a:r>
            <a:r>
              <a:rPr lang="en-US" sz="1600" dirty="0"/>
              <a:t>, </a:t>
            </a:r>
            <a:r>
              <a:rPr lang="ru-RU" sz="1600" dirty="0"/>
              <a:t>(где это действительно нужно) (выполнение задач</a:t>
            </a:r>
            <a:r>
              <a:rPr lang="en-US" sz="1600" dirty="0"/>
              <a:t>, </a:t>
            </a:r>
            <a:r>
              <a:rPr lang="ru-RU" sz="1600" dirty="0"/>
              <a:t>которые могут повлиять на рост проекта</a:t>
            </a:r>
            <a:r>
              <a:rPr lang="en-US" sz="1600" dirty="0"/>
              <a:t>, </a:t>
            </a:r>
            <a:r>
              <a:rPr lang="ru-RU" sz="1600" dirty="0"/>
              <a:t>без фигни и работы ради работы)</a:t>
            </a:r>
          </a:p>
          <a:p>
            <a:pPr marL="342900" indent="-342900" algn="l">
              <a:buAutoNum type="arabicPeriod"/>
            </a:pPr>
            <a:r>
              <a:rPr lang="ru-RU" sz="1600" dirty="0"/>
              <a:t>Составление технических заданий + обсуждение с клиентом проблем и сложностей</a:t>
            </a:r>
            <a:r>
              <a:rPr lang="en-US" sz="1600" dirty="0"/>
              <a:t>, </a:t>
            </a:r>
            <a:r>
              <a:rPr lang="ru-RU" sz="1600" dirty="0"/>
              <a:t>которые являются системными и частными </a:t>
            </a:r>
            <a:r>
              <a:rPr lang="ru-RU" sz="1600" b="1" dirty="0"/>
              <a:t>по результату анализа 2-3 страниц по </a:t>
            </a:r>
            <a:r>
              <a:rPr lang="en-US" sz="1600" b="1" dirty="0"/>
              <a:t>On-Page</a:t>
            </a:r>
            <a:r>
              <a:rPr lang="ru-RU" sz="1600" b="1" dirty="0"/>
              <a:t>-файлу.</a:t>
            </a:r>
            <a:endParaRPr lang="en-US" sz="1600" b="1" dirty="0"/>
          </a:p>
          <a:p>
            <a:pPr marL="342900" indent="-342900" algn="l">
              <a:buAutoNum type="arabicPeriod"/>
            </a:pPr>
            <a:r>
              <a:rPr lang="ru-RU" sz="1600" dirty="0"/>
              <a:t>Выявление топовых </a:t>
            </a:r>
            <a:r>
              <a:rPr lang="en-US" sz="1600" dirty="0"/>
              <a:t>URL </a:t>
            </a:r>
            <a:r>
              <a:rPr lang="ru-RU" sz="1600" dirty="0"/>
              <a:t>конкурентов (По </a:t>
            </a:r>
            <a:r>
              <a:rPr lang="en-US" sz="1600" dirty="0"/>
              <a:t>Y </a:t>
            </a:r>
            <a:r>
              <a:rPr lang="ru-RU" sz="1600" dirty="0"/>
              <a:t>и по </a:t>
            </a:r>
            <a:r>
              <a:rPr lang="en-US" sz="1600" dirty="0"/>
              <a:t>G)</a:t>
            </a:r>
            <a:endParaRPr lang="ru-RU" sz="1600" dirty="0"/>
          </a:p>
          <a:p>
            <a:pPr marL="342900" indent="-342900" algn="l">
              <a:buAutoNum type="arabicPeriod"/>
            </a:pPr>
            <a:r>
              <a:rPr lang="ru-RU" sz="1600" dirty="0"/>
              <a:t>Анализ структур конкурентов</a:t>
            </a:r>
            <a:r>
              <a:rPr lang="en-US" sz="1600" dirty="0"/>
              <a:t> </a:t>
            </a:r>
            <a:r>
              <a:rPr lang="ru-RU" sz="1600" dirty="0"/>
              <a:t>и распределения трафика</a:t>
            </a:r>
          </a:p>
          <a:p>
            <a:pPr marL="342900" indent="-342900" algn="l">
              <a:buAutoNum type="arabicPeriod"/>
            </a:pPr>
            <a:r>
              <a:rPr lang="ru-RU" sz="1600" dirty="0"/>
              <a:t>Итоговая приоритезация посадочных на основании данных по приоритетности от клиента</a:t>
            </a:r>
            <a:r>
              <a:rPr lang="en-US" sz="1600" dirty="0"/>
              <a:t>, </a:t>
            </a:r>
            <a:r>
              <a:rPr lang="ru-RU" sz="1600" dirty="0"/>
              <a:t>дополнительных данных по приоритетам и данных по поверхностной видимости запросов </a:t>
            </a:r>
          </a:p>
          <a:p>
            <a:pPr marL="342900" indent="-342900" algn="l">
              <a:buAutoNum type="arabicPeriod"/>
            </a:pPr>
            <a:r>
              <a:rPr lang="ru-RU" sz="1600" dirty="0"/>
              <a:t>Составление и заполнение аналитического </a:t>
            </a:r>
            <a:r>
              <a:rPr lang="en-US" sz="1600" dirty="0"/>
              <a:t>On-Page </a:t>
            </a:r>
            <a:r>
              <a:rPr lang="ru-RU" sz="1600" dirty="0"/>
              <a:t>файла на основании приоритетных данных из пункта 3 по 2-3 страницам</a:t>
            </a:r>
          </a:p>
          <a:p>
            <a:pPr algn="l"/>
            <a:endParaRPr lang="en-US" sz="1600" b="1" dirty="0"/>
          </a:p>
          <a:p>
            <a:pPr algn="l"/>
            <a:r>
              <a:rPr lang="ru-RU" sz="1600" dirty="0"/>
              <a:t>(надо дёргать клиента</a:t>
            </a:r>
            <a:r>
              <a:rPr lang="en-US" sz="1600" dirty="0"/>
              <a:t>, </a:t>
            </a:r>
            <a:r>
              <a:rPr lang="ru-RU" sz="1600" dirty="0"/>
              <a:t>если он не проставил приоритеты или не двигается по техзаданиям)</a:t>
            </a:r>
          </a:p>
          <a:p>
            <a:pPr marL="342900" indent="-342900" algn="l">
              <a:buAutoNum type="arabicPeriod"/>
            </a:pPr>
            <a:endParaRPr lang="ru-RU" sz="1600" dirty="0"/>
          </a:p>
          <a:p>
            <a:pPr marL="342900" indent="-342900" algn="l">
              <a:buAutoNum type="arabicPeriod"/>
            </a:pPr>
            <a:endParaRPr lang="ru-RU" sz="1600" dirty="0"/>
          </a:p>
          <a:p>
            <a:pPr marL="342900" indent="-342900" algn="l">
              <a:buAutoNum type="arabicPeriod"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8117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72708"/>
          </a:xfrm>
        </p:spPr>
        <p:txBody>
          <a:bodyPr>
            <a:normAutofit/>
          </a:bodyPr>
          <a:lstStyle/>
          <a:p>
            <a:r>
              <a:rPr lang="ru-RU" dirty="0"/>
              <a:t>Спринт 4</a:t>
            </a:r>
            <a:endParaRPr lang="ru-RU" sz="49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4B1320-A06F-4D26-8992-1F76E751AF4E}"/>
              </a:ext>
            </a:extLst>
          </p:cNvPr>
          <p:cNvSpPr txBox="1">
            <a:spLocks/>
          </p:cNvSpPr>
          <p:nvPr/>
        </p:nvSpPr>
        <p:spPr>
          <a:xfrm>
            <a:off x="1651234" y="4157159"/>
            <a:ext cx="9144000" cy="20045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00200" lvl="1" indent="-180000">
              <a:buAutoNum type="arabicPeriod"/>
            </a:pPr>
            <a:endParaRPr lang="ru-RU" sz="9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802FA1-C527-4D0C-A9DC-E3F12830C88F}"/>
              </a:ext>
            </a:extLst>
          </p:cNvPr>
          <p:cNvSpPr txBox="1">
            <a:spLocks/>
          </p:cNvSpPr>
          <p:nvPr/>
        </p:nvSpPr>
        <p:spPr>
          <a:xfrm>
            <a:off x="1396766" y="972708"/>
            <a:ext cx="9901806" cy="56294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ru-RU" sz="1600" dirty="0"/>
          </a:p>
          <a:p>
            <a:pPr algn="l"/>
            <a:r>
              <a:rPr lang="ru-RU" sz="1600" b="1" dirty="0"/>
              <a:t>Спринт 4</a:t>
            </a:r>
            <a:r>
              <a:rPr lang="en-US" sz="1600" b="1" dirty="0"/>
              <a:t>:</a:t>
            </a:r>
          </a:p>
          <a:p>
            <a:pPr marL="342900" indent="-342900" algn="l">
              <a:buAutoNum type="arabicPeriod"/>
            </a:pPr>
            <a:r>
              <a:rPr lang="ru-RU" sz="1600" dirty="0"/>
              <a:t>ГИБРИДНАЯ СТРУКТУРА</a:t>
            </a:r>
            <a:r>
              <a:rPr lang="en-US" sz="1600" dirty="0"/>
              <a:t>?</a:t>
            </a:r>
            <a:endParaRPr lang="ru-RU" sz="1600" dirty="0"/>
          </a:p>
          <a:p>
            <a:pPr marL="342900" indent="-342900" algn="l">
              <a:buAutoNum type="arabicPeriod"/>
            </a:pPr>
            <a:endParaRPr lang="ru-RU" sz="1600" dirty="0"/>
          </a:p>
          <a:p>
            <a:pPr algn="l"/>
            <a:endParaRPr lang="en-US" sz="1600" b="1" dirty="0"/>
          </a:p>
          <a:p>
            <a:pPr algn="l"/>
            <a:r>
              <a:rPr lang="ru-RU" sz="1600" dirty="0"/>
              <a:t>(надо дёргать клиента</a:t>
            </a:r>
            <a:r>
              <a:rPr lang="en-US" sz="1600" dirty="0"/>
              <a:t>, </a:t>
            </a:r>
            <a:r>
              <a:rPr lang="ru-RU" sz="1600" dirty="0"/>
              <a:t>если он не проставил приоритеты или не двигается по техзаданиям)</a:t>
            </a:r>
          </a:p>
          <a:p>
            <a:pPr marL="342900" indent="-342900" algn="l">
              <a:buAutoNum type="arabicPeriod"/>
            </a:pPr>
            <a:endParaRPr lang="ru-RU" sz="1600" dirty="0"/>
          </a:p>
          <a:p>
            <a:pPr marL="342900" indent="-342900" algn="l">
              <a:buAutoNum type="arabicPeriod"/>
            </a:pPr>
            <a:endParaRPr lang="ru-RU" sz="1600" dirty="0"/>
          </a:p>
          <a:p>
            <a:pPr marL="342900" indent="-342900" algn="l">
              <a:buAutoNum type="arabicPeriod"/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300697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435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“КОНЬВВАКУУМНЫЙ” ТЕХПРОЦЕСС SEO Введение и первый спринт (2 недели)</vt:lpstr>
      <vt:lpstr>Спринт 2</vt:lpstr>
      <vt:lpstr>Спринт 3</vt:lpstr>
      <vt:lpstr>Спринт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“ИДЕАЛЬНЫЙ” ТЕХПРОЦЕСС SEO</dc:title>
  <dc:creator>Павел Прахов</dc:creator>
  <cp:lastModifiedBy>Павел Прахов</cp:lastModifiedBy>
  <cp:revision>14</cp:revision>
  <dcterms:created xsi:type="dcterms:W3CDTF">2024-04-09T06:46:48Z</dcterms:created>
  <dcterms:modified xsi:type="dcterms:W3CDTF">2024-04-09T15:05:48Z</dcterms:modified>
</cp:coreProperties>
</file>