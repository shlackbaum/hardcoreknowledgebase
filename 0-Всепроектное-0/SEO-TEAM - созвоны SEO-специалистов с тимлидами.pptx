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58" r:id="rId4"/>
    <p:sldId id="261" r:id="rId5"/>
    <p:sldId id="259" r:id="rId6"/>
    <p:sldId id="264" r:id="rId7"/>
    <p:sldId id="260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3522A-A844-447B-9008-1641478FC0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99E69A-6E84-4DA6-AB6C-2B86E99F2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5E6DB-AC73-4399-9EBF-28F4E4D57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7DE8D-694A-4D34-B100-302C09E4B6F6}" type="datetimeFigureOut">
              <a:rPr lang="ru-RU" smtClean="0"/>
              <a:t>28.03.2024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81875-11C8-405B-AD74-389C7486C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FC693-3F1D-453D-A61F-00824E7A7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77ED9-A288-4E36-8575-D6B84031C9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9736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E1BB8-264C-4415-8357-225A20FD9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6D072-6854-43B9-803A-F304F6DC0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B1680-85F0-400C-9187-A288FABC5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7DE8D-694A-4D34-B100-302C09E4B6F6}" type="datetimeFigureOut">
              <a:rPr lang="ru-RU" smtClean="0"/>
              <a:t>28.03.2024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8F848-6786-4554-A49F-E3551D0D1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43DEB2-D1C1-40CE-B8C9-BB38F78A7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77ED9-A288-4E36-8575-D6B84031C9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3764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664FE-EE80-4E96-B4E9-387BBC24D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56C953-9948-4D16-B90D-F2EEB7ABB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1EA78-AE77-4F3F-AA4A-3523CE86F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7DE8D-694A-4D34-B100-302C09E4B6F6}" type="datetimeFigureOut">
              <a:rPr lang="ru-RU" smtClean="0"/>
              <a:t>28.03.2024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8A4FE8-253F-49C2-B25E-2A7CD9372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BDBDA-C13C-4262-BEDD-4641EE457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77ED9-A288-4E36-8575-D6B84031C9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4395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6B1DE-260A-46DF-A611-7CC11CE45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9D832-8504-41F7-BBDC-C873AC2820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6E0865-0051-4C3B-8481-3F4728777D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8FCBA6-B242-48DB-B519-C76B74BC8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7DE8D-694A-4D34-B100-302C09E4B6F6}" type="datetimeFigureOut">
              <a:rPr lang="ru-RU" smtClean="0"/>
              <a:t>28.03.2024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36E596-B92E-4AB3-BD19-049292CE6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A3765-1675-4323-8E9A-C98319FD7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77ED9-A288-4E36-8575-D6B84031C9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7193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13BFE-F2E5-4F4D-A1FF-42273D14A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F1FAD-2256-4FA7-B452-9BECF88D8B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569901-EB32-4B65-A120-F81A23CDD6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90BEA5-5CA9-4EFB-9C2F-0882BE07E8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38B684-DD2C-46A8-9357-20F1F4ECED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9A6305-8C49-446E-9314-31684FAEB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7DE8D-694A-4D34-B100-302C09E4B6F6}" type="datetimeFigureOut">
              <a:rPr lang="ru-RU" smtClean="0"/>
              <a:t>28.03.2024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4C9AD6-C3E7-458E-858C-7B9BF97C2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3C2568-A25D-4AF1-B199-DF8314059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77ED9-A288-4E36-8575-D6B84031C9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4355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E83AE-C8A6-4802-B259-4C15839CA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253452-80C1-4DCA-82BA-8950B5EB2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7DE8D-694A-4D34-B100-302C09E4B6F6}" type="datetimeFigureOut">
              <a:rPr lang="ru-RU" smtClean="0"/>
              <a:t>28.03.2024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BFD46A-EC73-4D51-87BA-E0FCE5244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8F3515-A721-4A4A-AEEA-72C53A234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77ED9-A288-4E36-8575-D6B84031C9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3546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45546C-7690-4C10-BF34-6AE87BC14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7DE8D-694A-4D34-B100-302C09E4B6F6}" type="datetimeFigureOut">
              <a:rPr lang="ru-RU" smtClean="0"/>
              <a:t>28.03.2024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CEAEB2-B4D9-4D6A-AE5C-C0B9C8A9C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4E749B-807D-4254-B2C6-223EFFB6A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77ED9-A288-4E36-8575-D6B84031C9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4965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7F7D1-1C07-4D11-A3AF-0ED98C8F6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18A72-F5A8-4B84-B1DB-B6CCEB1F3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2A7103-FDC1-4D74-85AB-873B38996D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FBFDB3-9E36-436B-B030-F201C47B8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7DE8D-694A-4D34-B100-302C09E4B6F6}" type="datetimeFigureOut">
              <a:rPr lang="ru-RU" smtClean="0"/>
              <a:t>28.03.2024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7B6DE8-6C7C-43EA-B5DE-2606452A3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D3247A-8B90-4AF7-AC35-3374A0B1B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77ED9-A288-4E36-8575-D6B84031C9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0668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4D6B7-8282-4C73-9810-66B97675B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449062-3BE6-4849-BF43-B6D55021A7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C4BAC2-C4DA-43F4-9CD2-6DAB42F68D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B1A27F-7E76-401A-8BF0-E1596E5DA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7DE8D-694A-4D34-B100-302C09E4B6F6}" type="datetimeFigureOut">
              <a:rPr lang="ru-RU" smtClean="0"/>
              <a:t>28.03.2024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212997-BBF5-45C9-AABF-1BCE3F0B9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0FAE0F-2FE7-449C-8FEF-07A4B65DC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77ED9-A288-4E36-8575-D6B84031C9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0457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A8EDF-CE39-4A69-84C8-482B850EA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EB71E-DD9C-4A85-BA4F-180CFE0C17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3E56E-CA7A-4332-A446-53D5DEF96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7DE8D-694A-4D34-B100-302C09E4B6F6}" type="datetimeFigureOut">
              <a:rPr lang="ru-RU" smtClean="0"/>
              <a:t>28.03.2024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C581A-CC75-42D8-A9CA-FAD513117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41F7D-776F-4E79-AA6B-CD8576490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77ED9-A288-4E36-8575-D6B84031C9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2793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B53EE1-2F7E-4175-9713-FDC68E84E7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1E28DD-F077-4895-BE81-58DB6D98BE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ACCA1-E29B-439C-A1AD-5D8D00DFB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7DE8D-694A-4D34-B100-302C09E4B6F6}" type="datetimeFigureOut">
              <a:rPr lang="ru-RU" smtClean="0"/>
              <a:t>28.03.2024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E91B8-C1B1-48C4-9F55-4DA3A8B2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9DD3D-F242-4342-841E-0385EE1D6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77ED9-A288-4E36-8575-D6B84031C9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3441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52472C-A77C-4CC2-B79B-07C96F46B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075F14-DD46-4EDB-AC20-441CE656B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B9386-804D-4D5B-A90E-6958627B73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A7DE8D-694A-4D34-B100-302C09E4B6F6}" type="datetimeFigureOut">
              <a:rPr lang="ru-RU" smtClean="0"/>
              <a:t>28.03.2024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9FCA6-1638-4B4E-9812-B4BB32CC2E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F7F8E-8F2B-4655-973F-771263429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77ED9-A288-4E36-8575-D6B84031C9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2294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ABB74-E914-4EF7-BF32-B7CED17A27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5277" y="2240276"/>
            <a:ext cx="9144000" cy="2004554"/>
          </a:xfrm>
        </p:spPr>
        <p:txBody>
          <a:bodyPr>
            <a:normAutofit fontScale="90000"/>
          </a:bodyPr>
          <a:lstStyle/>
          <a:p>
            <a:r>
              <a:rPr lang="ru-RU" dirty="0"/>
              <a:t>Какие проблемы привели к необходимости создания этого регламента и аттестации по нему</a:t>
            </a:r>
            <a:r>
              <a:rPr lang="en-US" dirty="0"/>
              <a:t>?</a:t>
            </a:r>
            <a:r>
              <a:rPr lang="ru-RU" dirty="0"/>
              <a:t> </a:t>
            </a:r>
            <a:endParaRPr lang="ru-RU" sz="49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14B1320-A06F-4D26-8992-1F76E751AF4E}"/>
              </a:ext>
            </a:extLst>
          </p:cNvPr>
          <p:cNvSpPr txBox="1">
            <a:spLocks/>
          </p:cNvSpPr>
          <p:nvPr/>
        </p:nvSpPr>
        <p:spPr>
          <a:xfrm>
            <a:off x="1651234" y="4157159"/>
            <a:ext cx="9144000" cy="200455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43000" indent="-180000" algn="l">
              <a:buAutoNum type="arabicPeriod"/>
            </a:pPr>
            <a:r>
              <a:rPr lang="ru-RU" sz="900" dirty="0"/>
              <a:t>Неправильные решения</a:t>
            </a:r>
            <a:r>
              <a:rPr lang="en-US" sz="900" dirty="0"/>
              <a:t>:</a:t>
            </a:r>
          </a:p>
          <a:p>
            <a:pPr marL="1600200" lvl="1" indent="-180000">
              <a:buFontTx/>
              <a:buAutoNum type="arabicPeriod"/>
            </a:pPr>
            <a:r>
              <a:rPr lang="ru-RU" sz="900" dirty="0"/>
              <a:t>Фактически неверная задача или стратегия</a:t>
            </a:r>
          </a:p>
          <a:p>
            <a:pPr marL="1600200" lvl="1" indent="-180000">
              <a:buFontTx/>
              <a:buAutoNum type="arabicPeriod"/>
            </a:pPr>
            <a:r>
              <a:rPr lang="ru-RU" sz="900" dirty="0"/>
              <a:t>Неправильная приоритетность при выборе из нескольких задач</a:t>
            </a:r>
          </a:p>
          <a:p>
            <a:pPr marL="1600200" lvl="1" indent="-180000">
              <a:buFontTx/>
              <a:buAutoNum type="arabicPeriod"/>
            </a:pPr>
            <a:r>
              <a:rPr lang="ru-RU" sz="900" dirty="0"/>
              <a:t>Неправильная методология решения той или иной </a:t>
            </a:r>
            <a:r>
              <a:rPr lang="ru-RU" sz="900" dirty="0" err="1"/>
              <a:t>задачии</a:t>
            </a:r>
            <a:endParaRPr lang="ru-RU" sz="900" dirty="0"/>
          </a:p>
          <a:p>
            <a:pPr marL="1143000" indent="-180000" algn="l">
              <a:buAutoNum type="arabicPeriod"/>
            </a:pPr>
            <a:r>
              <a:rPr lang="ru-RU" sz="900" dirty="0"/>
              <a:t>Отсутствие системности решений из спринта в спринт</a:t>
            </a:r>
          </a:p>
          <a:p>
            <a:pPr marL="1600200" lvl="1" indent="-180000">
              <a:buAutoNum type="arabicPeriod"/>
            </a:pPr>
            <a:r>
              <a:rPr lang="ru-RU" sz="900" dirty="0"/>
              <a:t>Одни и те же вещи повторяются по одному проекту множество раз. При этом они не зафиксированы и на них опоры нет</a:t>
            </a:r>
          </a:p>
          <a:p>
            <a:pPr marL="1600200" lvl="1" indent="-180000">
              <a:buAutoNum type="arabicPeriod"/>
            </a:pPr>
            <a:r>
              <a:rPr lang="ru-RU" sz="900" dirty="0"/>
              <a:t>Данные не фиксируются в момент </a:t>
            </a:r>
            <a:r>
              <a:rPr lang="ru-RU" sz="900" dirty="0" err="1"/>
              <a:t>созвона</a:t>
            </a:r>
            <a:r>
              <a:rPr lang="ru-RU" sz="900" dirty="0"/>
              <a:t> / после протоколирования</a:t>
            </a:r>
          </a:p>
          <a:p>
            <a:pPr marL="1600200" lvl="1" indent="-180000">
              <a:buAutoNum type="arabicPeriod"/>
            </a:pPr>
            <a:r>
              <a:rPr lang="ru-RU" sz="900" dirty="0"/>
              <a:t>Данные не фиксируются в документе</a:t>
            </a:r>
            <a:r>
              <a:rPr lang="en-US" sz="900" dirty="0"/>
              <a:t>, </a:t>
            </a:r>
            <a:r>
              <a:rPr lang="ru-RU" sz="900" dirty="0"/>
              <a:t>а висят где-то на бумажке</a:t>
            </a:r>
          </a:p>
          <a:p>
            <a:pPr marL="1143000" indent="-180000" algn="l">
              <a:buAutoNum type="arabicPeriod"/>
            </a:pPr>
            <a:r>
              <a:rPr lang="ru-RU" sz="900" dirty="0"/>
              <a:t>Затраты по временным и психоэмоциональным ресурсам</a:t>
            </a:r>
          </a:p>
          <a:p>
            <a:pPr marL="1600200" lvl="1" indent="-180000">
              <a:buAutoNum type="arabicPeriod"/>
            </a:pPr>
            <a:r>
              <a:rPr lang="ru-RU" sz="900" dirty="0"/>
              <a:t>Отсутствие корректной подготовки к </a:t>
            </a:r>
            <a:r>
              <a:rPr lang="ru-RU" sz="900" dirty="0" err="1"/>
              <a:t>созвону</a:t>
            </a:r>
            <a:endParaRPr lang="ru-RU" sz="900" dirty="0"/>
          </a:p>
          <a:p>
            <a:pPr marL="2057400" lvl="2" indent="-180000">
              <a:buAutoNum type="arabicPeriod"/>
            </a:pPr>
            <a:r>
              <a:rPr lang="ru-RU" sz="900" dirty="0"/>
              <a:t>Отсутствие заполнения </a:t>
            </a:r>
          </a:p>
          <a:p>
            <a:pPr marL="2057400" lvl="2" indent="-180000">
              <a:buAutoNum type="arabicPeriod"/>
            </a:pPr>
            <a:r>
              <a:rPr lang="ru-RU" sz="900" dirty="0"/>
              <a:t>Неправильное заполнение данных</a:t>
            </a:r>
          </a:p>
          <a:p>
            <a:pPr marL="1600200" lvl="1" indent="-180000">
              <a:buAutoNum type="arabicPeriod"/>
            </a:pPr>
            <a:r>
              <a:rPr lang="ru-RU" sz="900" dirty="0"/>
              <a:t>Незнание регламентов по техническим задачам</a:t>
            </a:r>
            <a:r>
              <a:rPr lang="en-US" sz="900" dirty="0"/>
              <a:t>, </a:t>
            </a:r>
            <a:r>
              <a:rPr lang="ru-RU" sz="900" dirty="0"/>
              <a:t>приводящее к неправильным решениям</a:t>
            </a:r>
          </a:p>
          <a:p>
            <a:pPr marL="1600200" lvl="1" indent="-180000">
              <a:buAutoNum type="arabicPeriod"/>
            </a:pPr>
            <a:r>
              <a:rPr lang="ru-RU" sz="900" dirty="0"/>
              <a:t>Большой пункт 1 и Пункт 2 также вносят вклад в затраты по временным и психоэмоциональным ресурсам</a:t>
            </a:r>
          </a:p>
          <a:p>
            <a:pPr marL="1600200" lvl="1" indent="-180000">
              <a:buAutoNum type="arabicPeriod"/>
            </a:pP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3756564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ABB74-E914-4EF7-BF32-B7CED17A27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51336"/>
            <a:ext cx="9144000" cy="1555328"/>
          </a:xfrm>
        </p:spPr>
        <p:txBody>
          <a:bodyPr>
            <a:normAutofit fontScale="90000"/>
          </a:bodyPr>
          <a:lstStyle/>
          <a:p>
            <a:r>
              <a:rPr lang="ru-RU" dirty="0"/>
              <a:t>Какие 3 мета-цели </a:t>
            </a:r>
            <a:r>
              <a:rPr lang="ru-RU" dirty="0" err="1"/>
              <a:t>созвонов</a:t>
            </a:r>
            <a:r>
              <a:rPr lang="ru-RU" dirty="0"/>
              <a:t> </a:t>
            </a:r>
            <a:br>
              <a:rPr lang="en-US" dirty="0"/>
            </a:br>
            <a:r>
              <a:rPr lang="en-US" dirty="0"/>
              <a:t>SEO-</a:t>
            </a:r>
            <a:r>
              <a:rPr lang="ru-RU" dirty="0"/>
              <a:t>Специалист +</a:t>
            </a:r>
            <a:r>
              <a:rPr lang="en-US" dirty="0"/>
              <a:t> </a:t>
            </a:r>
            <a:r>
              <a:rPr lang="ru-RU" dirty="0"/>
              <a:t>Тимлид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E425BC7-126C-485D-876A-10A1436B3E00}"/>
              </a:ext>
            </a:extLst>
          </p:cNvPr>
          <p:cNvSpPr txBox="1">
            <a:spLocks/>
          </p:cNvSpPr>
          <p:nvPr/>
        </p:nvSpPr>
        <p:spPr>
          <a:xfrm>
            <a:off x="3260521" y="4206664"/>
            <a:ext cx="5670957" cy="7252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648800" lvl="1" indent="-228600">
              <a:buAutoNum type="arabicPeriod"/>
            </a:pPr>
            <a:r>
              <a:rPr lang="ru-RU" sz="900" dirty="0"/>
              <a:t>Улучшить эффективность </a:t>
            </a:r>
            <a:r>
              <a:rPr lang="en-US" sz="900" dirty="0"/>
              <a:t>SEO</a:t>
            </a:r>
            <a:r>
              <a:rPr lang="ru-RU" sz="900" dirty="0"/>
              <a:t>-работ для конкретного клиента </a:t>
            </a:r>
          </a:p>
          <a:p>
            <a:pPr marL="1648800" lvl="1" indent="-228600">
              <a:buAutoNum type="arabicPeriod"/>
            </a:pPr>
            <a:r>
              <a:rPr lang="ru-RU" sz="900" dirty="0"/>
              <a:t>Продлить срок жизни клиента</a:t>
            </a:r>
          </a:p>
          <a:p>
            <a:pPr marL="1648800" lvl="1" indent="-228600">
              <a:buAutoNum type="arabicPeriod"/>
            </a:pPr>
            <a:r>
              <a:rPr lang="ru-RU" sz="900" dirty="0"/>
              <a:t>Сохранить нервные клетки команды</a:t>
            </a:r>
          </a:p>
          <a:p>
            <a:pPr marL="1420200" lvl="1"/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2899571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ABB74-E914-4EF7-BF32-B7CED17A27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774" y="1560352"/>
            <a:ext cx="9144000" cy="2248249"/>
          </a:xfrm>
        </p:spPr>
        <p:txBody>
          <a:bodyPr>
            <a:normAutofit/>
          </a:bodyPr>
          <a:lstStyle/>
          <a:p>
            <a:r>
              <a:rPr lang="ru-RU" dirty="0"/>
              <a:t>Какие цели </a:t>
            </a:r>
            <a:r>
              <a:rPr lang="ru-RU" dirty="0" err="1"/>
              <a:t>созвонов</a:t>
            </a:r>
            <a:r>
              <a:rPr lang="ru-RU" dirty="0"/>
              <a:t> для</a:t>
            </a:r>
            <a:br>
              <a:rPr lang="en-US" dirty="0"/>
            </a:br>
            <a:r>
              <a:rPr lang="ru-RU" dirty="0"/>
              <a:t>заинтересованных лиц</a:t>
            </a:r>
            <a:r>
              <a:rPr lang="en-US" dirty="0"/>
              <a:t>?</a:t>
            </a:r>
            <a:endParaRPr lang="ru-RU" sz="49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3053C2-609C-4BA7-8C3D-75BE9B20B086}"/>
              </a:ext>
            </a:extLst>
          </p:cNvPr>
          <p:cNvSpPr txBox="1">
            <a:spLocks/>
          </p:cNvSpPr>
          <p:nvPr/>
        </p:nvSpPr>
        <p:spPr>
          <a:xfrm>
            <a:off x="1642845" y="4324939"/>
            <a:ext cx="9144000" cy="200455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20200" lvl="1"/>
            <a:r>
              <a:rPr lang="ru-RU" sz="900" dirty="0"/>
              <a:t>1. Задать вопросы по конкретным работам</a:t>
            </a:r>
            <a:r>
              <a:rPr lang="en-US" sz="900" dirty="0"/>
              <a:t> (</a:t>
            </a:r>
            <a:r>
              <a:rPr lang="ru-RU" sz="900" dirty="0"/>
              <a:t>как их делать) (Спец </a:t>
            </a:r>
            <a:r>
              <a:rPr lang="en-US" sz="900" dirty="0"/>
              <a:t>&gt;</a:t>
            </a:r>
            <a:r>
              <a:rPr lang="ru-RU" sz="900" dirty="0"/>
              <a:t> Тимлиду</a:t>
            </a:r>
            <a:r>
              <a:rPr lang="en-US" sz="900" dirty="0"/>
              <a:t>)</a:t>
            </a:r>
            <a:endParaRPr lang="ru-RU" sz="900" dirty="0"/>
          </a:p>
          <a:p>
            <a:pPr marL="1420200" lvl="1"/>
            <a:r>
              <a:rPr lang="ru-RU" sz="900" dirty="0"/>
              <a:t>2. Задать вопросы о работах</a:t>
            </a:r>
            <a:r>
              <a:rPr lang="en-US" sz="900" dirty="0"/>
              <a:t>, </a:t>
            </a:r>
            <a:r>
              <a:rPr lang="ru-RU" sz="900" dirty="0"/>
              <a:t>когда</a:t>
            </a:r>
            <a:r>
              <a:rPr lang="en-US" sz="900" dirty="0"/>
              <a:t> </a:t>
            </a:r>
            <a:r>
              <a:rPr lang="ru-RU" sz="900" dirty="0"/>
              <a:t>непонятно что делать (Спец </a:t>
            </a:r>
            <a:r>
              <a:rPr lang="en-US" sz="900" dirty="0"/>
              <a:t>&gt;</a:t>
            </a:r>
            <a:r>
              <a:rPr lang="ru-RU" sz="900" dirty="0"/>
              <a:t> Тимлиду)</a:t>
            </a:r>
          </a:p>
          <a:p>
            <a:pPr marL="1420200" lvl="1"/>
            <a:r>
              <a:rPr lang="ru-RU" sz="900" dirty="0"/>
              <a:t>3. Получить список зафиксированных конкретных задач на спринты</a:t>
            </a:r>
            <a:r>
              <a:rPr lang="en-US" sz="900" dirty="0"/>
              <a:t>,</a:t>
            </a:r>
            <a:r>
              <a:rPr lang="ru-RU" sz="900" dirty="0"/>
              <a:t> что даёт возможность</a:t>
            </a:r>
            <a:r>
              <a:rPr lang="en-US" sz="900" dirty="0"/>
              <a:t>:</a:t>
            </a:r>
          </a:p>
          <a:p>
            <a:pPr marL="1877400" lvl="2"/>
            <a:r>
              <a:rPr lang="ru-RU" sz="900" dirty="0"/>
              <a:t>3</a:t>
            </a:r>
            <a:r>
              <a:rPr lang="en-US" sz="900" dirty="0"/>
              <a:t>.1</a:t>
            </a:r>
            <a:r>
              <a:rPr lang="ru-RU" sz="900" dirty="0"/>
              <a:t>. Сказать клиенту </a:t>
            </a:r>
            <a:r>
              <a:rPr lang="en-US" sz="900" dirty="0"/>
              <a:t>“</a:t>
            </a:r>
            <a:r>
              <a:rPr lang="ru-RU" sz="900" dirty="0"/>
              <a:t>Это на следующий спринт</a:t>
            </a:r>
            <a:r>
              <a:rPr lang="en-US" sz="900" dirty="0"/>
              <a:t>, </a:t>
            </a:r>
            <a:r>
              <a:rPr lang="ru-RU" sz="900" dirty="0"/>
              <a:t>на этот список задач уже согласован</a:t>
            </a:r>
          </a:p>
          <a:p>
            <a:pPr marL="1877400" lvl="2"/>
            <a:r>
              <a:rPr lang="ru-RU" sz="900" dirty="0"/>
              <a:t>3.2. Запланировать задачи на день / неделю по разным проектам из стека</a:t>
            </a:r>
          </a:p>
          <a:p>
            <a:pPr marL="1877400" lvl="2"/>
            <a:r>
              <a:rPr lang="ru-RU" sz="900" dirty="0"/>
              <a:t>3.3. Выявить из стека делегируемые задачи – и заранее поставить на них техзадания</a:t>
            </a:r>
          </a:p>
          <a:p>
            <a:pPr marL="1420200" lvl="1"/>
            <a:r>
              <a:rPr lang="ru-RU" sz="900" dirty="0"/>
              <a:t>4. Получить внешний взгляд на проект</a:t>
            </a:r>
            <a:r>
              <a:rPr lang="en-US" sz="900" dirty="0"/>
              <a:t>, </a:t>
            </a:r>
            <a:r>
              <a:rPr lang="ru-RU" sz="900" dirty="0"/>
              <a:t>когда </a:t>
            </a:r>
            <a:r>
              <a:rPr lang="ru-RU" sz="900" dirty="0" err="1"/>
              <a:t>замылился</a:t>
            </a:r>
            <a:r>
              <a:rPr lang="ru-RU" sz="900" dirty="0"/>
              <a:t> глаз</a:t>
            </a:r>
            <a:r>
              <a:rPr lang="en-US" sz="900" dirty="0"/>
              <a:t> (</a:t>
            </a:r>
            <a:r>
              <a:rPr lang="ru-RU" sz="900" dirty="0"/>
              <a:t>Спец </a:t>
            </a:r>
            <a:r>
              <a:rPr lang="en-US" sz="900" dirty="0"/>
              <a:t>&gt;</a:t>
            </a:r>
            <a:r>
              <a:rPr lang="ru-RU" sz="900" dirty="0"/>
              <a:t> Тимлиду)</a:t>
            </a:r>
          </a:p>
          <a:p>
            <a:pPr marL="1420200" lvl="1"/>
            <a:endParaRPr lang="ru-RU" sz="900" dirty="0"/>
          </a:p>
          <a:p>
            <a:pPr marL="1420200" lvl="1"/>
            <a:r>
              <a:rPr lang="ru-RU" sz="900" dirty="0"/>
              <a:t>4. Задать вопросы по приоритетности работ / изменить приоритетность вплоть до отказа от действий</a:t>
            </a:r>
            <a:r>
              <a:rPr lang="en-US" sz="900" dirty="0"/>
              <a:t>, </a:t>
            </a:r>
            <a:r>
              <a:rPr lang="ru-RU" sz="900" dirty="0"/>
              <a:t>если они приведут к эффекту с меньшей эффективностью или сроком (Спец</a:t>
            </a:r>
            <a:r>
              <a:rPr lang="en-US" sz="900" dirty="0"/>
              <a:t> &lt;&gt;</a:t>
            </a:r>
            <a:r>
              <a:rPr lang="ru-RU" sz="900" dirty="0"/>
              <a:t>Тимлиду)</a:t>
            </a:r>
            <a:endParaRPr lang="en-US" sz="900" dirty="0"/>
          </a:p>
          <a:p>
            <a:pPr marL="1420200" lvl="1"/>
            <a:r>
              <a:rPr lang="ru-RU" sz="900" dirty="0"/>
              <a:t>5. Откорректировать методологию работы (если выбранный путь долгий</a:t>
            </a:r>
            <a:r>
              <a:rPr lang="en-US" sz="900" dirty="0"/>
              <a:t>, </a:t>
            </a:r>
            <a:r>
              <a:rPr lang="ru-RU" sz="900" dirty="0"/>
              <a:t>а есть короче)</a:t>
            </a:r>
            <a:r>
              <a:rPr lang="en-US" sz="900" dirty="0"/>
              <a:t> </a:t>
            </a:r>
            <a:r>
              <a:rPr lang="ru-RU" sz="900" dirty="0"/>
              <a:t>(Спец</a:t>
            </a:r>
            <a:r>
              <a:rPr lang="en-US" sz="900" dirty="0"/>
              <a:t> &lt;&gt;</a:t>
            </a:r>
            <a:r>
              <a:rPr lang="ru-RU" sz="900" dirty="0"/>
              <a:t>Тимлид)</a:t>
            </a:r>
          </a:p>
          <a:p>
            <a:pPr marL="1420200" lvl="1"/>
            <a:r>
              <a:rPr lang="ru-RU" sz="900" dirty="0"/>
              <a:t>6. Увидеть дыры в квалификации (Спец</a:t>
            </a:r>
            <a:r>
              <a:rPr lang="en-US" sz="900" dirty="0"/>
              <a:t> &lt;&gt;</a:t>
            </a:r>
            <a:r>
              <a:rPr lang="ru-RU" sz="900" dirty="0"/>
              <a:t>Тимлид)</a:t>
            </a:r>
          </a:p>
          <a:p>
            <a:pPr marL="1420200" lvl="1"/>
            <a:endParaRPr lang="ru-RU" sz="900" dirty="0"/>
          </a:p>
          <a:p>
            <a:pPr marL="1420200" lvl="1"/>
            <a:r>
              <a:rPr lang="ru-RU" sz="900" dirty="0"/>
              <a:t>7. Обезопасить команду от негатива через корректировку (Вся </a:t>
            </a:r>
            <a:r>
              <a:rPr lang="en-US" sz="900" dirty="0"/>
              <a:t>SEO-</a:t>
            </a:r>
            <a:r>
              <a:rPr lang="ru-RU" sz="900" dirty="0"/>
              <a:t>команда)</a:t>
            </a:r>
          </a:p>
          <a:p>
            <a:pPr marL="1420200" lvl="1"/>
            <a:r>
              <a:rPr lang="ru-RU" sz="900" dirty="0"/>
              <a:t>8. Держать руку на пульсе</a:t>
            </a:r>
            <a:r>
              <a:rPr lang="en-US" sz="900" dirty="0"/>
              <a:t>, </a:t>
            </a:r>
            <a:r>
              <a:rPr lang="ru-RU" sz="900" dirty="0"/>
              <a:t>на случай необходимости защиты от негатива (Вся </a:t>
            </a:r>
            <a:r>
              <a:rPr lang="en-US" sz="900" dirty="0"/>
              <a:t>SEO-</a:t>
            </a:r>
            <a:r>
              <a:rPr lang="ru-RU" sz="900" dirty="0"/>
              <a:t>команда)</a:t>
            </a:r>
          </a:p>
          <a:p>
            <a:pPr marL="1420200" lvl="1"/>
            <a:r>
              <a:rPr lang="ru-RU" sz="900" dirty="0"/>
              <a:t>9. Держать руку на пульсе</a:t>
            </a:r>
            <a:r>
              <a:rPr lang="en-US" sz="900" dirty="0"/>
              <a:t>, </a:t>
            </a:r>
            <a:r>
              <a:rPr lang="ru-RU" sz="900" dirty="0"/>
              <a:t>на случай необходимости передачи И</a:t>
            </a:r>
            <a:r>
              <a:rPr lang="en-US" sz="900" dirty="0"/>
              <a:t> </a:t>
            </a:r>
            <a:r>
              <a:rPr lang="ru-RU" sz="900" dirty="0"/>
              <a:t>получения проекта ИЛИ временного выполнения задач в связи с отпуском</a:t>
            </a:r>
            <a:r>
              <a:rPr lang="en-US" sz="900" dirty="0"/>
              <a:t>, </a:t>
            </a:r>
            <a:r>
              <a:rPr lang="ru-RU" sz="900" dirty="0"/>
              <a:t>болезнью</a:t>
            </a:r>
            <a:r>
              <a:rPr lang="en-US" sz="900" dirty="0"/>
              <a:t>, </a:t>
            </a:r>
            <a:r>
              <a:rPr lang="ru-RU" sz="900" dirty="0"/>
              <a:t>увольнением</a:t>
            </a:r>
          </a:p>
          <a:p>
            <a:pPr marL="1420200" lvl="1"/>
            <a:endParaRPr lang="en-US" sz="900" dirty="0"/>
          </a:p>
          <a:p>
            <a:pPr marL="1420200" lvl="1"/>
            <a:r>
              <a:rPr lang="ru-RU" sz="900" dirty="0"/>
              <a:t>10. </a:t>
            </a:r>
            <a:r>
              <a:rPr lang="ru-RU" sz="900" dirty="0" err="1"/>
              <a:t>Фундаментирование</a:t>
            </a:r>
            <a:r>
              <a:rPr lang="ru-RU" sz="900" dirty="0"/>
              <a:t> утверждения работы команды специалистов над проектом (для клиента)</a:t>
            </a:r>
          </a:p>
          <a:p>
            <a:pPr marL="1420200" lvl="1"/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2629320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ABB74-E914-4EF7-BF32-B7CED17A27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5886" y="201336"/>
            <a:ext cx="9144000" cy="2403031"/>
          </a:xfrm>
        </p:spPr>
        <p:txBody>
          <a:bodyPr>
            <a:normAutofit/>
          </a:bodyPr>
          <a:lstStyle/>
          <a:p>
            <a:r>
              <a:rPr lang="ru-RU" dirty="0"/>
              <a:t>Какой итог </a:t>
            </a:r>
            <a:r>
              <a:rPr lang="ru-RU" dirty="0" err="1"/>
              <a:t>созвона</a:t>
            </a:r>
            <a:r>
              <a:rPr lang="ru-RU" dirty="0"/>
              <a:t> считается успешным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867436A-3B95-4E17-B171-A28DE5C88DEF}"/>
              </a:ext>
            </a:extLst>
          </p:cNvPr>
          <p:cNvSpPr txBox="1">
            <a:spLocks/>
          </p:cNvSpPr>
          <p:nvPr/>
        </p:nvSpPr>
        <p:spPr>
          <a:xfrm>
            <a:off x="1524000" y="3939044"/>
            <a:ext cx="9144000" cy="157252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20200" lvl="1"/>
            <a:r>
              <a:rPr lang="ru-RU" sz="900" dirty="0"/>
              <a:t>Ключевая фраза – согласованная ясность.</a:t>
            </a:r>
          </a:p>
          <a:p>
            <a:pPr marL="1420200" lvl="1"/>
            <a:endParaRPr lang="en-US" sz="900" dirty="0"/>
          </a:p>
          <a:p>
            <a:pPr marL="1420200" lvl="1"/>
            <a:r>
              <a:rPr lang="ru-RU" sz="900" dirty="0"/>
              <a:t>У </a:t>
            </a:r>
            <a:r>
              <a:rPr lang="en-US" sz="900" dirty="0"/>
              <a:t>SEO-</a:t>
            </a:r>
            <a:r>
              <a:rPr lang="ru-RU" sz="900" dirty="0"/>
              <a:t>специалиста и тимлида есть согласованная между собой ясность</a:t>
            </a:r>
            <a:r>
              <a:rPr lang="en-US" sz="900" dirty="0"/>
              <a:t> </a:t>
            </a:r>
            <a:r>
              <a:rPr lang="ru-RU" sz="900" dirty="0"/>
              <a:t>по каждому из проектов относительно того</a:t>
            </a:r>
            <a:r>
              <a:rPr lang="en-US" sz="900" dirty="0"/>
              <a:t>:</a:t>
            </a:r>
          </a:p>
          <a:p>
            <a:pPr marL="1420200" lvl="1"/>
            <a:r>
              <a:rPr lang="ru-RU" sz="900" dirty="0"/>
              <a:t>1. </a:t>
            </a:r>
            <a:r>
              <a:rPr lang="ru-RU" sz="900" b="1" dirty="0"/>
              <a:t>Что</a:t>
            </a:r>
            <a:r>
              <a:rPr lang="ru-RU" sz="900" dirty="0"/>
              <a:t> было сделано </a:t>
            </a:r>
            <a:r>
              <a:rPr lang="ru-RU" sz="900" b="1" dirty="0"/>
              <a:t>ранее</a:t>
            </a:r>
            <a:endParaRPr lang="en-US" sz="900" b="1" dirty="0"/>
          </a:p>
          <a:p>
            <a:pPr marL="1420200" lvl="1"/>
            <a:r>
              <a:rPr lang="ru-RU" sz="900" dirty="0"/>
              <a:t>2. </a:t>
            </a:r>
            <a:r>
              <a:rPr lang="ru-RU" sz="900" b="1" dirty="0"/>
              <a:t>Что</a:t>
            </a:r>
            <a:r>
              <a:rPr lang="ru-RU" sz="900" dirty="0"/>
              <a:t> надо делать </a:t>
            </a:r>
            <a:r>
              <a:rPr lang="ru-RU" sz="900" b="1" dirty="0"/>
              <a:t>сейчас</a:t>
            </a:r>
            <a:endParaRPr lang="en-US" sz="900" b="1" dirty="0"/>
          </a:p>
          <a:p>
            <a:pPr marL="1420200" lvl="1"/>
            <a:r>
              <a:rPr lang="ru-RU" sz="900" dirty="0"/>
              <a:t>3. </a:t>
            </a:r>
            <a:r>
              <a:rPr lang="ru-RU" sz="900" b="1" dirty="0"/>
              <a:t>Что</a:t>
            </a:r>
            <a:r>
              <a:rPr lang="ru-RU" sz="900" dirty="0"/>
              <a:t> надо будет сделать </a:t>
            </a:r>
            <a:r>
              <a:rPr lang="ru-RU" sz="900" b="1" dirty="0"/>
              <a:t>потом</a:t>
            </a:r>
            <a:r>
              <a:rPr lang="en-US" sz="900" b="1" dirty="0"/>
              <a:t>,</a:t>
            </a:r>
            <a:r>
              <a:rPr lang="ru-RU" sz="900" dirty="0"/>
              <a:t> </a:t>
            </a:r>
            <a:endParaRPr lang="en-US" sz="900" dirty="0"/>
          </a:p>
          <a:p>
            <a:pPr marL="1420200" lvl="1"/>
            <a:r>
              <a:rPr lang="ru-RU" sz="900" b="1" dirty="0"/>
              <a:t>4. Как</a:t>
            </a:r>
            <a:r>
              <a:rPr lang="ru-RU" sz="900" dirty="0"/>
              <a:t> именно это делать</a:t>
            </a:r>
            <a:endParaRPr lang="en-US" sz="900" dirty="0"/>
          </a:p>
          <a:p>
            <a:pPr marL="1420200" lvl="1"/>
            <a:r>
              <a:rPr lang="ru-RU" sz="900" b="1" dirty="0"/>
              <a:t>5. какое место в общей стратегии продвижения </a:t>
            </a:r>
            <a:r>
              <a:rPr lang="ru-RU" sz="900" dirty="0"/>
              <a:t>проекта занимают</a:t>
            </a:r>
            <a:r>
              <a:rPr lang="en-US" sz="900" dirty="0"/>
              <a:t> </a:t>
            </a:r>
            <a:r>
              <a:rPr lang="ru-RU" sz="900" b="1" dirty="0"/>
              <a:t>прошедшие</a:t>
            </a:r>
            <a:r>
              <a:rPr lang="en-US" sz="900" b="1" dirty="0"/>
              <a:t>, </a:t>
            </a:r>
            <a:r>
              <a:rPr lang="ru-RU" sz="900" b="1" dirty="0"/>
              <a:t>текущие и будущие </a:t>
            </a:r>
            <a:r>
              <a:rPr lang="ru-RU" sz="900" dirty="0"/>
              <a:t>задачи и </a:t>
            </a:r>
            <a:r>
              <a:rPr lang="ru-RU" sz="900" b="1" dirty="0"/>
              <a:t>почему именно это место.</a:t>
            </a:r>
          </a:p>
          <a:p>
            <a:pPr marL="1648800" lvl="1" indent="-228600">
              <a:buAutoNum type="arabicPeriod"/>
            </a:pPr>
            <a:endParaRPr lang="ru-RU" sz="900" dirty="0"/>
          </a:p>
          <a:p>
            <a:pPr marL="1648800" lvl="1" indent="-228600">
              <a:buAutoNum type="arabicPeriod"/>
            </a:pP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4185095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ABB74-E914-4EF7-BF32-B7CED17A27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7171" y="2651336"/>
            <a:ext cx="11551639" cy="1555328"/>
          </a:xfrm>
        </p:spPr>
        <p:txBody>
          <a:bodyPr>
            <a:normAutofit fontScale="90000"/>
          </a:bodyPr>
          <a:lstStyle/>
          <a:p>
            <a:r>
              <a:rPr lang="ru-RU" dirty="0"/>
              <a:t>Что входит в зону ответственности </a:t>
            </a:r>
            <a:r>
              <a:rPr lang="en-US" dirty="0"/>
              <a:t>SEO-</a:t>
            </a:r>
            <a:r>
              <a:rPr lang="ru-RU" dirty="0"/>
              <a:t>специалиста по файлу планёрок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ADAD5CC-C26D-443E-8342-36F8E34EBAAA}"/>
              </a:ext>
            </a:extLst>
          </p:cNvPr>
          <p:cNvSpPr txBox="1">
            <a:spLocks/>
          </p:cNvSpPr>
          <p:nvPr/>
        </p:nvSpPr>
        <p:spPr>
          <a:xfrm>
            <a:off x="1642845" y="4324939"/>
            <a:ext cx="9144000" cy="22268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20200" lvl="1"/>
            <a:r>
              <a:rPr lang="ru-RU" sz="900" dirty="0"/>
              <a:t>Короткий ответ</a:t>
            </a:r>
            <a:r>
              <a:rPr lang="en-US" sz="900" dirty="0"/>
              <a:t>: </a:t>
            </a:r>
            <a:r>
              <a:rPr lang="ru-RU" sz="900" dirty="0"/>
              <a:t>Всё.  </a:t>
            </a:r>
          </a:p>
          <a:p>
            <a:pPr marL="1420200" lvl="1"/>
            <a:endParaRPr lang="ru-RU" sz="900" dirty="0"/>
          </a:p>
          <a:p>
            <a:pPr marL="1420200" lvl="1"/>
            <a:r>
              <a:rPr lang="ru-RU" sz="900" dirty="0"/>
              <a:t>Развернутый ответ</a:t>
            </a:r>
            <a:r>
              <a:rPr lang="en-US" sz="900" dirty="0"/>
              <a:t>: </a:t>
            </a:r>
            <a:endParaRPr lang="ru-RU" sz="900" dirty="0"/>
          </a:p>
          <a:p>
            <a:pPr marL="1648800" lvl="1" indent="-228600">
              <a:buAutoNum type="arabicPeriod"/>
            </a:pPr>
            <a:r>
              <a:rPr lang="ru-RU" sz="900" dirty="0"/>
              <a:t>Наличие строки с проектом в блоке специалиста</a:t>
            </a:r>
          </a:p>
          <a:p>
            <a:pPr marL="1648800" lvl="1" indent="-228600">
              <a:buAutoNum type="arabicPeriod"/>
            </a:pPr>
            <a:r>
              <a:rPr lang="ru-RU" sz="900" dirty="0"/>
              <a:t>Наличие КОРРЕКТНЫХ и АКТУАЛЬНЫХ дат по проекту</a:t>
            </a:r>
          </a:p>
          <a:p>
            <a:pPr marL="1648800" lvl="1" indent="-228600">
              <a:buAutoNum type="arabicPeriod"/>
            </a:pPr>
            <a:r>
              <a:rPr lang="ru-RU" sz="900" dirty="0"/>
              <a:t>Наличие ссылки на лист на проект</a:t>
            </a:r>
          </a:p>
          <a:p>
            <a:pPr marL="1648800" lvl="1" indent="-228600">
              <a:buAutoNum type="arabicPeriod"/>
            </a:pPr>
            <a:r>
              <a:rPr lang="ru-RU" sz="900" dirty="0"/>
              <a:t>Наличие листа на проект</a:t>
            </a:r>
          </a:p>
          <a:p>
            <a:pPr marL="1648800" lvl="1" indent="-228600">
              <a:buAutoNum type="arabicPeriod"/>
            </a:pPr>
            <a:r>
              <a:rPr lang="ru-RU" sz="900" dirty="0"/>
              <a:t>Заполненность КОРРЕТНЫХ и АКТУАЛЬНЫХ дат по проекту НА ЛИСТЕ ПРОЕКТА</a:t>
            </a:r>
          </a:p>
          <a:p>
            <a:pPr marL="1648800" lvl="1" indent="-228600">
              <a:buAutoNum type="arabicPeriod"/>
            </a:pPr>
            <a:r>
              <a:rPr lang="ru-RU" sz="900" dirty="0"/>
              <a:t>Заполненность и актуальность данных в блоке вех по проекту (файл долгов</a:t>
            </a:r>
            <a:r>
              <a:rPr lang="en-US" sz="900" dirty="0"/>
              <a:t>, </a:t>
            </a:r>
            <a:r>
              <a:rPr lang="ru-RU" sz="900" dirty="0"/>
              <a:t>конкуренты</a:t>
            </a:r>
            <a:r>
              <a:rPr lang="en-US" sz="900" dirty="0"/>
              <a:t>, </a:t>
            </a:r>
            <a:r>
              <a:rPr lang="ru-RU" sz="900" dirty="0"/>
              <a:t>поверхностная семантика</a:t>
            </a:r>
            <a:r>
              <a:rPr lang="en-US" sz="900" dirty="0"/>
              <a:t>, </a:t>
            </a:r>
            <a:r>
              <a:rPr lang="ru-RU" sz="900" dirty="0" err="1"/>
              <a:t>техаудит</a:t>
            </a:r>
            <a:r>
              <a:rPr lang="ru-RU" sz="900" dirty="0"/>
              <a:t> и другое)</a:t>
            </a:r>
          </a:p>
          <a:p>
            <a:pPr marL="1648800" lvl="1" indent="-228600">
              <a:buFontTx/>
              <a:buAutoNum type="arabicPeriod"/>
            </a:pPr>
            <a:r>
              <a:rPr lang="ru-RU" sz="900" dirty="0"/>
              <a:t>ПРАВИЛЬНЫЕ ФОРМУЛИРОВКИ БЛИЖАЙШИХ И СТЕКОВЫХ ЗАДАЧ НЕ ДОПУСКАЮЩИХ НЕКОРРЕКТНОГО ТОЛКОВАНИЯ ВНЕШНИМ НАБЛЮДАТЕЛЕМ</a:t>
            </a:r>
          </a:p>
          <a:p>
            <a:pPr marL="1648800" lvl="1" indent="-228600">
              <a:buAutoNum type="arabicPeriod"/>
            </a:pPr>
            <a:r>
              <a:rPr lang="ru-RU" sz="900" dirty="0"/>
              <a:t>Заполненность и актуальность списка ближайших задач на проект</a:t>
            </a:r>
          </a:p>
          <a:p>
            <a:pPr marL="1648800" lvl="1" indent="-228600">
              <a:buAutoNum type="arabicPeriod"/>
            </a:pPr>
            <a:r>
              <a:rPr lang="ru-RU" sz="900" dirty="0"/>
              <a:t>Заполненность и актуальность списка стековых задач на проект (которые надо не забыть из протокола или из других источников данных)</a:t>
            </a:r>
          </a:p>
          <a:p>
            <a:pPr marL="1648800" lvl="1" indent="-228600">
              <a:buAutoNum type="arabicPeriod"/>
            </a:pPr>
            <a:r>
              <a:rPr lang="ru-RU" sz="900" dirty="0"/>
              <a:t>Корректность заполнения данных по предыдущим спринтам (последовательность и полнота)</a:t>
            </a:r>
          </a:p>
          <a:p>
            <a:pPr marL="1648800" lvl="1" indent="-228600">
              <a:buAutoNum type="arabicPeriod"/>
            </a:pP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4183190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ABB74-E914-4EF7-BF32-B7CED17A27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51336"/>
            <a:ext cx="9144000" cy="1555328"/>
          </a:xfrm>
        </p:spPr>
        <p:txBody>
          <a:bodyPr>
            <a:normAutofit fontScale="90000"/>
          </a:bodyPr>
          <a:lstStyle/>
          <a:p>
            <a:r>
              <a:rPr lang="ru-RU" dirty="0"/>
              <a:t>Как </a:t>
            </a:r>
            <a:r>
              <a:rPr lang="en-US" dirty="0"/>
              <a:t>SEO-</a:t>
            </a:r>
            <a:r>
              <a:rPr lang="ru-RU" dirty="0"/>
              <a:t>специалист должен подготовиться к </a:t>
            </a:r>
            <a:r>
              <a:rPr lang="ru-RU" dirty="0" err="1"/>
              <a:t>созвону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ADAD5CC-C26D-443E-8342-36F8E34EBAAA}"/>
              </a:ext>
            </a:extLst>
          </p:cNvPr>
          <p:cNvSpPr txBox="1">
            <a:spLocks/>
          </p:cNvSpPr>
          <p:nvPr/>
        </p:nvSpPr>
        <p:spPr>
          <a:xfrm>
            <a:off x="1642845" y="4324938"/>
            <a:ext cx="9144000" cy="253306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20200" lvl="1"/>
            <a:r>
              <a:rPr lang="ru-RU" sz="900" dirty="0"/>
              <a:t>Вариант №1 – Правильный</a:t>
            </a:r>
            <a:r>
              <a:rPr lang="en-US" sz="900" dirty="0"/>
              <a:t>, </a:t>
            </a:r>
            <a:r>
              <a:rPr lang="ru-RU" sz="900" dirty="0"/>
              <a:t>оптимальный и единственно верный</a:t>
            </a:r>
            <a:r>
              <a:rPr lang="en-US" sz="900" dirty="0"/>
              <a:t>:</a:t>
            </a:r>
            <a:endParaRPr lang="ru-RU" sz="900" dirty="0"/>
          </a:p>
          <a:p>
            <a:pPr marL="1648800" lvl="1" indent="-228600">
              <a:buAutoNum type="arabicPeriod"/>
            </a:pPr>
            <a:r>
              <a:rPr lang="ru-RU" sz="900" dirty="0"/>
              <a:t>В момент (не после!) </a:t>
            </a:r>
            <a:r>
              <a:rPr lang="ru-RU" sz="900" dirty="0" err="1"/>
              <a:t>созвона</a:t>
            </a:r>
            <a:r>
              <a:rPr lang="en-US" sz="900" dirty="0"/>
              <a:t>, </a:t>
            </a:r>
            <a:r>
              <a:rPr lang="ru-RU" sz="900" dirty="0"/>
              <a:t>если таковые имеются</a:t>
            </a:r>
            <a:r>
              <a:rPr lang="en-US" sz="900" dirty="0"/>
              <a:t>,</a:t>
            </a:r>
            <a:r>
              <a:rPr lang="ru-RU" sz="900" dirty="0"/>
              <a:t> данные по проекту должны быть запротоколированы в таблицу протокола</a:t>
            </a:r>
          </a:p>
          <a:p>
            <a:pPr marL="1648800" lvl="1" indent="-228600">
              <a:buAutoNum type="arabicPeriod"/>
            </a:pPr>
            <a:r>
              <a:rPr lang="ru-RU" sz="900" dirty="0"/>
              <a:t>Сразу (сразу!) после </a:t>
            </a:r>
            <a:r>
              <a:rPr lang="ru-RU" sz="900" dirty="0" err="1"/>
              <a:t>созвона</a:t>
            </a:r>
            <a:r>
              <a:rPr lang="en-US" sz="900" dirty="0"/>
              <a:t>, </a:t>
            </a:r>
            <a:r>
              <a:rPr lang="ru-RU" sz="900" dirty="0"/>
              <a:t>если таковые имеются</a:t>
            </a:r>
            <a:r>
              <a:rPr lang="en-US" sz="900" dirty="0"/>
              <a:t>,</a:t>
            </a:r>
            <a:r>
              <a:rPr lang="ru-RU" sz="900" dirty="0"/>
              <a:t> данные протокола допиливаются в формат задач и задачи ближайшего спринта переходят на ближайший спринт</a:t>
            </a:r>
            <a:r>
              <a:rPr lang="en-US" sz="900" dirty="0"/>
              <a:t>, </a:t>
            </a:r>
            <a:r>
              <a:rPr lang="ru-RU" sz="900" dirty="0"/>
              <a:t>а другие задачи переносятся на </a:t>
            </a:r>
            <a:r>
              <a:rPr lang="en-US" sz="900" dirty="0"/>
              <a:t>“</a:t>
            </a:r>
            <a:r>
              <a:rPr lang="ru-RU" sz="900" dirty="0"/>
              <a:t>когда-нибудь</a:t>
            </a:r>
            <a:r>
              <a:rPr lang="en-US" sz="900" dirty="0"/>
              <a:t>”</a:t>
            </a:r>
            <a:r>
              <a:rPr lang="ru-RU" sz="900" dirty="0"/>
              <a:t> </a:t>
            </a:r>
            <a:endParaRPr lang="en-US" sz="900" dirty="0"/>
          </a:p>
          <a:p>
            <a:pPr marL="1648800" lvl="1" indent="-228600">
              <a:buAutoNum type="arabicPeriod"/>
            </a:pPr>
            <a:r>
              <a:rPr lang="ru-RU" sz="900" dirty="0"/>
              <a:t>В процессе выполнения задач по проекту по результату своего исследования или рекомендаций со стороны коллеги или запроса со стороны клиента данные вносятся в общий стек задач на будущее (здесь также требуется конкретное описание)</a:t>
            </a:r>
          </a:p>
          <a:p>
            <a:pPr marL="1648800" lvl="1" indent="-228600">
              <a:buAutoNum type="arabicPeriod"/>
            </a:pPr>
            <a:r>
              <a:rPr lang="ru-RU" sz="900" b="1" dirty="0"/>
              <a:t>В исключительных случаях</a:t>
            </a:r>
            <a:r>
              <a:rPr lang="en-US" sz="900" b="1" dirty="0"/>
              <a:t>, </a:t>
            </a:r>
            <a:r>
              <a:rPr lang="ru-RU" sz="900" b="1" dirty="0"/>
              <a:t>если запрос от клиента не допускает формулировки </a:t>
            </a:r>
            <a:r>
              <a:rPr lang="en-US" sz="900" b="1" dirty="0"/>
              <a:t>“</a:t>
            </a:r>
            <a:r>
              <a:rPr lang="ru-RU" sz="900" b="1" dirty="0"/>
              <a:t>Это на следующий спринт</a:t>
            </a:r>
            <a:r>
              <a:rPr lang="en-US" sz="900" b="1" dirty="0"/>
              <a:t>” </a:t>
            </a:r>
            <a:r>
              <a:rPr lang="ru-RU" sz="900" b="1" dirty="0"/>
              <a:t>ИЛИ если выявлены в процессе работы новые вводные требующие корректировки плана </a:t>
            </a:r>
            <a:r>
              <a:rPr lang="ru-RU" sz="900" dirty="0"/>
              <a:t>– дополнительные задачи вносятся в стек на текущий спринт в правильной формулировке с каким-то обозначением</a:t>
            </a:r>
            <a:r>
              <a:rPr lang="en-US" sz="900" dirty="0"/>
              <a:t>, </a:t>
            </a:r>
            <a:r>
              <a:rPr lang="ru-RU" sz="900" dirty="0"/>
              <a:t>что это новые вводные </a:t>
            </a:r>
          </a:p>
          <a:p>
            <a:pPr marL="1648800" lvl="1" indent="-228600">
              <a:buAutoNum type="arabicPeriod"/>
            </a:pPr>
            <a:r>
              <a:rPr lang="ru-RU" sz="900" dirty="0"/>
              <a:t>За 1 час до </a:t>
            </a:r>
            <a:r>
              <a:rPr lang="ru-RU" sz="900" dirty="0" err="1"/>
              <a:t>созвона</a:t>
            </a:r>
            <a:r>
              <a:rPr lang="ru-RU" sz="900" dirty="0"/>
              <a:t> с тимлидом (или в другое время</a:t>
            </a:r>
            <a:r>
              <a:rPr lang="en-US" sz="900" dirty="0"/>
              <a:t>, </a:t>
            </a:r>
            <a:r>
              <a:rPr lang="ru-RU" sz="900" dirty="0"/>
              <a:t>если требуется меньше или больше времени)</a:t>
            </a:r>
            <a:r>
              <a:rPr lang="en-US" sz="900" dirty="0"/>
              <a:t>:</a:t>
            </a:r>
          </a:p>
          <a:p>
            <a:pPr marL="2106000" lvl="2" indent="-228600">
              <a:buAutoNum type="arabicPeriod"/>
            </a:pPr>
            <a:r>
              <a:rPr lang="ru-RU" sz="900" dirty="0"/>
              <a:t>Зафиксировать в любой форме для себя список из вопросов и проблем (любых)</a:t>
            </a:r>
            <a:r>
              <a:rPr lang="en-US" sz="900" dirty="0"/>
              <a:t>, </a:t>
            </a:r>
            <a:r>
              <a:rPr lang="ru-RU" sz="900" dirty="0"/>
              <a:t>которые требуют первоочередного внимания тимлида. </a:t>
            </a:r>
            <a:endParaRPr lang="en-US" sz="900" dirty="0"/>
          </a:p>
          <a:p>
            <a:pPr marL="2106000" lvl="2" indent="-228600">
              <a:buFontTx/>
              <a:buAutoNum type="arabicPeriod"/>
            </a:pPr>
            <a:r>
              <a:rPr lang="ru-RU" sz="900" dirty="0" err="1"/>
              <a:t>Попроектно</a:t>
            </a:r>
            <a:r>
              <a:rPr lang="ru-RU" sz="900" dirty="0"/>
              <a:t> проверить данные по </a:t>
            </a:r>
            <a:r>
              <a:rPr lang="ru-RU" sz="900" dirty="0" err="1"/>
              <a:t>Топвизору</a:t>
            </a:r>
            <a:r>
              <a:rPr lang="en-US" sz="900" dirty="0"/>
              <a:t>, </a:t>
            </a:r>
            <a:r>
              <a:rPr lang="ru-RU" sz="900" dirty="0"/>
              <a:t>Метрике и</a:t>
            </a:r>
            <a:r>
              <a:rPr lang="en-US" sz="900" dirty="0"/>
              <a:t> </a:t>
            </a:r>
            <a:r>
              <a:rPr lang="ru-RU" sz="900" dirty="0" err="1"/>
              <a:t>Яндекс.Вебмастеру</a:t>
            </a:r>
            <a:r>
              <a:rPr lang="ru-RU" sz="900" dirty="0"/>
              <a:t> глазами на предмет срочных проблем (диагностика</a:t>
            </a:r>
            <a:r>
              <a:rPr lang="en-US" sz="900" dirty="0"/>
              <a:t>, </a:t>
            </a:r>
            <a:r>
              <a:rPr lang="ru-RU" sz="900" dirty="0"/>
              <a:t>индексация</a:t>
            </a:r>
            <a:r>
              <a:rPr lang="en-US" sz="900" dirty="0"/>
              <a:t>, </a:t>
            </a:r>
            <a:r>
              <a:rPr lang="ru-RU" sz="900" dirty="0"/>
              <a:t>падения видимости / трафика)</a:t>
            </a:r>
          </a:p>
          <a:p>
            <a:pPr marL="2106000" lvl="2" indent="-228600">
              <a:buFontTx/>
              <a:buAutoNum type="arabicPeriod"/>
            </a:pPr>
            <a:r>
              <a:rPr lang="ru-RU" sz="900" dirty="0"/>
              <a:t>Перепроверить актуальность данных по каждому из проектов в ведении </a:t>
            </a:r>
            <a:r>
              <a:rPr lang="en-US" sz="900" dirty="0"/>
              <a:t>SEO-</a:t>
            </a:r>
            <a:r>
              <a:rPr lang="ru-RU" sz="900" dirty="0"/>
              <a:t>специалиста по каждой из зон ответственности</a:t>
            </a:r>
            <a:r>
              <a:rPr lang="en-US" sz="900" dirty="0"/>
              <a:t>:</a:t>
            </a:r>
          </a:p>
          <a:p>
            <a:pPr marL="2563200" lvl="3" indent="-228600">
              <a:buFontTx/>
              <a:buAutoNum type="arabicPeriod"/>
            </a:pPr>
            <a:r>
              <a:rPr lang="ru-RU" sz="900" dirty="0" err="1"/>
              <a:t>Выполненность</a:t>
            </a:r>
            <a:r>
              <a:rPr lang="ru-RU" sz="900" dirty="0"/>
              <a:t> задач прошлого спринта</a:t>
            </a:r>
          </a:p>
          <a:p>
            <a:pPr marL="2563200" lvl="3" indent="-228600">
              <a:buFontTx/>
              <a:buAutoNum type="arabicPeriod"/>
            </a:pPr>
            <a:r>
              <a:rPr lang="ru-RU" sz="900" dirty="0"/>
              <a:t>Задачи на текущий спринт</a:t>
            </a:r>
          </a:p>
          <a:p>
            <a:pPr marL="2563200" lvl="3" indent="-228600">
              <a:buFontTx/>
              <a:buAutoNum type="arabicPeriod"/>
            </a:pPr>
            <a:r>
              <a:rPr lang="ru-RU" sz="900" dirty="0"/>
              <a:t>Задачи в </a:t>
            </a:r>
            <a:r>
              <a:rPr lang="ru-RU" sz="900" dirty="0" err="1"/>
              <a:t>беклоге</a:t>
            </a:r>
            <a:r>
              <a:rPr lang="ru-RU" sz="900" dirty="0"/>
              <a:t> (в т.ч. На следующий спринт)</a:t>
            </a:r>
          </a:p>
          <a:p>
            <a:pPr marL="2563200" lvl="3" indent="-228600">
              <a:buAutoNum type="arabicPeriod"/>
            </a:pPr>
            <a:r>
              <a:rPr lang="ru-RU" sz="900" dirty="0"/>
              <a:t>Актуальность галочек и стоящих за ними задач вех</a:t>
            </a:r>
            <a:r>
              <a:rPr lang="en-US" sz="900" dirty="0"/>
              <a:t>: </a:t>
            </a:r>
            <a:r>
              <a:rPr lang="ru-RU" sz="900" dirty="0"/>
              <a:t>Файл долгов</a:t>
            </a:r>
            <a:r>
              <a:rPr lang="en-US" sz="900" dirty="0"/>
              <a:t>, </a:t>
            </a:r>
            <a:r>
              <a:rPr lang="ru-RU" sz="900" dirty="0"/>
              <a:t>конкуренты</a:t>
            </a:r>
            <a:r>
              <a:rPr lang="en-US" sz="900" dirty="0"/>
              <a:t>, </a:t>
            </a:r>
            <a:r>
              <a:rPr lang="ru-RU" sz="900" dirty="0"/>
              <a:t>поверхностная семантика</a:t>
            </a:r>
            <a:r>
              <a:rPr lang="en-US" sz="900" dirty="0"/>
              <a:t>, </a:t>
            </a:r>
            <a:r>
              <a:rPr lang="ru-RU" sz="900" dirty="0" err="1"/>
              <a:t>техаудит</a:t>
            </a:r>
            <a:r>
              <a:rPr lang="ru-RU" sz="900" dirty="0"/>
              <a:t> и другое</a:t>
            </a:r>
          </a:p>
          <a:p>
            <a:pPr marL="2106000" lvl="2" indent="-228600">
              <a:buFontTx/>
              <a:buAutoNum type="arabicPeriod"/>
            </a:pPr>
            <a:r>
              <a:rPr lang="ru-RU" sz="900" dirty="0"/>
              <a:t>Убедиться в отсутствии пустых не пройденных зон по задачам</a:t>
            </a:r>
            <a:r>
              <a:rPr lang="en-US" sz="900" dirty="0"/>
              <a:t>, </a:t>
            </a:r>
            <a:r>
              <a:rPr lang="ru-RU" sz="900" dirty="0"/>
              <a:t>создаваемых редкими </a:t>
            </a:r>
            <a:r>
              <a:rPr lang="ru-RU" sz="900" dirty="0" err="1"/>
              <a:t>созвонами</a:t>
            </a:r>
            <a:endParaRPr lang="ru-RU" sz="900" dirty="0"/>
          </a:p>
          <a:p>
            <a:pPr marL="1648800" lvl="1" indent="-228600">
              <a:buAutoNum type="arabicPeriod"/>
            </a:pP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2844722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ABB74-E914-4EF7-BF32-B7CED17A27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51336"/>
            <a:ext cx="9144000" cy="1555328"/>
          </a:xfrm>
        </p:spPr>
        <p:txBody>
          <a:bodyPr>
            <a:normAutofit fontScale="90000"/>
          </a:bodyPr>
          <a:lstStyle/>
          <a:p>
            <a:r>
              <a:rPr lang="ru-RU" dirty="0"/>
              <a:t>Как тимлид должен проводить  </a:t>
            </a:r>
            <a:r>
              <a:rPr lang="ru-RU" dirty="0" err="1"/>
              <a:t>созвон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F02F1C7-272E-42A6-B1C0-CC7B6B98BF5B}"/>
              </a:ext>
            </a:extLst>
          </p:cNvPr>
          <p:cNvSpPr txBox="1">
            <a:spLocks/>
          </p:cNvSpPr>
          <p:nvPr/>
        </p:nvSpPr>
        <p:spPr>
          <a:xfrm>
            <a:off x="1592510" y="4095641"/>
            <a:ext cx="9144000" cy="155532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5144B7A-7A4E-45CC-BC72-F32E35C7DA7E}"/>
              </a:ext>
            </a:extLst>
          </p:cNvPr>
          <p:cNvSpPr txBox="1">
            <a:spLocks/>
          </p:cNvSpPr>
          <p:nvPr/>
        </p:nvSpPr>
        <p:spPr>
          <a:xfrm>
            <a:off x="1642845" y="4324938"/>
            <a:ext cx="9144000" cy="186613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648800" lvl="1" indent="-228600">
              <a:buAutoNum type="arabicPeriod"/>
            </a:pPr>
            <a:r>
              <a:rPr lang="ru-RU" sz="900" dirty="0"/>
              <a:t>Предоставить слово </a:t>
            </a:r>
            <a:r>
              <a:rPr lang="en-US" sz="900" dirty="0"/>
              <a:t>SEO-</a:t>
            </a:r>
            <a:r>
              <a:rPr lang="ru-RU" sz="900" dirty="0"/>
              <a:t>специалисту</a:t>
            </a:r>
            <a:r>
              <a:rPr lang="en-US" sz="900" dirty="0"/>
              <a:t>, </a:t>
            </a:r>
            <a:r>
              <a:rPr lang="ru-RU" sz="900" dirty="0"/>
              <a:t>чтобы в первую очередь выслушать и помочь решить вопросы и сложности</a:t>
            </a:r>
            <a:r>
              <a:rPr lang="en-US" sz="900" dirty="0"/>
              <a:t>, </a:t>
            </a:r>
            <a:r>
              <a:rPr lang="ru-RU" sz="900" dirty="0"/>
              <a:t>которые есть у </a:t>
            </a:r>
            <a:r>
              <a:rPr lang="en-US" sz="900" dirty="0"/>
              <a:t>SEO-</a:t>
            </a:r>
            <a:r>
              <a:rPr lang="ru-RU" sz="900" dirty="0"/>
              <a:t>специалиста. </a:t>
            </a:r>
          </a:p>
          <a:p>
            <a:pPr marL="1648800" lvl="1" indent="-228600">
              <a:buAutoNum type="arabicPeriod"/>
            </a:pPr>
            <a:r>
              <a:rPr lang="ru-RU" sz="900" dirty="0"/>
              <a:t>Пройтись по каждому проекту начиная от проекта с ближайшей отчётной датой.</a:t>
            </a:r>
          </a:p>
          <a:p>
            <a:pPr marL="2106000" lvl="2" indent="-228600">
              <a:buAutoNum type="arabicPeriod"/>
            </a:pPr>
            <a:r>
              <a:rPr lang="ru-RU" sz="900" dirty="0"/>
              <a:t>Проверить список задач как таковой (что за задача</a:t>
            </a:r>
            <a:r>
              <a:rPr lang="en-US" sz="900" dirty="0"/>
              <a:t>, </a:t>
            </a:r>
            <a:r>
              <a:rPr lang="ru-RU" sz="900" dirty="0"/>
              <a:t>корректность её приоритетности</a:t>
            </a:r>
            <a:r>
              <a:rPr lang="en-US" sz="900" dirty="0"/>
              <a:t>, </a:t>
            </a:r>
            <a:r>
              <a:rPr lang="ru-RU" sz="900" dirty="0"/>
              <a:t>необходимость дополнительных проверок / задач)</a:t>
            </a:r>
          </a:p>
          <a:p>
            <a:pPr marL="2106000" lvl="2" indent="-228600">
              <a:buAutoNum type="arabicPeriod"/>
            </a:pPr>
            <a:r>
              <a:rPr lang="ru-RU" sz="900" dirty="0"/>
              <a:t>Проверить </a:t>
            </a:r>
            <a:r>
              <a:rPr lang="ru-RU" sz="900" dirty="0" err="1"/>
              <a:t>беклог</a:t>
            </a:r>
            <a:r>
              <a:rPr lang="ru-RU" sz="900" dirty="0"/>
              <a:t> по проекту</a:t>
            </a:r>
            <a:r>
              <a:rPr lang="en-US" sz="900" dirty="0"/>
              <a:t>, </a:t>
            </a:r>
            <a:r>
              <a:rPr lang="ru-RU" sz="900" dirty="0"/>
              <a:t>если редкость </a:t>
            </a:r>
            <a:r>
              <a:rPr lang="ru-RU" sz="900" dirty="0" err="1"/>
              <a:t>созвонов</a:t>
            </a:r>
            <a:r>
              <a:rPr lang="ru-RU" sz="900" dirty="0"/>
              <a:t> создаёт пустые зоны</a:t>
            </a:r>
          </a:p>
          <a:p>
            <a:pPr marL="2106000" lvl="2" indent="-228600">
              <a:buAutoNum type="arabicPeriod"/>
            </a:pPr>
            <a:r>
              <a:rPr lang="ru-RU" sz="900" dirty="0"/>
              <a:t>Уточнить наличие нерешённых вопросов в чате (или проверить самостоятельно</a:t>
            </a:r>
            <a:r>
              <a:rPr lang="en-US" sz="900" dirty="0"/>
              <a:t>, </a:t>
            </a:r>
            <a:r>
              <a:rPr lang="ru-RU" sz="900" dirty="0"/>
              <a:t>если есть сигналы от клиента о проблемах коммуникации)</a:t>
            </a:r>
          </a:p>
          <a:p>
            <a:pPr marL="2106000" lvl="2" indent="-228600">
              <a:buAutoNum type="arabicPeriod"/>
            </a:pPr>
            <a:r>
              <a:rPr lang="ru-RU" sz="900" dirty="0"/>
              <a:t>Проверить наполненность листа долгов. </a:t>
            </a:r>
          </a:p>
          <a:p>
            <a:pPr marL="2106000" lvl="2" indent="-228600">
              <a:buAutoNum type="arabicPeriod"/>
            </a:pPr>
            <a:r>
              <a:rPr lang="ru-RU" sz="900" dirty="0"/>
              <a:t>Проверить задачи</a:t>
            </a:r>
            <a:r>
              <a:rPr lang="en-US" sz="900" dirty="0"/>
              <a:t>, </a:t>
            </a:r>
            <a:r>
              <a:rPr lang="ru-RU" sz="900" dirty="0"/>
              <a:t>высланные клиенту на реализацию и их фиксацию в файле долгов</a:t>
            </a:r>
          </a:p>
          <a:p>
            <a:pPr marL="2106000" lvl="2" indent="-228600">
              <a:buAutoNum type="arabicPeriod"/>
            </a:pPr>
            <a:r>
              <a:rPr lang="ru-RU" sz="900" dirty="0"/>
              <a:t>Проверить динамику семантики</a:t>
            </a:r>
            <a:r>
              <a:rPr lang="en-US" sz="900" dirty="0"/>
              <a:t>, </a:t>
            </a:r>
            <a:r>
              <a:rPr lang="ru-RU" sz="900" dirty="0"/>
              <a:t>её наличие</a:t>
            </a:r>
            <a:r>
              <a:rPr lang="en-US" sz="900" dirty="0"/>
              <a:t>,</a:t>
            </a:r>
            <a:r>
              <a:rPr lang="ru-RU" sz="900" dirty="0"/>
              <a:t> корректности съемов и её качества / полноты в </a:t>
            </a:r>
            <a:r>
              <a:rPr lang="ru-RU" sz="900" dirty="0" err="1"/>
              <a:t>топвизоре</a:t>
            </a:r>
            <a:endParaRPr lang="ru-RU" sz="900" dirty="0"/>
          </a:p>
          <a:p>
            <a:pPr marL="2106000" lvl="2" indent="-228600">
              <a:buAutoNum type="arabicPeriod"/>
            </a:pPr>
            <a:r>
              <a:rPr lang="ru-RU" sz="900" dirty="0"/>
              <a:t>Проверить наличие списка конкурентов в облачном файле и методологии их сбора</a:t>
            </a:r>
          </a:p>
          <a:p>
            <a:pPr marL="2106000" lvl="2" indent="-228600">
              <a:buFontTx/>
              <a:buAutoNum type="arabicPeriod"/>
            </a:pPr>
            <a:r>
              <a:rPr lang="ru-RU" sz="900" dirty="0"/>
              <a:t>Проверить Вебмастера</a:t>
            </a:r>
            <a:r>
              <a:rPr lang="en-US" sz="900" dirty="0"/>
              <a:t>, </a:t>
            </a:r>
            <a:r>
              <a:rPr lang="ru-RU" sz="900" dirty="0"/>
              <a:t>Метрику и </a:t>
            </a:r>
            <a:r>
              <a:rPr lang="ru-RU" sz="900" dirty="0" err="1"/>
              <a:t>Топвизоры</a:t>
            </a:r>
            <a:r>
              <a:rPr lang="ru-RU" sz="900" dirty="0"/>
              <a:t> по проекту. В случае наличия проблем – зафиксировать в </a:t>
            </a:r>
            <a:r>
              <a:rPr lang="ru-RU" sz="900" dirty="0" err="1"/>
              <a:t>беклоге</a:t>
            </a:r>
            <a:r>
              <a:rPr lang="ru-RU" sz="900" dirty="0"/>
              <a:t> (стек)</a:t>
            </a:r>
          </a:p>
          <a:p>
            <a:pPr marL="2106000" lvl="2" indent="-228600">
              <a:buFontTx/>
              <a:buAutoNum type="arabicPeriod"/>
            </a:pPr>
            <a:r>
              <a:rPr lang="ru-RU" sz="900" dirty="0"/>
              <a:t>Проверить общую стратегию по проекту и в случае необходимости корректировок ИЛИ фиксации – занести данные в </a:t>
            </a:r>
            <a:r>
              <a:rPr lang="ru-RU" sz="900" dirty="0" err="1"/>
              <a:t>беклог</a:t>
            </a:r>
            <a:r>
              <a:rPr lang="ru-RU" sz="900" dirty="0"/>
              <a:t> (стек) или в блок стратегических направлений и корректировок</a:t>
            </a:r>
          </a:p>
          <a:p>
            <a:pPr marL="2106000" lvl="2" indent="-228600">
              <a:buAutoNum type="arabicPeriod"/>
            </a:pPr>
            <a:r>
              <a:rPr lang="ru-RU" sz="900" dirty="0"/>
              <a:t>Зафиксировать искажения</a:t>
            </a:r>
            <a:r>
              <a:rPr lang="en-US" sz="900" dirty="0"/>
              <a:t>, </a:t>
            </a:r>
            <a:r>
              <a:rPr lang="ru-RU" sz="900" dirty="0"/>
              <a:t>требующие корректировки или разработки регламента</a:t>
            </a:r>
            <a:r>
              <a:rPr lang="en-US" sz="900" dirty="0"/>
              <a:t>, </a:t>
            </a:r>
            <a:r>
              <a:rPr lang="ru-RU" sz="900" dirty="0"/>
              <a:t>переаттестации или поиска/разработки новых инструментов</a:t>
            </a:r>
          </a:p>
        </p:txBody>
      </p:sp>
    </p:spTree>
    <p:extLst>
      <p:ext uri="{BB962C8B-B14F-4D97-AF65-F5344CB8AC3E}">
        <p14:creationId xmlns:p14="http://schemas.microsoft.com/office/powerpoint/2010/main" val="2676583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1098</Words>
  <Application>Microsoft Office PowerPoint</Application>
  <PresentationFormat>Widescreen</PresentationFormat>
  <Paragraphs>88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Какие проблемы привели к необходимости создания этого регламента и аттестации по нему? </vt:lpstr>
      <vt:lpstr>Какие 3 мета-цели созвонов  SEO-Специалист + Тимлид?</vt:lpstr>
      <vt:lpstr>Какие цели созвонов для заинтересованных лиц?</vt:lpstr>
      <vt:lpstr>Какой итог созвона считается успешным?</vt:lpstr>
      <vt:lpstr>Что входит в зону ответственности SEO-специалиста по файлу планёрок?</vt:lpstr>
      <vt:lpstr>Как SEO-специалист должен подготовиться к созвону?</vt:lpstr>
      <vt:lpstr>Как тимлид должен проводить  созвон?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Какая базовая цель созвонов  SEO-Специалист + Тимлид?</dc:title>
  <dc:creator>Павел Прахов</dc:creator>
  <cp:lastModifiedBy>Павел Прахов</cp:lastModifiedBy>
  <cp:revision>18</cp:revision>
  <dcterms:created xsi:type="dcterms:W3CDTF">2024-03-25T15:00:46Z</dcterms:created>
  <dcterms:modified xsi:type="dcterms:W3CDTF">2024-03-28T08:08:36Z</dcterms:modified>
</cp:coreProperties>
</file>