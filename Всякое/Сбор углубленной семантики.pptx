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CE0FE0-1994-4F03-8879-CC7339149D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AD5B20-CA1F-466F-A0BD-ECCDD563E3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AA5E8-A4AE-4C92-BA66-F9E64977F1F4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48E17-366F-40BF-AB0E-0A353A68F6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9D660-F861-43EE-B293-1E87AA8D22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2FD7E-8A78-41C4-8980-C454256CC2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2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26FCC-5DB5-47E6-8ED3-E1CAE3C9C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7FC55-2309-4F82-A9B0-1E90A0508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1AF7E-5A62-4E72-B198-DF8FD5F6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7C95B-2D47-4C3E-BC28-2FED50DFB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4A4C9-ACC6-43DA-85DD-A791BCFF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366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CAB6-25E9-4C93-88E9-E9A4D501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5DB8A-D69C-43D0-BE75-D7866F81F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E2D2A-7B69-4A3F-B38A-4874C6BC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52BE0-FCCE-4E7A-9417-B63D6739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F7903-43F5-4063-A04C-7325CD71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683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6FB5-1E96-42B0-B0DB-0AD936EB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3E80C-9285-41E3-A652-66B2F3DFF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3DC2C-DAD2-44FB-9E4E-0ABD0891A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2A78E-861B-4B03-BBCC-527B467B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67E29-673C-4DFA-A8EA-0BF4DF7C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48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908B-A245-4EE2-B289-27896F3F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814F-636D-46C8-B662-75300492B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50533-2E61-47E7-8363-31116A825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976E4-D8A3-49FC-9984-2F78613C1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103EA-8D3C-432F-9C9C-5455B810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C456B-919B-4DB1-BC60-E54D96DD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01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3D4E-9C88-4692-AE1E-B8D11E17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DE281-0B41-428D-8FE9-F0B3006C5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7F591-0514-4C8C-A154-D25410E98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4AA25-6ACD-43AF-B9B1-A859016E5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70E46-E1CF-4A8A-B91E-18B7C1359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88F23-1B0E-4A71-9D5C-4DB4E31F3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C90E39-C321-46C5-8B54-C9A7D5EC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2AE772-F788-4CBB-AEF7-662F55EA9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79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8421-C8C4-485D-A093-DA021879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0B4BF-7B66-4124-85F7-C905B23F7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A6958-4F0F-4B5C-834C-48344E92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BA3BE-01F8-4439-B379-1FB2B268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55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C389D-9BF5-4EBD-ADBD-1B5DF418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87D762-1C98-4771-947F-0865B8D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019C0-2736-4A5A-ABC7-44119DD9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8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3AD7-F7C5-4747-835D-B6B414CC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4658-CFEE-4DE5-91DD-B97175A7F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C11E5-72E2-4010-8FC0-CC2C92A82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E8A64-CAD6-49FF-B63C-4BDBF35A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17490-06DD-4A7C-AB1E-A24D41D32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4A268-4224-4D69-8493-DB261589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05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BA439-1561-4350-B099-D2D931E27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13CBA5-3B8D-47F4-901B-444400DCD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5DC85-A8F0-4F55-BB46-E39C1F5DD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C4CB4-8CC2-4BB2-837D-E1595B95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0EE63-136B-4B94-BB84-F06A1380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64D62-1163-4446-B665-B32F432D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460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60CA-671F-4D60-A30A-13FF3C4E2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0C0C1-20FD-44BC-983B-2AEDF9B92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79519-0AA7-464F-80CD-6C6E0AF1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6FD2F-0D60-43AB-AD69-AA3CB9297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D646B-55BA-4A37-9186-B69C6E42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26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CFDA01-2AFC-4482-A0F3-A3F9AF0B6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BBEEE-579D-4D92-9421-D9C1173A8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70762-D31C-425F-8C6E-C5F0AF5F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E68B-3B64-4BC9-BFD0-5953F424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2C397-8B68-4254-995C-DA4C6E22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80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51E5A-88F0-496B-BE02-CB828C8F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53E0B-82AD-4530-9A5A-3C05A33F1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CDFAD-D882-4C50-960C-5AD6D1F18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70238-3BAE-46CF-8EE3-1500797C7E2D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7D6C4-53D2-4AE8-ACFB-109F8E9B1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CA763-562A-4BF3-B54E-2083CCD9F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CD7DF-859C-46CB-BDE5-D800F3695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83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ord-keeper.ru/core/checkword_year" TargetMode="External"/><Relationship Id="rId3" Type="http://schemas.openxmlformats.org/officeDocument/2006/relationships/hyperlink" Target="https://disk.yandex.ru/d/rV7EUXKtdkP7_Q" TargetMode="External"/><Relationship Id="rId7" Type="http://schemas.openxmlformats.org/officeDocument/2006/relationships/hyperlink" Target="https://word-keeper.ru/core/checkword" TargetMode="External"/><Relationship Id="rId12" Type="http://schemas.openxmlformats.org/officeDocument/2006/relationships/hyperlink" Target="https://just-magic.org/serv/temakl.php" TargetMode="External"/><Relationship Id="rId2" Type="http://schemas.openxmlformats.org/officeDocument/2006/relationships/hyperlink" Target="https://www.keys.so/ru/similarkey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isk.yandex.ru/d/HTf7Whhkj-JI-w" TargetMode="External"/><Relationship Id="rId11" Type="http://schemas.openxmlformats.org/officeDocument/2006/relationships/hyperlink" Target="https://ru.megaindex.com/a/wordinfo" TargetMode="External"/><Relationship Id="rId5" Type="http://schemas.openxmlformats.org/officeDocument/2006/relationships/hyperlink" Target="https://word-keeper.ru/core/parseword" TargetMode="External"/><Relationship Id="rId10" Type="http://schemas.openxmlformats.org/officeDocument/2006/relationships/hyperlink" Target="https://word-keeper.ru/core/commerce" TargetMode="External"/><Relationship Id="rId4" Type="http://schemas.openxmlformats.org/officeDocument/2006/relationships/hyperlink" Target="https://arsenkin.ru/tools/wordstat/" TargetMode="External"/><Relationship Id="rId9" Type="http://schemas.openxmlformats.org/officeDocument/2006/relationships/hyperlink" Target="https://arsenkin.ru/tools/commerce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ord-keeper.ru/core/konk" TargetMode="External"/><Relationship Id="rId3" Type="http://schemas.openxmlformats.org/officeDocument/2006/relationships/hyperlink" Target="https://arsenkin.ru/tools/check-top/" TargetMode="External"/><Relationship Id="rId7" Type="http://schemas.openxmlformats.org/officeDocument/2006/relationships/hyperlink" Target="https://word-keeper.ru/core/parsetip" TargetMode="External"/><Relationship Id="rId2" Type="http://schemas.openxmlformats.org/officeDocument/2006/relationships/hyperlink" Target="https://word-keeper.ru/core/chform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senkin.ru/tools/suggest/" TargetMode="External"/><Relationship Id="rId5" Type="http://schemas.openxmlformats.org/officeDocument/2006/relationships/hyperlink" Target="https://word-keeper.ru/core/klaster" TargetMode="External"/><Relationship Id="rId4" Type="http://schemas.openxmlformats.org/officeDocument/2006/relationships/hyperlink" Target="https://arsenkin.ru/tools/clustering/" TargetMode="External"/><Relationship Id="rId9" Type="http://schemas.openxmlformats.org/officeDocument/2006/relationships/hyperlink" Target="https://arsenkin.ru/tools/check-classified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ru-RU" dirty="0"/>
              <a:t>Сбор углубленной семантики</a:t>
            </a:r>
          </a:p>
        </p:txBody>
      </p:sp>
    </p:spTree>
    <p:extLst>
      <p:ext uri="{BB962C8B-B14F-4D97-AF65-F5344CB8AC3E}">
        <p14:creationId xmlns:p14="http://schemas.microsoft.com/office/powerpoint/2010/main" val="132574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9144000" cy="1153953"/>
          </a:xfrm>
        </p:spPr>
        <p:txBody>
          <a:bodyPr anchor="ctr">
            <a:normAutofit/>
          </a:bodyPr>
          <a:lstStyle/>
          <a:p>
            <a:r>
              <a:rPr lang="ru-RU" b="1" dirty="0"/>
              <a:t>Вопросы на аттестацию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1DDB33-853C-46D4-8242-CF76ADA7497B}"/>
              </a:ext>
            </a:extLst>
          </p:cNvPr>
          <p:cNvSpPr txBox="1">
            <a:spLocks/>
          </p:cNvSpPr>
          <p:nvPr/>
        </p:nvSpPr>
        <p:spPr>
          <a:xfrm>
            <a:off x="1668011" y="1915951"/>
            <a:ext cx="9144000" cy="4719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AutoNum type="arabicPeriod"/>
            </a:pPr>
            <a:r>
              <a:rPr lang="ru-RU" sz="2000" b="1" dirty="0"/>
              <a:t>Зачем нам нужна углублённая семантика</a:t>
            </a:r>
            <a:r>
              <a:rPr lang="en-US" sz="2000" b="1" dirty="0"/>
              <a:t>?</a:t>
            </a:r>
          </a:p>
          <a:p>
            <a:pPr marL="457200" indent="-457200" algn="l">
              <a:buFontTx/>
              <a:buAutoNum type="arabicPeriod"/>
            </a:pPr>
            <a:r>
              <a:rPr lang="ru-RU" sz="2000" b="1" dirty="0"/>
              <a:t>Стандартное задание на</a:t>
            </a:r>
            <a:r>
              <a:rPr lang="en-US" sz="2000" b="1" dirty="0"/>
              <a:t> </a:t>
            </a:r>
            <a:r>
              <a:rPr lang="ru-RU" sz="2000" b="1" dirty="0"/>
              <a:t>сбор углублённой семантику включает</a:t>
            </a:r>
            <a:r>
              <a:rPr lang="en-US" sz="2000" b="1" dirty="0"/>
              <a:t>: 1 </a:t>
            </a:r>
            <a:r>
              <a:rPr lang="ru-RU" sz="2000" b="1" dirty="0"/>
              <a:t>страницу</a:t>
            </a:r>
            <a:r>
              <a:rPr lang="en-US" sz="2000" b="1" dirty="0"/>
              <a:t>, </a:t>
            </a:r>
            <a:r>
              <a:rPr lang="ru-RU" sz="2000" b="1" dirty="0"/>
              <a:t>1 раздел или 1 сайт</a:t>
            </a:r>
            <a:r>
              <a:rPr lang="en-US" sz="2000" b="1" dirty="0"/>
              <a:t>?</a:t>
            </a:r>
            <a:r>
              <a:rPr lang="ru-RU" sz="2000" b="1" dirty="0"/>
              <a:t> Почему именно так</a:t>
            </a:r>
            <a:r>
              <a:rPr lang="en-US" sz="2000" b="1" dirty="0"/>
              <a:t>?</a:t>
            </a:r>
            <a:r>
              <a:rPr lang="ru-RU" sz="2000" b="1" dirty="0"/>
              <a:t> Какие особенности у сбора семантики под раздел в отличие от сбора под страницу</a:t>
            </a:r>
            <a:r>
              <a:rPr lang="en-US" sz="2000" b="1" dirty="0"/>
              <a:t>?</a:t>
            </a:r>
            <a:endParaRPr lang="ru-RU" sz="2000" b="1" dirty="0"/>
          </a:p>
          <a:p>
            <a:pPr marL="457200" indent="-457200" algn="l">
              <a:buFontTx/>
              <a:buAutoNum type="arabicPeriod"/>
            </a:pPr>
            <a:r>
              <a:rPr lang="ru-RU" sz="2000" b="1" dirty="0"/>
              <a:t>Что такое </a:t>
            </a:r>
            <a:r>
              <a:rPr lang="ru-RU" sz="2000" b="1" dirty="0" err="1"/>
              <a:t>интент</a:t>
            </a:r>
            <a:r>
              <a:rPr lang="ru-RU" sz="2000" b="1" dirty="0"/>
              <a:t> запроса и почему он важен</a:t>
            </a:r>
            <a:r>
              <a:rPr lang="en-US" sz="2000" b="1" dirty="0"/>
              <a:t>? </a:t>
            </a:r>
            <a:r>
              <a:rPr lang="ru-RU" sz="2000" b="1" dirty="0"/>
              <a:t>На что он влияет</a:t>
            </a:r>
            <a:r>
              <a:rPr lang="en-US" sz="2000" b="1" dirty="0"/>
              <a:t>? </a:t>
            </a:r>
            <a:r>
              <a:rPr lang="ru-RU" sz="2000" b="1" dirty="0"/>
              <a:t>Как его выявить</a:t>
            </a:r>
            <a:r>
              <a:rPr lang="en-US" sz="2000" b="1" dirty="0"/>
              <a:t>? </a:t>
            </a:r>
            <a:r>
              <a:rPr lang="ru-RU" sz="2000" b="1" dirty="0"/>
              <a:t>Почему нужно проверять </a:t>
            </a:r>
            <a:r>
              <a:rPr lang="ru-RU" sz="2000" b="1" dirty="0" err="1"/>
              <a:t>интент</a:t>
            </a:r>
            <a:r>
              <a:rPr lang="ru-RU" sz="2000" b="1" dirty="0"/>
              <a:t> на практике</a:t>
            </a:r>
            <a:r>
              <a:rPr lang="en-US" sz="2000" b="1" dirty="0"/>
              <a:t>?</a:t>
            </a:r>
            <a:endParaRPr lang="ru-RU" sz="2000" b="1" dirty="0"/>
          </a:p>
          <a:p>
            <a:pPr marL="457200" indent="-457200" algn="l">
              <a:buFontTx/>
              <a:buAutoNum type="arabicPeriod"/>
            </a:pPr>
            <a:r>
              <a:rPr lang="ru-RU" sz="2000" b="1" dirty="0"/>
              <a:t>Какие этапы у сбора семантики под страницу</a:t>
            </a:r>
            <a:r>
              <a:rPr lang="en-US" sz="2000" b="1" dirty="0"/>
              <a:t>?</a:t>
            </a:r>
            <a:endParaRPr lang="ru-RU" sz="2000" b="1" dirty="0"/>
          </a:p>
          <a:p>
            <a:pPr marL="457200" indent="-457200" algn="l">
              <a:buAutoNum type="arabicPeriod"/>
            </a:pPr>
            <a:r>
              <a:rPr lang="ru-RU" sz="2000" b="1" dirty="0"/>
              <a:t>Какие инструменты (и блоки в этих инструментах</a:t>
            </a:r>
            <a:r>
              <a:rPr lang="en-US" sz="2000" b="1" dirty="0"/>
              <a:t>)</a:t>
            </a:r>
            <a:r>
              <a:rPr lang="ru-RU" sz="2000" b="1" dirty="0"/>
              <a:t> используются для сбора углублённой семантики</a:t>
            </a:r>
            <a:r>
              <a:rPr lang="en-US" sz="2000" b="1" dirty="0"/>
              <a:t>?</a:t>
            </a:r>
          </a:p>
          <a:p>
            <a:pPr marL="457200" indent="-457200" algn="l">
              <a:buAutoNum type="arabicPeriod"/>
            </a:pPr>
            <a:r>
              <a:rPr lang="ru-RU" sz="2000" b="1" dirty="0"/>
              <a:t>Какие разновидности запросов у Яндекса бывают по периоду и какие у них особенности</a:t>
            </a:r>
            <a:r>
              <a:rPr lang="en-US" sz="2000" b="1" dirty="0"/>
              <a:t>?</a:t>
            </a:r>
            <a:endParaRPr lang="ru-RU" sz="2000" b="1" dirty="0"/>
          </a:p>
          <a:p>
            <a:pPr marL="457200" indent="-457200" algn="l">
              <a:buAutoNum type="arabicPeriod"/>
            </a:pPr>
            <a:r>
              <a:rPr lang="ru-RU" sz="2000" b="1" dirty="0"/>
              <a:t>Какие операторы важны для сбора семантики и что они делают</a:t>
            </a:r>
            <a:r>
              <a:rPr lang="en-US" sz="2000" b="1" dirty="0"/>
              <a:t>?</a:t>
            </a:r>
            <a:endParaRPr lang="ru-RU" sz="2000" b="1" dirty="0"/>
          </a:p>
          <a:p>
            <a:pPr marL="457200" indent="-457200" algn="l">
              <a:buAutoNum type="arabicPeriod"/>
            </a:pPr>
            <a:r>
              <a:rPr lang="ru-RU" sz="2000" b="1" dirty="0"/>
              <a:t>Зачем нужно проверять выдачу (руками/сервисами + как именно) для принятия решения о включении запроса в финальную версию семантики</a:t>
            </a:r>
            <a:r>
              <a:rPr lang="en-US" sz="2000" b="1" dirty="0"/>
              <a:t>?</a:t>
            </a:r>
            <a:endParaRPr lang="ru-RU" sz="2000" b="1" dirty="0"/>
          </a:p>
          <a:p>
            <a:pPr marL="457200" indent="-457200" algn="l">
              <a:buAutoNum type="arabicPeriod"/>
            </a:pPr>
            <a:r>
              <a:rPr lang="ru-RU" sz="2000" b="1" dirty="0"/>
              <a:t>Какую задачу закрывает информация о </a:t>
            </a:r>
            <a:r>
              <a:rPr lang="ru-RU" sz="2000" b="1" dirty="0" err="1"/>
              <a:t>коммерческости</a:t>
            </a:r>
            <a:r>
              <a:rPr lang="ru-RU" sz="2000" b="1" dirty="0"/>
              <a:t> запроса</a:t>
            </a:r>
            <a:r>
              <a:rPr lang="en-US" sz="2000" b="1" dirty="0"/>
              <a:t>? </a:t>
            </a:r>
            <a:r>
              <a:rPr lang="ru-RU" sz="2000" b="1" dirty="0"/>
              <a:t>Как она получается</a:t>
            </a:r>
            <a:r>
              <a:rPr lang="en-US" sz="2000" b="1" dirty="0"/>
              <a:t>? </a:t>
            </a:r>
            <a:r>
              <a:rPr lang="ru-RU" sz="2000" b="1" dirty="0"/>
              <a:t>Почему это не панацея</a:t>
            </a:r>
            <a:r>
              <a:rPr lang="en-US" sz="2000" b="1" dirty="0"/>
              <a:t>?</a:t>
            </a:r>
          </a:p>
          <a:p>
            <a:pPr marL="457200" indent="-457200" algn="l">
              <a:buFontTx/>
              <a:buAutoNum type="arabicPeriod"/>
            </a:pPr>
            <a:r>
              <a:rPr lang="ru-RU" sz="2000" b="1" dirty="0"/>
              <a:t>Есть ли ограничение на количество запросов на страницу</a:t>
            </a:r>
            <a:r>
              <a:rPr lang="en-US" sz="2000" b="1" dirty="0"/>
              <a:t>? </a:t>
            </a:r>
            <a:r>
              <a:rPr lang="ru-RU" sz="2000" b="1" dirty="0"/>
              <a:t>Почему</a:t>
            </a:r>
            <a:r>
              <a:rPr lang="en-US" sz="2000" b="1" dirty="0"/>
              <a:t>?</a:t>
            </a:r>
            <a:endParaRPr lang="ru-RU" sz="2000" b="1" dirty="0"/>
          </a:p>
          <a:p>
            <a:pPr marL="457200" indent="-457200" algn="l">
              <a:buAutoNum type="arabicPeriod"/>
            </a:pPr>
            <a:r>
              <a:rPr lang="ru-RU" sz="2000" b="1" dirty="0"/>
              <a:t>Каким требованиям должен удовлетворять итоговый документ по сбору углубленной семантики для страницы</a:t>
            </a:r>
            <a:r>
              <a:rPr lang="en-US" sz="2000" b="1" dirty="0"/>
              <a:t>?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22544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9144000" cy="1153953"/>
          </a:xfrm>
        </p:spPr>
        <p:txBody>
          <a:bodyPr anchor="ctr">
            <a:normAutofit fontScale="90000"/>
          </a:bodyPr>
          <a:lstStyle/>
          <a:p>
            <a:r>
              <a:rPr lang="ru-RU" sz="6000" b="1" dirty="0"/>
              <a:t>Зачем нам нужна углублённая семантика</a:t>
            </a:r>
            <a:r>
              <a:rPr lang="en-US" sz="6000" b="1" dirty="0"/>
              <a:t>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1DDB33-853C-46D4-8242-CF76ADA7497B}"/>
              </a:ext>
            </a:extLst>
          </p:cNvPr>
          <p:cNvSpPr txBox="1">
            <a:spLocks/>
          </p:cNvSpPr>
          <p:nvPr/>
        </p:nvSpPr>
        <p:spPr>
          <a:xfrm>
            <a:off x="1524000" y="2679583"/>
            <a:ext cx="9144000" cy="2270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/>
              <a:t>Чтобы</a:t>
            </a:r>
            <a:r>
              <a:rPr lang="en-US" sz="2000" dirty="0"/>
              <a:t> </a:t>
            </a:r>
            <a:r>
              <a:rPr lang="ru-RU" sz="2000" dirty="0"/>
              <a:t>мы</a:t>
            </a:r>
            <a:r>
              <a:rPr lang="en-US" sz="2000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Могли полноценно отслеживать</a:t>
            </a:r>
            <a:r>
              <a:rPr lang="en-US" sz="2000" dirty="0"/>
              <a:t> </a:t>
            </a:r>
            <a:r>
              <a:rPr lang="ru-RU" sz="2000" dirty="0"/>
              <a:t>позиции по запросам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Могли правильно определить маркерный запрос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Могли проводить полноценную текстовую оптимизацию страницы под все вариации поисковых запросов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Знали трафиковый потенциал страницы / раздела / сайта</a:t>
            </a:r>
          </a:p>
        </p:txBody>
      </p:sp>
    </p:spTree>
    <p:extLst>
      <p:ext uri="{BB962C8B-B14F-4D97-AF65-F5344CB8AC3E}">
        <p14:creationId xmlns:p14="http://schemas.microsoft.com/office/powerpoint/2010/main" val="15027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511" y="69909"/>
            <a:ext cx="8992999" cy="242302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ru-RU" sz="3600" b="1" dirty="0"/>
              <a:t>Стандартное задание на</a:t>
            </a:r>
            <a:r>
              <a:rPr lang="en-US" sz="3600" b="1" dirty="0"/>
              <a:t> </a:t>
            </a:r>
            <a:r>
              <a:rPr lang="ru-RU" sz="3600" b="1" dirty="0"/>
              <a:t>сбор углублённой семантику включает</a:t>
            </a:r>
            <a:r>
              <a:rPr lang="en-US" sz="3600" b="1" dirty="0"/>
              <a:t>: 1 </a:t>
            </a:r>
            <a:r>
              <a:rPr lang="ru-RU" sz="3600" b="1" dirty="0"/>
              <a:t>страницу</a:t>
            </a:r>
            <a:r>
              <a:rPr lang="en-US" sz="3600" b="1" dirty="0"/>
              <a:t>, </a:t>
            </a:r>
            <a:r>
              <a:rPr lang="ru-RU" sz="3600" b="1" dirty="0"/>
              <a:t>1 раздел или 1 сайт</a:t>
            </a:r>
            <a:r>
              <a:rPr lang="en-US" sz="3600" b="1" dirty="0"/>
              <a:t>?</a:t>
            </a:r>
            <a:r>
              <a:rPr lang="ru-RU" sz="3600" b="1" dirty="0"/>
              <a:t> Почему именно так</a:t>
            </a:r>
            <a:r>
              <a:rPr lang="en-US" sz="3600" b="1" dirty="0"/>
              <a:t>?</a:t>
            </a:r>
            <a:r>
              <a:rPr lang="ru-RU" sz="3600" b="1" dirty="0"/>
              <a:t> Какие особенности у сбора семантики под раздел в отличие от сбора под страницу</a:t>
            </a:r>
            <a:r>
              <a:rPr lang="en-US" sz="3600" b="1" dirty="0"/>
              <a:t>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1DDB33-853C-46D4-8242-CF76ADA7497B}"/>
              </a:ext>
            </a:extLst>
          </p:cNvPr>
          <p:cNvSpPr txBox="1">
            <a:spLocks/>
          </p:cNvSpPr>
          <p:nvPr/>
        </p:nvSpPr>
        <p:spPr>
          <a:xfrm>
            <a:off x="1668011" y="1915951"/>
            <a:ext cx="9144000" cy="4719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AutoNum type="arabicPeriod"/>
            </a:pPr>
            <a:endParaRPr lang="ru-RU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F608B1-304A-4B93-982E-3AD9724FD774}"/>
              </a:ext>
            </a:extLst>
          </p:cNvPr>
          <p:cNvSpPr txBox="1">
            <a:spLocks/>
          </p:cNvSpPr>
          <p:nvPr/>
        </p:nvSpPr>
        <p:spPr>
          <a:xfrm>
            <a:off x="1820411" y="2068351"/>
            <a:ext cx="9144000" cy="4719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/>
              <a:t>Как правило на 1 страницу. Иногда на 1 раздел</a:t>
            </a:r>
            <a:r>
              <a:rPr lang="en-US" sz="2000" dirty="0"/>
              <a:t>, </a:t>
            </a:r>
            <a:r>
              <a:rPr lang="ru-RU" sz="2000" dirty="0"/>
              <a:t>но там возникают свои сложности.</a:t>
            </a:r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Потому что углубленная семантика – это не самый простой процесс даже для одной страницы.   </a:t>
            </a:r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При сборе семантики на средний раздел – количество запросов значительно разрастается и на каждом из этапов (особенно кластеризация + анализ </a:t>
            </a:r>
            <a:r>
              <a:rPr lang="ru-RU" sz="2000" dirty="0" err="1"/>
              <a:t>ТОПа</a:t>
            </a:r>
            <a:r>
              <a:rPr lang="ru-RU" sz="2000" dirty="0"/>
              <a:t>) может экспоненциально возрасти время и сложность</a:t>
            </a:r>
          </a:p>
          <a:p>
            <a:pPr algn="l"/>
            <a:r>
              <a:rPr lang="ru-RU" sz="2000" dirty="0"/>
              <a:t>Если взять большой раздел</a:t>
            </a:r>
            <a:r>
              <a:rPr lang="en-US" sz="2000" dirty="0"/>
              <a:t> </a:t>
            </a:r>
            <a:r>
              <a:rPr lang="ru-RU" sz="2000" dirty="0"/>
              <a:t>сайта и попытаться собрать углублённую семантику по нашему регламенту – задача может стать запредельно сложной и</a:t>
            </a:r>
            <a:r>
              <a:rPr lang="en-US" sz="2000" dirty="0"/>
              <a:t>,</a:t>
            </a:r>
            <a:r>
              <a:rPr lang="ru-RU" sz="2000" dirty="0"/>
              <a:t> таким образом</a:t>
            </a:r>
            <a:r>
              <a:rPr lang="en-US" sz="2000" dirty="0"/>
              <a:t>,</a:t>
            </a:r>
            <a:r>
              <a:rPr lang="ru-RU" sz="2000" dirty="0"/>
              <a:t> невыполнимой. Для таких задач нужны другие методологии с другой точностью</a:t>
            </a:r>
            <a:r>
              <a:rPr lang="en-US" sz="2000" dirty="0"/>
              <a:t>, </a:t>
            </a:r>
            <a:r>
              <a:rPr lang="ru-RU" sz="2000" dirty="0"/>
              <a:t>инструментарием</a:t>
            </a:r>
            <a:r>
              <a:rPr lang="en-US" sz="2000" dirty="0"/>
              <a:t>,</a:t>
            </a:r>
            <a:r>
              <a:rPr lang="ru-RU" sz="2000" dirty="0"/>
              <a:t> последовательностью действий и соответствующими издержками.</a:t>
            </a:r>
          </a:p>
        </p:txBody>
      </p:sp>
    </p:spTree>
    <p:extLst>
      <p:ext uri="{BB962C8B-B14F-4D97-AF65-F5344CB8AC3E}">
        <p14:creationId xmlns:p14="http://schemas.microsoft.com/office/powerpoint/2010/main" val="293520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8660235" cy="1153953"/>
          </a:xfrm>
        </p:spPr>
        <p:txBody>
          <a:bodyPr anchor="ctr">
            <a:noAutofit/>
          </a:bodyPr>
          <a:lstStyle/>
          <a:p>
            <a:pPr algn="l"/>
            <a:r>
              <a:rPr lang="ru-RU" sz="3200" b="1" dirty="0"/>
              <a:t>Что такое </a:t>
            </a:r>
            <a:r>
              <a:rPr lang="ru-RU" sz="3200" b="1" dirty="0" err="1"/>
              <a:t>интент</a:t>
            </a:r>
            <a:r>
              <a:rPr lang="ru-RU" sz="3200" b="1" dirty="0"/>
              <a:t> запроса и почему он важен</a:t>
            </a:r>
            <a:r>
              <a:rPr lang="en-US" sz="3200" b="1" dirty="0"/>
              <a:t>? </a:t>
            </a:r>
            <a:r>
              <a:rPr lang="ru-RU" sz="3200" b="1" dirty="0"/>
              <a:t>На что влияет понимание </a:t>
            </a:r>
            <a:r>
              <a:rPr lang="ru-RU" sz="3200" b="1" dirty="0" err="1"/>
              <a:t>интента</a:t>
            </a:r>
            <a:r>
              <a:rPr lang="en-US" sz="3200" b="1" dirty="0"/>
              <a:t>? </a:t>
            </a:r>
            <a:r>
              <a:rPr lang="ru-RU" sz="3200" b="1" dirty="0"/>
              <a:t>Как его выявить</a:t>
            </a:r>
            <a:r>
              <a:rPr lang="en-US" sz="3200" b="1" dirty="0"/>
              <a:t>? </a:t>
            </a:r>
            <a:r>
              <a:rPr lang="ru-RU" sz="3200" b="1" dirty="0"/>
              <a:t>Почему нужно проверять </a:t>
            </a:r>
            <a:r>
              <a:rPr lang="ru-RU" sz="3200" b="1" dirty="0" err="1"/>
              <a:t>интент</a:t>
            </a:r>
            <a:r>
              <a:rPr lang="ru-RU" sz="3200" b="1" dirty="0"/>
              <a:t> на практике</a:t>
            </a:r>
            <a:r>
              <a:rPr lang="en-US" sz="3200" b="1" dirty="0"/>
              <a:t>?</a:t>
            </a:r>
            <a:endParaRPr lang="ru-RU" sz="32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1DDB33-853C-46D4-8242-CF76ADA7497B}"/>
              </a:ext>
            </a:extLst>
          </p:cNvPr>
          <p:cNvSpPr txBox="1">
            <a:spLocks/>
          </p:cNvSpPr>
          <p:nvPr/>
        </p:nvSpPr>
        <p:spPr>
          <a:xfrm>
            <a:off x="1668011" y="1915951"/>
            <a:ext cx="9144000" cy="47197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 err="1"/>
              <a:t>Интент</a:t>
            </a:r>
            <a:r>
              <a:rPr lang="ru-RU" sz="2000" dirty="0"/>
              <a:t> (от английского </a:t>
            </a:r>
            <a:r>
              <a:rPr lang="en-US" sz="2000" dirty="0"/>
              <a:t>intention – </a:t>
            </a:r>
            <a:r>
              <a:rPr lang="ru-RU" sz="2000" dirty="0"/>
              <a:t>намерение</a:t>
            </a:r>
            <a:r>
              <a:rPr lang="en-US" sz="2000" dirty="0"/>
              <a:t>, </a:t>
            </a:r>
            <a:r>
              <a:rPr lang="ru-RU" sz="2000" dirty="0"/>
              <a:t>цель</a:t>
            </a:r>
            <a:r>
              <a:rPr lang="en-US" sz="2000" dirty="0"/>
              <a:t>, </a:t>
            </a:r>
            <a:r>
              <a:rPr lang="ru-RU" sz="2000" dirty="0"/>
              <a:t>задача) – это то</a:t>
            </a:r>
            <a:r>
              <a:rPr lang="en-US" sz="2000" dirty="0"/>
              <a:t>, </a:t>
            </a:r>
            <a:r>
              <a:rPr lang="ru-RU" sz="2000" dirty="0"/>
              <a:t>что стоит ЗА запросом пользователя. Поскольку поисковые системы не считывают мысли и чувства</a:t>
            </a:r>
            <a:r>
              <a:rPr lang="en-US" sz="2000" dirty="0"/>
              <a:t>, </a:t>
            </a:r>
            <a:r>
              <a:rPr lang="ru-RU" sz="2000" dirty="0"/>
              <a:t>а понимают только текст</a:t>
            </a:r>
            <a:r>
              <a:rPr lang="en-US" sz="2000" dirty="0"/>
              <a:t>, </a:t>
            </a:r>
            <a:r>
              <a:rPr lang="ru-RU" sz="2000" dirty="0"/>
              <a:t>то пользователи не могут напрямую передать своё намерение поисковой системе и </a:t>
            </a:r>
            <a:r>
              <a:rPr lang="ru-RU" sz="2000" b="1" dirty="0"/>
              <a:t>кодируют свой </a:t>
            </a:r>
            <a:r>
              <a:rPr lang="ru-RU" sz="2000" b="1" dirty="0" err="1"/>
              <a:t>интент</a:t>
            </a:r>
            <a:r>
              <a:rPr lang="ru-RU" sz="2000" b="1" dirty="0"/>
              <a:t> в поисковый запрос</a:t>
            </a:r>
          </a:p>
          <a:p>
            <a:pPr algn="l"/>
            <a:endParaRPr lang="ru-RU" sz="2000" b="1" dirty="0"/>
          </a:p>
          <a:p>
            <a:pPr algn="l"/>
            <a:r>
              <a:rPr lang="ru-RU" sz="2000" dirty="0"/>
              <a:t>Понимание </a:t>
            </a:r>
            <a:r>
              <a:rPr lang="ru-RU" sz="2000" dirty="0" err="1"/>
              <a:t>интента</a:t>
            </a:r>
            <a:r>
              <a:rPr lang="ru-RU" sz="2000" dirty="0"/>
              <a:t> влияет на</a:t>
            </a:r>
            <a:r>
              <a:rPr lang="en-US" sz="2000" dirty="0"/>
              <a:t>:</a:t>
            </a:r>
          </a:p>
          <a:p>
            <a:pPr marL="457200" indent="-457200" algn="l">
              <a:buAutoNum type="arabicParenR"/>
            </a:pPr>
            <a:r>
              <a:rPr lang="ru-RU" sz="2000" dirty="0"/>
              <a:t>Решение о включении или исключении поискового запроса в список продвигаемых</a:t>
            </a:r>
          </a:p>
          <a:p>
            <a:pPr marL="457200" indent="-457200" algn="l">
              <a:buAutoNum type="arabicParenR"/>
            </a:pPr>
            <a:r>
              <a:rPr lang="ru-RU" sz="2000" dirty="0"/>
              <a:t>На каких конкурентов нужно ориентироваться при поисковой оптимизации</a:t>
            </a:r>
          </a:p>
          <a:p>
            <a:pPr marL="457200" indent="-457200" algn="l">
              <a:buAutoNum type="arabicParenR"/>
            </a:pPr>
            <a:r>
              <a:rPr lang="ru-RU" sz="2000" dirty="0"/>
              <a:t>Какой должна быть наша страница</a:t>
            </a:r>
            <a:r>
              <a:rPr lang="en-US" sz="2000" dirty="0"/>
              <a:t>, </a:t>
            </a:r>
            <a:r>
              <a:rPr lang="ru-RU" sz="2000" dirty="0"/>
              <a:t>чтобы </a:t>
            </a:r>
            <a:r>
              <a:rPr lang="ru-RU" sz="2000" b="1" dirty="0"/>
              <a:t>удовлетворить </a:t>
            </a:r>
            <a:r>
              <a:rPr lang="ru-RU" sz="2000" b="1" dirty="0" err="1"/>
              <a:t>интент</a:t>
            </a:r>
            <a:r>
              <a:rPr lang="ru-RU" sz="2000" b="1" dirty="0"/>
              <a:t>                            </a:t>
            </a:r>
            <a:r>
              <a:rPr lang="ru-RU" sz="2000" dirty="0"/>
              <a:t>(или более поверхностно </a:t>
            </a:r>
            <a:r>
              <a:rPr lang="en-US" sz="2000" dirty="0"/>
              <a:t>“</a:t>
            </a:r>
            <a:r>
              <a:rPr lang="ru-RU" sz="2000" dirty="0"/>
              <a:t>отвечающая на запрос пользователя</a:t>
            </a:r>
            <a:r>
              <a:rPr lang="en-US" sz="2000" dirty="0"/>
              <a:t>”)</a:t>
            </a:r>
            <a:endParaRPr lang="ru-RU" sz="2000" dirty="0"/>
          </a:p>
          <a:p>
            <a:pPr marL="457200" indent="-457200" algn="l">
              <a:buAutoNum type="arabicParenR"/>
            </a:pPr>
            <a:endParaRPr lang="ru-RU" sz="2000" dirty="0"/>
          </a:p>
          <a:p>
            <a:pPr algn="l"/>
            <a:r>
              <a:rPr lang="ru-RU" sz="2000" dirty="0" err="1"/>
              <a:t>Интент</a:t>
            </a:r>
            <a:r>
              <a:rPr lang="ru-RU" sz="2000" dirty="0"/>
              <a:t> выявляется посредством анализа выдачи поисковой системы </a:t>
            </a:r>
            <a:r>
              <a:rPr lang="ru-RU" sz="2000" b="1" dirty="0"/>
              <a:t>через сбор </a:t>
            </a:r>
            <a:r>
              <a:rPr lang="ru-RU" sz="2000" b="1" dirty="0" err="1"/>
              <a:t>ТОПа</a:t>
            </a:r>
            <a:r>
              <a:rPr lang="en-US" sz="2000" b="1" dirty="0"/>
              <a:t> </a:t>
            </a:r>
            <a:r>
              <a:rPr lang="ru-RU" sz="2000" b="1" dirty="0"/>
              <a:t>сервисами или руками через режим инкогнито</a:t>
            </a:r>
          </a:p>
          <a:p>
            <a:pPr algn="l"/>
            <a:endParaRPr lang="ru-RU" sz="2000" b="1" dirty="0"/>
          </a:p>
          <a:p>
            <a:pPr algn="l"/>
            <a:r>
              <a:rPr lang="ru-RU" sz="2000" dirty="0"/>
              <a:t>Без проверки </a:t>
            </a:r>
            <a:r>
              <a:rPr lang="ru-RU" sz="2000" dirty="0" err="1"/>
              <a:t>интента</a:t>
            </a:r>
            <a:r>
              <a:rPr lang="ru-RU" sz="2000" dirty="0"/>
              <a:t> можно накосячить по запросу в каждом из 3 пунктов выше  </a:t>
            </a:r>
            <a:endParaRPr lang="en-US" sz="2000" dirty="0"/>
          </a:p>
          <a:p>
            <a:pPr algn="l"/>
            <a:endParaRPr lang="en-US" sz="2000" dirty="0"/>
          </a:p>
          <a:p>
            <a:pPr algn="l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2474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9144000" cy="1153953"/>
          </a:xfrm>
        </p:spPr>
        <p:txBody>
          <a:bodyPr anchor="ctr">
            <a:normAutofit fontScale="90000"/>
          </a:bodyPr>
          <a:lstStyle/>
          <a:p>
            <a:r>
              <a:rPr lang="ru-RU" b="1" dirty="0"/>
              <a:t>Какие этапы у сбора семантики под страницу</a:t>
            </a:r>
            <a:r>
              <a:rPr lang="en-US" b="1" dirty="0"/>
              <a:t>?</a:t>
            </a:r>
            <a:endParaRPr lang="ru-RU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F350AD-5804-4558-93C3-341D4D7BE811}"/>
              </a:ext>
            </a:extLst>
          </p:cNvPr>
          <p:cNvSpPr txBox="1">
            <a:spLocks/>
          </p:cNvSpPr>
          <p:nvPr/>
        </p:nvSpPr>
        <p:spPr>
          <a:xfrm>
            <a:off x="1626066" y="1823672"/>
            <a:ext cx="9144000" cy="4719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b="1" dirty="0"/>
              <a:t>Базовая последовательность действий</a:t>
            </a:r>
          </a:p>
          <a:p>
            <a:pPr marL="457200" indent="-457200" algn="l">
              <a:buAutoNum type="arabicPeriod"/>
            </a:pPr>
            <a:r>
              <a:rPr lang="ru-RU" sz="2000" dirty="0"/>
              <a:t>Определение </a:t>
            </a:r>
            <a:r>
              <a:rPr lang="ru-RU" sz="2000" dirty="0" err="1"/>
              <a:t>интента</a:t>
            </a:r>
            <a:r>
              <a:rPr lang="ru-RU" sz="2000" dirty="0"/>
              <a:t> или </a:t>
            </a:r>
            <a:r>
              <a:rPr lang="ru-RU" sz="2000" dirty="0" err="1"/>
              <a:t>интентов</a:t>
            </a:r>
            <a:r>
              <a:rPr lang="en-US" sz="2000" dirty="0"/>
              <a:t>, </a:t>
            </a:r>
            <a:r>
              <a:rPr lang="ru-RU" sz="2000" dirty="0"/>
              <a:t>под которые происходит поиск запросов</a:t>
            </a:r>
          </a:p>
          <a:p>
            <a:pPr marL="457200" indent="-457200" algn="l">
              <a:buAutoNum type="arabicPeriod"/>
            </a:pPr>
            <a:r>
              <a:rPr lang="ru-RU" sz="2000" dirty="0"/>
              <a:t>Выявление </a:t>
            </a:r>
            <a:r>
              <a:rPr lang="ru-RU" sz="2000" b="1" dirty="0"/>
              <a:t>разновидностей</a:t>
            </a:r>
            <a:r>
              <a:rPr lang="ru-RU" sz="2000" dirty="0"/>
              <a:t> поисковых запросов</a:t>
            </a:r>
            <a:r>
              <a:rPr lang="en-US" sz="2000" dirty="0"/>
              <a:t>, </a:t>
            </a:r>
            <a:r>
              <a:rPr lang="ru-RU" sz="2000" dirty="0"/>
              <a:t>включающих </a:t>
            </a:r>
            <a:r>
              <a:rPr lang="ru-RU" sz="2000" b="1" dirty="0"/>
              <a:t>разные слова</a:t>
            </a:r>
          </a:p>
          <a:p>
            <a:pPr marL="457200" indent="-457200" algn="l">
              <a:buAutoNum type="arabicPeriod"/>
            </a:pPr>
            <a:r>
              <a:rPr lang="ru-RU" sz="2000" dirty="0" err="1"/>
              <a:t>Парсинг</a:t>
            </a:r>
            <a:r>
              <a:rPr lang="ru-RU" sz="2000" dirty="0"/>
              <a:t> запросов </a:t>
            </a:r>
            <a:r>
              <a:rPr lang="ru-RU" sz="2000" b="1" dirty="0"/>
              <a:t>по всем вариациям подходящих разновидностей</a:t>
            </a:r>
          </a:p>
          <a:p>
            <a:pPr marL="457200" indent="-457200" algn="l">
              <a:buAutoNum type="arabicPeriod"/>
            </a:pPr>
            <a:r>
              <a:rPr lang="ru-RU" sz="2000" dirty="0" err="1"/>
              <a:t>Парсинг</a:t>
            </a:r>
            <a:r>
              <a:rPr lang="ru-RU" sz="2000" dirty="0"/>
              <a:t> данных о запросах</a:t>
            </a:r>
          </a:p>
          <a:p>
            <a:pPr marL="457200" indent="-457200" algn="l">
              <a:buAutoNum type="arabicPeriod"/>
            </a:pPr>
            <a:r>
              <a:rPr lang="ru-RU" sz="2000" dirty="0"/>
              <a:t>Обработка и фильтрация запросов (по </a:t>
            </a:r>
            <a:r>
              <a:rPr lang="ru-RU" sz="2000" b="1" dirty="0"/>
              <a:t>множеству</a:t>
            </a:r>
            <a:r>
              <a:rPr lang="ru-RU" sz="2000" dirty="0"/>
              <a:t> критериев)*</a:t>
            </a:r>
          </a:p>
          <a:p>
            <a:pPr marL="457200" indent="-457200" algn="l">
              <a:buAutoNum type="arabicPeriod"/>
            </a:pPr>
            <a:r>
              <a:rPr lang="ru-RU" sz="2000" dirty="0"/>
              <a:t>Проверка группировки запросов*</a:t>
            </a:r>
          </a:p>
          <a:p>
            <a:pPr marL="457200" indent="-457200" algn="l">
              <a:buAutoNum type="arabicPeriod"/>
            </a:pPr>
            <a:r>
              <a:rPr lang="ru-RU" sz="2000" dirty="0"/>
              <a:t>Оформление результата</a:t>
            </a:r>
          </a:p>
          <a:p>
            <a:pPr algn="l"/>
            <a:endParaRPr lang="ru-RU" sz="2000" dirty="0"/>
          </a:p>
          <a:p>
            <a:pPr algn="l"/>
            <a:r>
              <a:rPr lang="ru-RU" sz="2000" b="1" dirty="0"/>
              <a:t>Расширения действий</a:t>
            </a:r>
          </a:p>
          <a:p>
            <a:pPr algn="l"/>
            <a:r>
              <a:rPr lang="ru-RU" sz="2000" dirty="0"/>
              <a:t>Если запросов нужно больше (их мало/для ПФ</a:t>
            </a:r>
            <a:r>
              <a:rPr lang="en-US" sz="2000" dirty="0"/>
              <a:t>, </a:t>
            </a:r>
            <a:r>
              <a:rPr lang="ru-RU" sz="2000" dirty="0"/>
              <a:t>для выжимки трафика по НЧ)</a:t>
            </a:r>
          </a:p>
          <a:p>
            <a:pPr algn="l"/>
            <a:r>
              <a:rPr lang="ru-RU" sz="2000" dirty="0"/>
              <a:t>После проверки группировки запросов необходимо выполнить </a:t>
            </a:r>
            <a:r>
              <a:rPr lang="ru-RU" sz="2000" b="1" dirty="0" err="1"/>
              <a:t>парсинг</a:t>
            </a:r>
            <a:r>
              <a:rPr lang="ru-RU" sz="2000" b="1" dirty="0"/>
              <a:t> подсказок </a:t>
            </a:r>
            <a:r>
              <a:rPr lang="ru-RU" sz="2000" dirty="0"/>
              <a:t>и добавив их в общий итог</a:t>
            </a:r>
            <a:r>
              <a:rPr lang="en-US" sz="2000" dirty="0"/>
              <a:t>,</a:t>
            </a:r>
            <a:r>
              <a:rPr lang="ru-RU" sz="2000" dirty="0"/>
              <a:t> выполнить шаги </a:t>
            </a:r>
            <a:r>
              <a:rPr lang="ru-RU" sz="2000" b="1" dirty="0"/>
              <a:t>с 4 по 7 ещё раз</a:t>
            </a:r>
            <a:r>
              <a:rPr lang="en-US" sz="2000" b="1" dirty="0"/>
              <a:t> </a:t>
            </a:r>
            <a:r>
              <a:rPr lang="ru-RU" sz="2000" b="1" dirty="0"/>
              <a:t>на увеличенном подсказками наборе запросов</a:t>
            </a:r>
          </a:p>
          <a:p>
            <a:pPr algn="l"/>
            <a:endParaRPr lang="ru-RU" sz="2000" b="1" dirty="0"/>
          </a:p>
          <a:p>
            <a:pPr algn="l"/>
            <a:r>
              <a:rPr lang="ru-RU" sz="2000" b="1" dirty="0"/>
              <a:t>*</a:t>
            </a:r>
            <a:r>
              <a:rPr lang="ru-RU" sz="2000" dirty="0"/>
              <a:t>Иногда группировка используется дважды. </a:t>
            </a:r>
          </a:p>
          <a:p>
            <a:pPr algn="l"/>
            <a:r>
              <a:rPr lang="ru-RU" sz="2000" dirty="0"/>
              <a:t>В первый раз – в процессе обработки и фильтрации запросов для упрощения отсева неподходящих запросов блоками. </a:t>
            </a:r>
          </a:p>
          <a:p>
            <a:pPr algn="l"/>
            <a:r>
              <a:rPr lang="ru-RU" sz="2000" dirty="0"/>
              <a:t>Во второй раз</a:t>
            </a:r>
            <a:r>
              <a:rPr lang="en-US" sz="2000" dirty="0"/>
              <a:t>, </a:t>
            </a:r>
            <a:r>
              <a:rPr lang="ru-RU" sz="2000" dirty="0"/>
              <a:t>чтобы в итоге собрать все подходящие запросы на 1 страницу.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55292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9144000" cy="1153953"/>
          </a:xfrm>
        </p:spPr>
        <p:txBody>
          <a:bodyPr anchor="ctr">
            <a:noAutofit/>
          </a:bodyPr>
          <a:lstStyle/>
          <a:p>
            <a:pPr algn="l"/>
            <a:r>
              <a:rPr lang="ru-RU" sz="4000" b="1" dirty="0"/>
              <a:t>Какие инструменты используются для сбора углублённой семантики</a:t>
            </a:r>
            <a:r>
              <a:rPr lang="en-US" sz="4000" b="1" dirty="0"/>
              <a:t>? </a:t>
            </a:r>
            <a:r>
              <a:rPr lang="ru-RU" sz="4000" b="1" dirty="0"/>
              <a:t>Часть 1</a:t>
            </a:r>
            <a:endParaRPr lang="en-US" sz="40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F350AD-5804-4558-93C3-341D4D7BE811}"/>
              </a:ext>
            </a:extLst>
          </p:cNvPr>
          <p:cNvSpPr txBox="1">
            <a:spLocks/>
          </p:cNvSpPr>
          <p:nvPr/>
        </p:nvSpPr>
        <p:spPr>
          <a:xfrm>
            <a:off x="1626066" y="1823672"/>
            <a:ext cx="8843395" cy="47197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100" dirty="0"/>
              <a:t>Списки используются в порядке убывания частоты/качества/</a:t>
            </a:r>
            <a:r>
              <a:rPr lang="ru-RU" sz="1100" dirty="0" err="1"/>
              <a:t>рекомендуемости</a:t>
            </a:r>
            <a:r>
              <a:rPr lang="ru-RU" sz="1100" dirty="0"/>
              <a:t> использования</a:t>
            </a:r>
            <a:r>
              <a:rPr lang="en-US" sz="1100" dirty="0"/>
              <a:t>, </a:t>
            </a:r>
            <a:r>
              <a:rPr lang="ru-RU" sz="1100" b="1" dirty="0"/>
              <a:t>рекомендуя</a:t>
            </a:r>
            <a:r>
              <a:rPr lang="ru-RU" sz="1100" dirty="0"/>
              <a:t> </a:t>
            </a:r>
            <a:r>
              <a:rPr lang="ru-RU" sz="1100" b="1" dirty="0"/>
              <a:t>комбинацию</a:t>
            </a:r>
            <a:r>
              <a:rPr lang="ru-RU" sz="1100" dirty="0"/>
              <a:t> разных способов</a:t>
            </a:r>
            <a:r>
              <a:rPr lang="en-US" sz="1100" dirty="0"/>
              <a:t>, </a:t>
            </a:r>
            <a:r>
              <a:rPr lang="ru-RU" sz="1100" dirty="0"/>
              <a:t>где это необходимо</a:t>
            </a:r>
          </a:p>
          <a:p>
            <a:pPr algn="l"/>
            <a:endParaRPr lang="ru-RU" sz="1400" b="1" dirty="0"/>
          </a:p>
          <a:p>
            <a:pPr algn="l"/>
            <a:r>
              <a:rPr lang="ru-RU" sz="1600" b="1" dirty="0"/>
              <a:t>Определение </a:t>
            </a:r>
            <a:r>
              <a:rPr lang="ru-RU" sz="1600" b="1" dirty="0" err="1"/>
              <a:t>интента</a:t>
            </a:r>
            <a:r>
              <a:rPr lang="ru-RU" sz="1600" b="1" dirty="0"/>
              <a:t> или </a:t>
            </a:r>
            <a:r>
              <a:rPr lang="ru-RU" sz="1600" b="1" dirty="0" err="1"/>
              <a:t>интентов</a:t>
            </a:r>
            <a:r>
              <a:rPr lang="en-US" sz="1600" b="1" dirty="0"/>
              <a:t>, </a:t>
            </a:r>
            <a:r>
              <a:rPr lang="ru-RU" sz="1600" b="1" dirty="0"/>
              <a:t>под которые происходит поиск запросов</a:t>
            </a:r>
          </a:p>
          <a:p>
            <a:pPr algn="l"/>
            <a:r>
              <a:rPr lang="ru-RU" sz="1400" dirty="0"/>
              <a:t>Глаза и мозги</a:t>
            </a:r>
          </a:p>
          <a:p>
            <a:pPr algn="l"/>
            <a:endParaRPr lang="ru-RU" sz="1400" dirty="0"/>
          </a:p>
          <a:p>
            <a:pPr algn="l"/>
            <a:r>
              <a:rPr lang="ru-RU" sz="1600" b="1" dirty="0"/>
              <a:t>Выявление разновидностей поисковых запросов</a:t>
            </a:r>
            <a:r>
              <a:rPr lang="en-US" sz="1600" b="1" dirty="0"/>
              <a:t>, </a:t>
            </a:r>
            <a:r>
              <a:rPr lang="ru-RU" sz="1600" b="1" dirty="0"/>
              <a:t>включающих разные слова</a:t>
            </a:r>
          </a:p>
          <a:p>
            <a:pPr marL="457200" indent="-457200" algn="l">
              <a:buAutoNum type="arabicPeriod"/>
            </a:pPr>
            <a:r>
              <a:rPr lang="ru-RU" sz="1400" b="1" dirty="0"/>
              <a:t>Подбор дополнительных запросов через основной в </a:t>
            </a:r>
            <a:r>
              <a:rPr lang="ru-RU" sz="1400" b="1" dirty="0" err="1"/>
              <a:t>Яндекс.Вебмастере</a:t>
            </a:r>
            <a:endParaRPr lang="ru-RU" sz="1400" b="1" dirty="0"/>
          </a:p>
          <a:p>
            <a:pPr marL="457200" indent="-457200" algn="l">
              <a:buAutoNum type="arabicPeriod"/>
            </a:pPr>
            <a:r>
              <a:rPr lang="ru-RU" sz="1400" b="1" dirty="0"/>
              <a:t>Дополняющие слова </a:t>
            </a:r>
            <a:r>
              <a:rPr lang="en-US" sz="1400" b="1" dirty="0" err="1"/>
              <a:t>Keys.So</a:t>
            </a:r>
            <a:r>
              <a:rPr lang="ru-RU" sz="1400" b="1" dirty="0"/>
              <a:t> через основной</a:t>
            </a:r>
            <a:r>
              <a:rPr lang="en-US" sz="1400" b="1" dirty="0"/>
              <a:t> - </a:t>
            </a:r>
            <a:r>
              <a:rPr lang="en-US" sz="1400" b="1" dirty="0">
                <a:hlinkClick r:id="rId2"/>
              </a:rPr>
              <a:t>https://www.keys.so/ru/similarkeys</a:t>
            </a:r>
            <a:r>
              <a:rPr lang="en-US" sz="1400" b="1" dirty="0"/>
              <a:t> </a:t>
            </a:r>
            <a:endParaRPr lang="ru-RU" sz="1400" b="1" dirty="0"/>
          </a:p>
          <a:p>
            <a:pPr marL="457200" indent="-457200" algn="l">
              <a:buFontTx/>
              <a:buAutoNum type="arabicPeriod"/>
            </a:pPr>
            <a:r>
              <a:rPr lang="ru-RU" sz="1400" b="1" dirty="0"/>
              <a:t>Мутаген (Расширение семантического ядра по основному запросу)</a:t>
            </a:r>
          </a:p>
          <a:p>
            <a:pPr marL="457200" indent="-457200" algn="l">
              <a:buFontTx/>
              <a:buAutoNum type="arabicPeriod"/>
            </a:pPr>
            <a:r>
              <a:rPr lang="ru-RU" sz="1400" dirty="0" err="1"/>
              <a:t>Я.Метрика</a:t>
            </a:r>
            <a:r>
              <a:rPr lang="ru-RU" sz="1400" dirty="0"/>
              <a:t> </a:t>
            </a:r>
            <a:r>
              <a:rPr lang="en-US" sz="1400" dirty="0"/>
              <a:t>– </a:t>
            </a:r>
            <a:r>
              <a:rPr lang="ru-RU" sz="1400" dirty="0"/>
              <a:t>запросы скопом</a:t>
            </a:r>
            <a:r>
              <a:rPr lang="en-US" sz="1400" dirty="0"/>
              <a:t>/</a:t>
            </a:r>
            <a:r>
              <a:rPr lang="ru-RU" sz="1400" dirty="0"/>
              <a:t>на </a:t>
            </a:r>
            <a:r>
              <a:rPr lang="en-US" sz="1400" dirty="0"/>
              <a:t>URL</a:t>
            </a:r>
          </a:p>
          <a:p>
            <a:pPr marL="457200" indent="-457200" algn="l">
              <a:buFontTx/>
              <a:buAutoNum type="arabicPeriod"/>
            </a:pPr>
            <a:r>
              <a:rPr lang="ru-RU" sz="1400" dirty="0" err="1"/>
              <a:t>Яндекс.Вебмастер</a:t>
            </a:r>
            <a:r>
              <a:rPr lang="ru-RU" sz="1400" dirty="0"/>
              <a:t> – запросы скопом</a:t>
            </a:r>
          </a:p>
          <a:p>
            <a:pPr marL="457200" indent="-457200" algn="l">
              <a:buAutoNum type="arabicPeriod"/>
            </a:pPr>
            <a:r>
              <a:rPr lang="ru-RU" sz="1400" dirty="0"/>
              <a:t>Анализ данных топ-10 подходящих </a:t>
            </a:r>
            <a:r>
              <a:rPr lang="en-US" sz="1400" dirty="0"/>
              <a:t>URL </a:t>
            </a:r>
            <a:r>
              <a:rPr lang="ru-RU" sz="1400" dirty="0"/>
              <a:t>конкурентов в </a:t>
            </a:r>
            <a:r>
              <a:rPr lang="en-US" sz="1400" dirty="0" err="1"/>
              <a:t>Keys.So</a:t>
            </a:r>
            <a:endParaRPr lang="en-US" sz="1400" dirty="0"/>
          </a:p>
          <a:p>
            <a:pPr marL="457200" indent="-457200" algn="l">
              <a:buAutoNum type="arabicPeriod"/>
            </a:pPr>
            <a:r>
              <a:rPr lang="ru-RU" sz="1400" dirty="0"/>
              <a:t>Правая колонка </a:t>
            </a:r>
            <a:r>
              <a:rPr lang="ru-RU" sz="1400" dirty="0" err="1"/>
              <a:t>Яндекс.Вордстат</a:t>
            </a:r>
            <a:endParaRPr lang="ru-RU" sz="1400" dirty="0"/>
          </a:p>
          <a:p>
            <a:pPr algn="l"/>
            <a:endParaRPr lang="en-US" sz="1400" dirty="0"/>
          </a:p>
          <a:p>
            <a:pPr algn="l"/>
            <a:r>
              <a:rPr lang="ru-RU" sz="1600" b="1" dirty="0" err="1"/>
              <a:t>Парсинг</a:t>
            </a:r>
            <a:r>
              <a:rPr lang="ru-RU" sz="1600" b="1" dirty="0"/>
              <a:t> запросов по всем вариациям подходящих разновидностей</a:t>
            </a:r>
          </a:p>
          <a:p>
            <a:pPr marL="342900" indent="-342900" algn="l">
              <a:buAutoNum type="arabicPeriod"/>
            </a:pPr>
            <a:r>
              <a:rPr lang="ru-RU" sz="1400" b="1" dirty="0"/>
              <a:t>Лесенка (</a:t>
            </a:r>
            <a:r>
              <a:rPr lang="ru-RU" sz="1400" b="1" dirty="0">
                <a:hlinkClick r:id="rId3"/>
              </a:rPr>
              <a:t>Макрос </a:t>
            </a:r>
            <a:r>
              <a:rPr lang="en-US" sz="1400" b="1" dirty="0">
                <a:hlinkClick r:id="rId3"/>
              </a:rPr>
              <a:t>Excel</a:t>
            </a:r>
            <a:r>
              <a:rPr lang="en-US" sz="1400" b="1" dirty="0"/>
              <a:t>)</a:t>
            </a:r>
            <a:endParaRPr lang="ru-RU" sz="1400" b="1" dirty="0"/>
          </a:p>
          <a:p>
            <a:pPr marL="342900" indent="-342900" algn="l">
              <a:buAutoNum type="arabicPeriod"/>
            </a:pPr>
            <a:r>
              <a:rPr lang="ru-RU" sz="1400" b="1" dirty="0" err="1"/>
              <a:t>Арсенкин</a:t>
            </a:r>
            <a:r>
              <a:rPr lang="ru-RU" sz="1400" b="1" dirty="0"/>
              <a:t> - </a:t>
            </a:r>
            <a:r>
              <a:rPr lang="af-ZA" sz="1400" b="1" dirty="0">
                <a:hlinkClick r:id="rId4"/>
              </a:rPr>
              <a:t>https://arsenkin.ru/tools/wordstat/</a:t>
            </a:r>
            <a:endParaRPr lang="ru-RU" sz="1400" b="1" dirty="0"/>
          </a:p>
          <a:p>
            <a:pPr marL="342900" indent="-342900" algn="l">
              <a:buAutoNum type="arabicPeriod"/>
            </a:pPr>
            <a:r>
              <a:rPr lang="en-US" sz="1400" b="1" dirty="0"/>
              <a:t>Word-keeper -  </a:t>
            </a:r>
            <a:r>
              <a:rPr lang="en-US" sz="1400" b="1" dirty="0">
                <a:hlinkClick r:id="rId5"/>
              </a:rPr>
              <a:t>https://word-keeper.ru/core/parseword</a:t>
            </a:r>
            <a:r>
              <a:rPr lang="en-US" sz="1400" b="1" dirty="0"/>
              <a:t> </a:t>
            </a:r>
            <a:endParaRPr lang="ru-RU" sz="1400" b="1" dirty="0"/>
          </a:p>
          <a:p>
            <a:pPr marL="342900" indent="-342900" algn="l">
              <a:buAutoNum type="arabicPeriod"/>
            </a:pPr>
            <a:r>
              <a:rPr lang="ru-RU" sz="1400" dirty="0" err="1"/>
              <a:t>Я.Метрика</a:t>
            </a:r>
            <a:r>
              <a:rPr lang="ru-RU" sz="1400" dirty="0"/>
              <a:t> – запросы скопом/на </a:t>
            </a:r>
            <a:r>
              <a:rPr lang="en-US" sz="1400" dirty="0"/>
              <a:t>URL</a:t>
            </a:r>
            <a:endParaRPr lang="ru-RU" sz="1400" dirty="0"/>
          </a:p>
          <a:p>
            <a:pPr marL="342900" indent="-342900" algn="l">
              <a:buAutoNum type="arabicPeriod"/>
            </a:pPr>
            <a:r>
              <a:rPr lang="ru-RU" sz="1400" dirty="0" err="1"/>
              <a:t>Яндекс.Вебмастер</a:t>
            </a:r>
            <a:r>
              <a:rPr lang="ru-RU" sz="1400" dirty="0"/>
              <a:t> – запросы скопом</a:t>
            </a:r>
            <a:endParaRPr lang="en-US" sz="1400" dirty="0"/>
          </a:p>
          <a:p>
            <a:pPr marL="342900" indent="-342900" algn="l">
              <a:buAutoNum type="arabicPeriod"/>
            </a:pPr>
            <a:r>
              <a:rPr lang="ru-RU" sz="1400" dirty="0"/>
              <a:t>Выгрузка из </a:t>
            </a:r>
            <a:r>
              <a:rPr lang="en-US" sz="1400" dirty="0" err="1"/>
              <a:t>Keys.So</a:t>
            </a:r>
            <a:r>
              <a:rPr lang="en-US" sz="1400" dirty="0"/>
              <a:t> </a:t>
            </a:r>
            <a:r>
              <a:rPr lang="ru-RU" sz="1400" dirty="0"/>
              <a:t>конкурентов </a:t>
            </a:r>
            <a:r>
              <a:rPr lang="ru-RU" sz="1400" b="1" dirty="0"/>
              <a:t>и себя</a:t>
            </a:r>
            <a:r>
              <a:rPr lang="en-US" sz="1400" dirty="0"/>
              <a:t> </a:t>
            </a:r>
            <a:r>
              <a:rPr lang="ru-RU" sz="1400" dirty="0"/>
              <a:t>(не совсем </a:t>
            </a:r>
            <a:r>
              <a:rPr lang="ru-RU" sz="1400" dirty="0" err="1"/>
              <a:t>парсинг</a:t>
            </a:r>
            <a:r>
              <a:rPr lang="en-US" sz="1400" dirty="0"/>
              <a:t>, </a:t>
            </a:r>
            <a:r>
              <a:rPr lang="ru-RU" sz="1400" dirty="0"/>
              <a:t>но запросы вытаскивает) </a:t>
            </a:r>
            <a:r>
              <a:rPr lang="ru-RU" sz="1400" dirty="0">
                <a:hlinkClick r:id="rId6"/>
              </a:rPr>
              <a:t>с макросом</a:t>
            </a:r>
            <a:endParaRPr lang="ru-RU" sz="1400" dirty="0"/>
          </a:p>
          <a:p>
            <a:pPr marL="342900" indent="-342900" algn="l">
              <a:buFontTx/>
              <a:buAutoNum type="arabicPeriod"/>
            </a:pPr>
            <a:r>
              <a:rPr lang="en-US" sz="1400" dirty="0" err="1"/>
              <a:t>KeyCollector</a:t>
            </a:r>
            <a:r>
              <a:rPr lang="ru-RU" sz="1400" dirty="0"/>
              <a:t> (не рекомендуется)</a:t>
            </a:r>
            <a:r>
              <a:rPr lang="en-US" sz="1400" b="1" dirty="0"/>
              <a:t> </a:t>
            </a:r>
            <a:r>
              <a:rPr lang="en-US" sz="1400" dirty="0"/>
              <a:t>(</a:t>
            </a:r>
            <a:r>
              <a:rPr lang="ru-RU" sz="1400" dirty="0"/>
              <a:t>только если почему-то и </a:t>
            </a:r>
            <a:r>
              <a:rPr lang="ru-RU" sz="1400" dirty="0" err="1"/>
              <a:t>Арсенкин</a:t>
            </a:r>
            <a:r>
              <a:rPr lang="ru-RU" sz="1400" dirty="0"/>
              <a:t> и </a:t>
            </a:r>
            <a:r>
              <a:rPr lang="ru-RU" sz="1400" dirty="0" err="1"/>
              <a:t>Вордкипер</a:t>
            </a:r>
            <a:r>
              <a:rPr lang="ru-RU" sz="1400" dirty="0"/>
              <a:t> не работают)</a:t>
            </a:r>
            <a:endParaRPr lang="en-US" sz="1400" dirty="0"/>
          </a:p>
          <a:p>
            <a:pPr algn="l"/>
            <a:endParaRPr lang="ru-RU" sz="1400" dirty="0"/>
          </a:p>
          <a:p>
            <a:pPr algn="l"/>
            <a:r>
              <a:rPr lang="ru-RU" sz="1600" b="1" dirty="0" err="1"/>
              <a:t>Парсинг</a:t>
            </a:r>
            <a:r>
              <a:rPr lang="ru-RU" sz="1600" b="1" dirty="0"/>
              <a:t> данных о запросах</a:t>
            </a:r>
          </a:p>
          <a:p>
            <a:pPr marL="342900" indent="-342900" algn="l">
              <a:buAutoNum type="arabicPeriod"/>
            </a:pPr>
            <a:r>
              <a:rPr lang="ru-RU" sz="1400" b="1" dirty="0" err="1"/>
              <a:t>Арсенкин</a:t>
            </a:r>
            <a:r>
              <a:rPr lang="ru-RU" sz="1400" b="1" dirty="0"/>
              <a:t> - </a:t>
            </a:r>
            <a:r>
              <a:rPr lang="af-ZA" sz="14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https://arsenkin.ru/tools/wordstat/</a:t>
            </a:r>
            <a:r>
              <a:rPr lang="ru-RU" sz="1400" b="1" dirty="0"/>
              <a:t> (частота МЕСЯЧНАЯ (с оператором </a:t>
            </a:r>
            <a:r>
              <a:rPr lang="en-US" sz="1400" b="1" dirty="0"/>
              <a:t>[]</a:t>
            </a:r>
            <a:r>
              <a:rPr lang="ru-RU" sz="1400" b="1" dirty="0"/>
              <a:t>)</a:t>
            </a:r>
            <a:r>
              <a:rPr lang="en-US" sz="1400" b="1" dirty="0"/>
              <a:t> </a:t>
            </a:r>
            <a:r>
              <a:rPr lang="ru-RU" sz="1400" b="1" dirty="0"/>
              <a:t>через ВОРДСТАТ)</a:t>
            </a:r>
          </a:p>
          <a:p>
            <a:pPr marL="342900" indent="-342900" algn="l">
              <a:buAutoNum type="arabicPeriod"/>
            </a:pPr>
            <a:r>
              <a:rPr lang="en-US" sz="1400" b="1" dirty="0"/>
              <a:t>Word-keeper -  </a:t>
            </a:r>
            <a:r>
              <a:rPr lang="en-US" sz="1400" b="1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https://word-keeper.ru/core/checkword</a:t>
            </a:r>
            <a:r>
              <a:rPr lang="ru-RU" sz="1400" b="1" dirty="0"/>
              <a:t> (МЕСЯЧНАЯ через ВОРДСТАТ)</a:t>
            </a:r>
          </a:p>
          <a:p>
            <a:pPr marL="342900" indent="-342900" algn="l">
              <a:buAutoNum type="arabicPeriod"/>
            </a:pPr>
            <a:r>
              <a:rPr lang="en-US" sz="1400" b="1" dirty="0"/>
              <a:t>Word-keeper - </a:t>
            </a:r>
            <a:r>
              <a:rPr lang="en-US" sz="1400" b="1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https://word-keeper.ru/core/checkword_year</a:t>
            </a:r>
            <a:r>
              <a:rPr lang="en-US" sz="1400" b="1" dirty="0"/>
              <a:t> (</a:t>
            </a:r>
            <a:r>
              <a:rPr lang="ru-RU" sz="1400" b="1" dirty="0"/>
              <a:t>ГОДОВАЯ через ДИРЕКТ)</a:t>
            </a:r>
          </a:p>
          <a:p>
            <a:pPr marL="342900" indent="-342900" algn="l">
              <a:buAutoNum type="arabicPeriod"/>
            </a:pPr>
            <a:r>
              <a:rPr lang="ru-RU" sz="1400" b="1" dirty="0" err="1"/>
              <a:t>Арсенкин</a:t>
            </a:r>
            <a:r>
              <a:rPr lang="ru-RU" sz="1400" b="1" dirty="0"/>
              <a:t> - </a:t>
            </a:r>
            <a:r>
              <a:rPr lang="af-ZA" sz="1400" b="1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https://arsenkin.ru/tools/commerce/</a:t>
            </a:r>
            <a:r>
              <a:rPr lang="ru-RU" sz="1400" b="1" dirty="0"/>
              <a:t> - </a:t>
            </a:r>
            <a:r>
              <a:rPr lang="ru-RU" sz="1400" b="1" dirty="0" err="1"/>
              <a:t>коммерческость</a:t>
            </a:r>
            <a:r>
              <a:rPr lang="ru-RU" sz="1400" b="1" dirty="0"/>
              <a:t> запросов</a:t>
            </a:r>
          </a:p>
          <a:p>
            <a:pPr marL="342900" indent="-342900" algn="l">
              <a:buAutoNum type="arabicPeriod"/>
            </a:pPr>
            <a:r>
              <a:rPr lang="en-US" sz="1400" b="1" dirty="0"/>
              <a:t>Word-keeper - </a:t>
            </a:r>
            <a:r>
              <a:rPr lang="en-US" sz="1400" b="1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https://word-keeper.ru/core/commerce</a:t>
            </a:r>
            <a:r>
              <a:rPr lang="en-US" sz="1400" b="1" dirty="0"/>
              <a:t> </a:t>
            </a:r>
            <a:r>
              <a:rPr lang="ru-RU" sz="1400" b="1" dirty="0"/>
              <a:t>- </a:t>
            </a:r>
            <a:r>
              <a:rPr lang="ru-RU" sz="1400" b="1" dirty="0" err="1"/>
              <a:t>коммерческость</a:t>
            </a:r>
            <a:r>
              <a:rPr lang="ru-RU" sz="1400" b="1" dirty="0"/>
              <a:t> запросов</a:t>
            </a:r>
          </a:p>
          <a:p>
            <a:pPr marL="342900" indent="-342900" algn="l">
              <a:buAutoNum type="arabicPeriod"/>
            </a:pPr>
            <a:r>
              <a:rPr lang="en-US" sz="1400" dirty="0" err="1"/>
              <a:t>Megaindex</a:t>
            </a:r>
            <a:r>
              <a:rPr lang="en-US" sz="1400" dirty="0"/>
              <a:t> - </a:t>
            </a:r>
            <a:r>
              <a:rPr lang="en-US" sz="1400" dirty="0">
                <a:hlinkClick r:id="rId11"/>
              </a:rPr>
              <a:t>https://ru.megaindex.com/a/wordinfo</a:t>
            </a:r>
            <a:r>
              <a:rPr lang="en-US" sz="1400" dirty="0"/>
              <a:t> - </a:t>
            </a:r>
            <a:r>
              <a:rPr lang="ru-RU" sz="1400" dirty="0" err="1"/>
              <a:t>тематизация</a:t>
            </a:r>
            <a:r>
              <a:rPr lang="ru-RU" sz="1400" dirty="0"/>
              <a:t> запросов </a:t>
            </a:r>
          </a:p>
          <a:p>
            <a:pPr marL="342900" indent="-342900" algn="l">
              <a:buAutoNum type="arabicPeriod"/>
            </a:pPr>
            <a:r>
              <a:rPr lang="ru-RU" sz="1400" dirty="0" err="1"/>
              <a:t>Чекушин</a:t>
            </a:r>
            <a:r>
              <a:rPr lang="ru-RU" sz="1400" dirty="0"/>
              <a:t> - </a:t>
            </a:r>
            <a:r>
              <a:rPr lang="af-ZA" sz="1400" dirty="0">
                <a:hlinkClick r:id="rId12"/>
              </a:rPr>
              <a:t>https://just-magic.org/serv/temakl.php</a:t>
            </a:r>
            <a:r>
              <a:rPr lang="ru-RU" sz="1400" dirty="0"/>
              <a:t> - </a:t>
            </a:r>
            <a:r>
              <a:rPr lang="ru-RU" sz="1400" dirty="0" err="1"/>
              <a:t>тематизация</a:t>
            </a:r>
            <a:r>
              <a:rPr lang="ru-RU" sz="1400" dirty="0"/>
              <a:t> запросов</a:t>
            </a:r>
          </a:p>
        </p:txBody>
      </p:sp>
    </p:spTree>
    <p:extLst>
      <p:ext uri="{BB962C8B-B14F-4D97-AF65-F5344CB8AC3E}">
        <p14:creationId xmlns:p14="http://schemas.microsoft.com/office/powerpoint/2010/main" val="1468744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9144000" cy="1153953"/>
          </a:xfrm>
        </p:spPr>
        <p:txBody>
          <a:bodyPr anchor="ctr">
            <a:noAutofit/>
          </a:bodyPr>
          <a:lstStyle/>
          <a:p>
            <a:pPr algn="l"/>
            <a:r>
              <a:rPr lang="ru-RU" sz="4000" b="1" dirty="0"/>
              <a:t>Какие инструменты используются для сбора углублённой семантики</a:t>
            </a:r>
            <a:r>
              <a:rPr lang="en-US" sz="4000" b="1" dirty="0"/>
              <a:t>? </a:t>
            </a:r>
            <a:r>
              <a:rPr lang="ru-RU" sz="4000" b="1" dirty="0"/>
              <a:t>Часть 2</a:t>
            </a:r>
            <a:endParaRPr lang="en-US" sz="40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F350AD-5804-4558-93C3-341D4D7BE811}"/>
              </a:ext>
            </a:extLst>
          </p:cNvPr>
          <p:cNvSpPr txBox="1">
            <a:spLocks/>
          </p:cNvSpPr>
          <p:nvPr/>
        </p:nvSpPr>
        <p:spPr>
          <a:xfrm>
            <a:off x="1626066" y="1823672"/>
            <a:ext cx="9144000" cy="47197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100" b="1" dirty="0"/>
              <a:t>Обработка и фильтрация запросов (по множеству критериев)</a:t>
            </a:r>
          </a:p>
          <a:p>
            <a:pPr marL="457200" indent="-457200" algn="l">
              <a:buAutoNum type="arabicPeriod"/>
            </a:pPr>
            <a:r>
              <a:rPr lang="ru-RU" sz="1100" dirty="0"/>
              <a:t>Банальные дубликаты. </a:t>
            </a:r>
            <a:r>
              <a:rPr lang="ru-RU" sz="1100" b="1" dirty="0"/>
              <a:t>Через </a:t>
            </a:r>
            <a:r>
              <a:rPr lang="en-US" sz="1100" b="1" dirty="0"/>
              <a:t>Excel</a:t>
            </a:r>
            <a:r>
              <a:rPr lang="ru-RU" sz="1100" dirty="0"/>
              <a:t> (не забыть про =СЖПРОБЕЛ) </a:t>
            </a:r>
          </a:p>
          <a:p>
            <a:pPr marL="457200" indent="-457200" algn="l">
              <a:buAutoNum type="arabicPeriod"/>
            </a:pPr>
            <a:r>
              <a:rPr lang="ru-RU" sz="1100" dirty="0"/>
              <a:t>Словарь. </a:t>
            </a:r>
            <a:r>
              <a:rPr lang="ru-RU" sz="1100" b="1" dirty="0"/>
              <a:t>Через </a:t>
            </a:r>
            <a:r>
              <a:rPr lang="en-US" sz="1100" b="1" dirty="0"/>
              <a:t>SEO-Excel </a:t>
            </a:r>
            <a:r>
              <a:rPr lang="ru-RU" sz="1100" b="1" dirty="0"/>
              <a:t>в </a:t>
            </a:r>
            <a:r>
              <a:rPr lang="en-US" sz="1100" b="1" dirty="0"/>
              <a:t>Excel</a:t>
            </a:r>
            <a:endParaRPr lang="ru-RU" sz="1100" b="1" dirty="0"/>
          </a:p>
          <a:p>
            <a:pPr marL="457200" indent="-457200" algn="l">
              <a:buAutoNum type="arabicPeriod"/>
            </a:pPr>
            <a:r>
              <a:rPr lang="ru-RU" sz="1100" dirty="0"/>
              <a:t>Фильтр. </a:t>
            </a:r>
            <a:r>
              <a:rPr lang="ru-RU" sz="1100" b="1" dirty="0"/>
              <a:t>Через </a:t>
            </a:r>
            <a:r>
              <a:rPr lang="en-US" sz="1100" b="1" dirty="0"/>
              <a:t>Excel</a:t>
            </a:r>
            <a:endParaRPr lang="ru-RU" sz="1100" b="1" dirty="0"/>
          </a:p>
          <a:p>
            <a:pPr marL="457200" indent="-457200" algn="l">
              <a:buFontTx/>
              <a:buAutoNum type="arabicPeriod"/>
            </a:pPr>
            <a:r>
              <a:rPr lang="ru-RU" sz="1100" dirty="0"/>
              <a:t>Города </a:t>
            </a:r>
            <a:r>
              <a:rPr lang="ru-RU" sz="1100" b="1" dirty="0"/>
              <a:t>Через </a:t>
            </a:r>
            <a:r>
              <a:rPr lang="en-US" sz="1100" b="1" dirty="0"/>
              <a:t>SEO-Excel </a:t>
            </a:r>
            <a:r>
              <a:rPr lang="ru-RU" sz="1100" b="1" dirty="0"/>
              <a:t>в </a:t>
            </a:r>
            <a:r>
              <a:rPr lang="en-US" sz="1100" b="1" dirty="0"/>
              <a:t>Excel </a:t>
            </a:r>
          </a:p>
          <a:p>
            <a:pPr marL="457200" indent="-457200" algn="l">
              <a:buFontTx/>
              <a:buAutoNum type="arabicPeriod"/>
            </a:pPr>
            <a:r>
              <a:rPr lang="ru-RU" sz="1100" dirty="0"/>
              <a:t>Фильтрация по разным частотностям</a:t>
            </a:r>
            <a:r>
              <a:rPr lang="en-US" sz="1100" dirty="0"/>
              <a:t>. </a:t>
            </a:r>
            <a:r>
              <a:rPr lang="ru-RU" sz="1100" b="1" dirty="0"/>
              <a:t>Через </a:t>
            </a:r>
            <a:r>
              <a:rPr lang="en-US" sz="1100" b="1" dirty="0"/>
              <a:t>Excel</a:t>
            </a:r>
            <a:endParaRPr lang="ru-RU" sz="1100" b="1" dirty="0"/>
          </a:p>
          <a:p>
            <a:pPr marL="457200" indent="-457200" algn="l">
              <a:buFontTx/>
              <a:buAutoNum type="arabicPeriod"/>
            </a:pPr>
            <a:r>
              <a:rPr lang="ru-RU" sz="1100" dirty="0"/>
              <a:t>Фильтрация неявных дубликатов (от пустышек по самой жёсткой словоформе </a:t>
            </a:r>
            <a:r>
              <a:rPr lang="ru-RU" sz="1100" b="1" dirty="0"/>
              <a:t>ИЛИ</a:t>
            </a:r>
            <a:r>
              <a:rPr lang="ru-RU" sz="1100" dirty="0"/>
              <a:t>  от не самых частотных словоформ для </a:t>
            </a:r>
            <a:r>
              <a:rPr lang="ru-RU" sz="1100" dirty="0" err="1"/>
              <a:t>сокращательной</a:t>
            </a:r>
            <a:r>
              <a:rPr lang="ru-RU" sz="1100" dirty="0"/>
              <a:t> оптимизации ядра)</a:t>
            </a:r>
            <a:r>
              <a:rPr lang="en-US" sz="1100" dirty="0"/>
              <a:t>:</a:t>
            </a:r>
            <a:endParaRPr lang="ru-RU" sz="1100" dirty="0"/>
          </a:p>
          <a:p>
            <a:pPr algn="l"/>
            <a:r>
              <a:rPr lang="ru-RU" sz="1100" dirty="0"/>
              <a:t>6.1         Через работу </a:t>
            </a:r>
            <a:r>
              <a:rPr lang="ru-RU" sz="1100" b="1" dirty="0"/>
              <a:t>с дублированным столбцом инструментом Выжимка из </a:t>
            </a:r>
            <a:r>
              <a:rPr lang="en-US" sz="1100" b="1" dirty="0"/>
              <a:t>SEO-Excel</a:t>
            </a:r>
            <a:r>
              <a:rPr lang="ru-RU" sz="1100" b="1" dirty="0"/>
              <a:t> </a:t>
            </a:r>
            <a:r>
              <a:rPr lang="en-US" sz="1100" b="1" dirty="0"/>
              <a:t>+</a:t>
            </a:r>
            <a:r>
              <a:rPr lang="ru-RU" sz="1100" b="1" dirty="0"/>
              <a:t> инструментами</a:t>
            </a:r>
            <a:r>
              <a:rPr lang="en-US" sz="1100" b="1" dirty="0"/>
              <a:t> Excel: </a:t>
            </a:r>
          </a:p>
          <a:p>
            <a:pPr algn="l"/>
            <a:r>
              <a:rPr lang="en-US" sz="1100" b="1" dirty="0"/>
              <a:t>              </a:t>
            </a:r>
            <a:r>
              <a:rPr lang="ru-RU" sz="1100" b="1" dirty="0"/>
              <a:t>Сортировка</a:t>
            </a:r>
            <a:r>
              <a:rPr lang="en-US" sz="1100" b="1" dirty="0"/>
              <a:t>, </a:t>
            </a:r>
            <a:r>
              <a:rPr lang="ru-RU" sz="1100" b="1" dirty="0"/>
              <a:t>Выделение дубликатов</a:t>
            </a:r>
            <a:r>
              <a:rPr lang="en-US" sz="1100" b="1" dirty="0"/>
              <a:t>, </a:t>
            </a:r>
            <a:r>
              <a:rPr lang="ru-RU" sz="1100" b="1" dirty="0"/>
              <a:t>Фильтр</a:t>
            </a:r>
            <a:r>
              <a:rPr lang="en-US" sz="1100" b="1" dirty="0"/>
              <a:t>. </a:t>
            </a:r>
            <a:endParaRPr lang="ru-RU" sz="1100" b="1" dirty="0"/>
          </a:p>
          <a:p>
            <a:pPr algn="l"/>
            <a:r>
              <a:rPr lang="ru-RU" sz="1100" dirty="0"/>
              <a:t>6.2         Другая вариация работы </a:t>
            </a:r>
            <a:r>
              <a:rPr lang="ru-RU" sz="1100" b="1" dirty="0"/>
              <a:t>– Выявление частотной словоформы </a:t>
            </a:r>
            <a:r>
              <a:rPr lang="en-US" sz="1100" dirty="0">
                <a:hlinkClick r:id="rId2"/>
              </a:rPr>
              <a:t>https://word-keeper.ru/core/chforms</a:t>
            </a:r>
            <a:endParaRPr lang="en-US" sz="1100" dirty="0"/>
          </a:p>
          <a:p>
            <a:pPr marL="457200" indent="-457200" algn="l">
              <a:buFont typeface="+mj-lt"/>
              <a:buAutoNum type="arabicPeriod" startAt="7"/>
            </a:pPr>
            <a:r>
              <a:rPr lang="ru-RU" sz="1100" dirty="0"/>
              <a:t>Фильтрация по </a:t>
            </a:r>
            <a:r>
              <a:rPr lang="ru-RU" sz="1100" dirty="0" err="1"/>
              <a:t>коммерческости</a:t>
            </a:r>
            <a:r>
              <a:rPr lang="ru-RU" sz="1100" dirty="0"/>
              <a:t> (зависит от </a:t>
            </a:r>
            <a:r>
              <a:rPr lang="ru-RU" sz="1100" dirty="0" err="1"/>
              <a:t>интента</a:t>
            </a:r>
            <a:r>
              <a:rPr lang="ru-RU" sz="1100" dirty="0"/>
              <a:t>)</a:t>
            </a:r>
            <a:r>
              <a:rPr lang="en-US" sz="1100" dirty="0"/>
              <a:t>. </a:t>
            </a:r>
            <a:r>
              <a:rPr lang="ru-RU" sz="1100" b="1" dirty="0"/>
              <a:t>Через </a:t>
            </a:r>
            <a:r>
              <a:rPr lang="en-US" sz="1100" b="1" dirty="0"/>
              <a:t>Excel</a:t>
            </a:r>
            <a:r>
              <a:rPr lang="ru-RU" sz="1100" b="1" dirty="0"/>
              <a:t> </a:t>
            </a:r>
            <a:r>
              <a:rPr lang="ru-RU" sz="1100" dirty="0"/>
              <a:t>(при наличии данных о </a:t>
            </a:r>
            <a:r>
              <a:rPr lang="ru-RU" sz="1100" dirty="0" err="1"/>
              <a:t>коммерческости</a:t>
            </a:r>
            <a:r>
              <a:rPr lang="ru-RU" sz="1100" dirty="0"/>
              <a:t> в столбце)</a:t>
            </a:r>
            <a:endParaRPr lang="ru-RU" sz="1100" b="1" dirty="0"/>
          </a:p>
          <a:p>
            <a:pPr marL="457200" indent="-457200" algn="l">
              <a:buAutoNum type="arabicPeriod" startAt="7"/>
            </a:pPr>
            <a:r>
              <a:rPr lang="ru-RU" sz="1100" dirty="0"/>
              <a:t>Фильтрация по </a:t>
            </a:r>
            <a:r>
              <a:rPr lang="en-US" sz="1100" dirty="0"/>
              <a:t>“</a:t>
            </a:r>
            <a:r>
              <a:rPr lang="ru-RU" sz="1100" dirty="0"/>
              <a:t>неподходящим группам</a:t>
            </a:r>
            <a:r>
              <a:rPr lang="en-US" sz="1100" dirty="0"/>
              <a:t>”</a:t>
            </a:r>
            <a:r>
              <a:rPr lang="ru-RU" sz="1100" dirty="0"/>
              <a:t> (если семантики на </a:t>
            </a:r>
            <a:r>
              <a:rPr lang="en-US" sz="1100" dirty="0"/>
              <a:t>URL</a:t>
            </a:r>
            <a:r>
              <a:rPr lang="ru-RU" sz="1100" dirty="0"/>
              <a:t> много). </a:t>
            </a:r>
            <a:r>
              <a:rPr lang="ru-RU" sz="1100" b="1" dirty="0"/>
              <a:t>Через </a:t>
            </a:r>
            <a:r>
              <a:rPr lang="en-US" sz="1100" b="1" dirty="0"/>
              <a:t>Excel (</a:t>
            </a:r>
            <a:r>
              <a:rPr lang="ru-RU" sz="1100" b="1" dirty="0"/>
              <a:t>при наличии данных о группировке от сервисов)</a:t>
            </a:r>
            <a:endParaRPr lang="en-US" sz="1100" b="1" dirty="0"/>
          </a:p>
          <a:p>
            <a:pPr algn="l"/>
            <a:endParaRPr lang="ru-RU" sz="1100" dirty="0"/>
          </a:p>
          <a:p>
            <a:pPr marL="457200" indent="-457200" algn="l">
              <a:buAutoNum type="arabicPeriod"/>
            </a:pPr>
            <a:endParaRPr lang="ru-RU" sz="1100" dirty="0"/>
          </a:p>
          <a:p>
            <a:pPr algn="l"/>
            <a:r>
              <a:rPr lang="ru-RU" sz="1100" b="1" dirty="0"/>
              <a:t>Проверка группировки запросов</a:t>
            </a:r>
            <a:endParaRPr lang="ru-RU" sz="1100" dirty="0"/>
          </a:p>
          <a:p>
            <a:pPr marL="457200" indent="-457200" algn="l">
              <a:buAutoNum type="arabicPeriod"/>
            </a:pPr>
            <a:r>
              <a:rPr lang="ru-RU" sz="1100" b="1" dirty="0" err="1"/>
              <a:t>Арсенкин</a:t>
            </a:r>
            <a:r>
              <a:rPr lang="ru-RU" sz="1100" b="1" dirty="0"/>
              <a:t>. Анализ </a:t>
            </a:r>
            <a:r>
              <a:rPr lang="ru-RU" sz="1100" b="1" dirty="0" err="1"/>
              <a:t>ТОПа</a:t>
            </a:r>
            <a:r>
              <a:rPr lang="ru-RU" sz="1100" b="1" dirty="0"/>
              <a:t> - </a:t>
            </a:r>
            <a:r>
              <a:rPr lang="af-ZA" sz="1100" b="1" dirty="0">
                <a:hlinkClick r:id="rId3"/>
              </a:rPr>
              <a:t>https://arsenkin.ru/tools/check-top/</a:t>
            </a:r>
            <a:r>
              <a:rPr lang="ru-RU" sz="1100" b="1" dirty="0"/>
              <a:t> (</a:t>
            </a:r>
            <a:r>
              <a:rPr lang="ru-RU" sz="1100" dirty="0"/>
              <a:t>только для ручного анализа для малого количества запросов)</a:t>
            </a:r>
            <a:endParaRPr lang="ru-RU" sz="1100" b="1" dirty="0"/>
          </a:p>
          <a:p>
            <a:pPr marL="457200" indent="-457200" algn="l">
              <a:buAutoNum type="arabicPeriod"/>
            </a:pPr>
            <a:r>
              <a:rPr lang="ru-RU" sz="1100" dirty="0" err="1"/>
              <a:t>Арсенкин</a:t>
            </a:r>
            <a:r>
              <a:rPr lang="ru-RU" sz="1100" dirty="0"/>
              <a:t>. Кластеризация - </a:t>
            </a:r>
            <a:r>
              <a:rPr lang="af-ZA" sz="1100" dirty="0">
                <a:hlinkClick r:id="rId4"/>
              </a:rPr>
              <a:t>https://arsenkin.ru/tools/clustering/</a:t>
            </a:r>
            <a:r>
              <a:rPr lang="ru-RU" sz="1100" dirty="0"/>
              <a:t> (степень</a:t>
            </a:r>
            <a:r>
              <a:rPr lang="en-US" sz="1100" dirty="0"/>
              <a:t>: 3-4. SOFT </a:t>
            </a:r>
            <a:r>
              <a:rPr lang="ru-RU" sz="1100" dirty="0"/>
              <a:t>для инфо. </a:t>
            </a:r>
            <a:r>
              <a:rPr lang="en-US" sz="1100" dirty="0"/>
              <a:t>HARD </a:t>
            </a:r>
            <a:r>
              <a:rPr lang="ru-RU" sz="1100" dirty="0"/>
              <a:t>для коммерции. Глубина - 10)</a:t>
            </a:r>
          </a:p>
          <a:p>
            <a:pPr marL="457200" indent="-457200" algn="l">
              <a:buFontTx/>
              <a:buAutoNum type="arabicPeriod"/>
            </a:pPr>
            <a:r>
              <a:rPr lang="en-US" sz="1100" dirty="0"/>
              <a:t>Word-Keeper. </a:t>
            </a:r>
            <a:r>
              <a:rPr lang="ru-RU" sz="1100" dirty="0" err="1"/>
              <a:t>Кластеризатор</a:t>
            </a:r>
            <a:r>
              <a:rPr lang="ru-RU" sz="1100" dirty="0"/>
              <a:t> запросов - </a:t>
            </a:r>
            <a:r>
              <a:rPr lang="af-ZA" sz="1100" dirty="0">
                <a:hlinkClick r:id="rId5"/>
              </a:rPr>
              <a:t>https://word-keeper.ru/core/klaster</a:t>
            </a:r>
            <a:r>
              <a:rPr lang="ru-RU" sz="1100" dirty="0"/>
              <a:t> (</a:t>
            </a:r>
            <a:r>
              <a:rPr lang="en-US" sz="1100" dirty="0"/>
              <a:t>SOFT </a:t>
            </a:r>
            <a:r>
              <a:rPr lang="ru-RU" sz="1100" dirty="0"/>
              <a:t>для инфо. </a:t>
            </a:r>
            <a:r>
              <a:rPr lang="en-US" sz="1100" dirty="0"/>
              <a:t>HARD </a:t>
            </a:r>
            <a:r>
              <a:rPr lang="ru-RU" sz="1100" dirty="0"/>
              <a:t>для коммерции)</a:t>
            </a:r>
          </a:p>
          <a:p>
            <a:pPr algn="l"/>
            <a:endParaRPr lang="ru-RU" sz="1100" b="1" dirty="0"/>
          </a:p>
          <a:p>
            <a:pPr algn="l"/>
            <a:r>
              <a:rPr lang="ru-RU" sz="1100" b="1" dirty="0"/>
              <a:t>Оформление результата</a:t>
            </a:r>
          </a:p>
          <a:p>
            <a:pPr algn="l"/>
            <a:r>
              <a:rPr lang="en-US" sz="1100" dirty="0"/>
              <a:t>Excel</a:t>
            </a:r>
          </a:p>
          <a:p>
            <a:pPr algn="l"/>
            <a:endParaRPr lang="en-US" sz="1100" dirty="0"/>
          </a:p>
          <a:p>
            <a:pPr algn="l"/>
            <a:r>
              <a:rPr lang="ru-RU" sz="1100" b="1" dirty="0" err="1"/>
              <a:t>Парсинг</a:t>
            </a:r>
            <a:r>
              <a:rPr lang="ru-RU" sz="1100" b="1" dirty="0"/>
              <a:t> подсказок </a:t>
            </a:r>
          </a:p>
          <a:p>
            <a:pPr marL="457200" indent="-457200" algn="l">
              <a:buAutoNum type="arabicPeriod"/>
            </a:pPr>
            <a:r>
              <a:rPr lang="ru-RU" sz="1100" dirty="0" err="1"/>
              <a:t>Арсенкин</a:t>
            </a:r>
            <a:r>
              <a:rPr lang="ru-RU" sz="1100" dirty="0"/>
              <a:t>. </a:t>
            </a:r>
            <a:r>
              <a:rPr lang="ru-RU" sz="1100" dirty="0" err="1"/>
              <a:t>Парсинг</a:t>
            </a:r>
            <a:r>
              <a:rPr lang="ru-RU" sz="1100" dirty="0"/>
              <a:t> подсказок - </a:t>
            </a:r>
            <a:r>
              <a:rPr lang="af-ZA" sz="1100" dirty="0">
                <a:hlinkClick r:id="rId6"/>
              </a:rPr>
              <a:t>https://arsenkin.ru/tools/suggest/</a:t>
            </a:r>
            <a:r>
              <a:rPr lang="ru-RU" sz="1100" dirty="0"/>
              <a:t>. Стандарт – все галочки верхнего поля и глубина 1. Расширенные галочки используйте только если понимаете зачем.</a:t>
            </a:r>
          </a:p>
          <a:p>
            <a:pPr marL="457200" indent="-457200" algn="l">
              <a:buFontTx/>
              <a:buAutoNum type="arabicPeriod"/>
            </a:pPr>
            <a:r>
              <a:rPr lang="en-US" sz="1100" dirty="0"/>
              <a:t>Word-Keeper. </a:t>
            </a:r>
            <a:r>
              <a:rPr lang="ru-RU" sz="1100" dirty="0" err="1"/>
              <a:t>Парсинг</a:t>
            </a:r>
            <a:r>
              <a:rPr lang="ru-RU" sz="1100" dirty="0"/>
              <a:t> подсказок - </a:t>
            </a:r>
            <a:r>
              <a:rPr lang="af-ZA" sz="1100" dirty="0">
                <a:hlinkClick r:id="rId7"/>
              </a:rPr>
              <a:t>https://word-keeper.ru/core/parsetip</a:t>
            </a:r>
            <a:r>
              <a:rPr lang="ru-RU" sz="1100" dirty="0"/>
              <a:t>. Стандарт – все галочки</a:t>
            </a:r>
          </a:p>
          <a:p>
            <a:pPr marL="457200" indent="-457200" algn="l">
              <a:buAutoNum type="arabicPeriod"/>
            </a:pPr>
            <a:endParaRPr lang="ru-RU" sz="1100" dirty="0"/>
          </a:p>
          <a:p>
            <a:pPr algn="l"/>
            <a:r>
              <a:rPr lang="ru-RU" sz="1100" b="1" dirty="0"/>
              <a:t>Дополнительные штучки</a:t>
            </a:r>
            <a:r>
              <a:rPr lang="en-US" sz="1100" b="1" dirty="0"/>
              <a:t>:</a:t>
            </a:r>
          </a:p>
          <a:p>
            <a:pPr marL="457200" indent="-457200" algn="l">
              <a:buAutoNum type="arabicPeriod"/>
            </a:pPr>
            <a:r>
              <a:rPr lang="ru-RU" sz="1100" dirty="0"/>
              <a:t>Анализ </a:t>
            </a:r>
            <a:r>
              <a:rPr lang="en-US" sz="1100" dirty="0"/>
              <a:t>“</a:t>
            </a:r>
            <a:r>
              <a:rPr lang="ru-RU" sz="1100" dirty="0"/>
              <a:t>конкуренции</a:t>
            </a:r>
            <a:r>
              <a:rPr lang="en-US" sz="1100" dirty="0"/>
              <a:t>”</a:t>
            </a:r>
            <a:r>
              <a:rPr lang="ru-RU" sz="1100" dirty="0"/>
              <a:t> - </a:t>
            </a:r>
            <a:r>
              <a:rPr lang="en-US" sz="11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https://word-keeper.ru/core/konk</a:t>
            </a:r>
            <a:r>
              <a:rPr lang="en-US" sz="1100" dirty="0"/>
              <a:t>  </a:t>
            </a:r>
            <a:endParaRPr lang="ru-RU" sz="1100" dirty="0"/>
          </a:p>
          <a:p>
            <a:pPr marL="457200" indent="-457200" algn="l">
              <a:buAutoNum type="arabicPeriod"/>
            </a:pPr>
            <a:r>
              <a:rPr lang="ru-RU" sz="1100" dirty="0"/>
              <a:t>Грубейшая типизация выдачи - </a:t>
            </a:r>
            <a:r>
              <a:rPr lang="af-ZA" sz="11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https://arsenkin.ru/tools/check-classified/</a:t>
            </a:r>
            <a:r>
              <a:rPr lang="ru-RU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1995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2154"/>
            <a:ext cx="9029350" cy="1153953"/>
          </a:xfrm>
        </p:spPr>
        <p:txBody>
          <a:bodyPr anchor="ctr">
            <a:noAutofit/>
          </a:bodyPr>
          <a:lstStyle/>
          <a:p>
            <a:pPr algn="l"/>
            <a:r>
              <a:rPr lang="ru-RU" sz="3200" dirty="0"/>
              <a:t>Какие разновидности запросов у Яндекса бывают и какие у них особенности (не про операторы)</a:t>
            </a:r>
            <a:r>
              <a:rPr lang="en-US" sz="3200" dirty="0"/>
              <a:t>?</a:t>
            </a:r>
            <a:endParaRPr lang="ru-RU" sz="32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1DDB33-853C-46D4-8242-CF76ADA7497B}"/>
              </a:ext>
            </a:extLst>
          </p:cNvPr>
          <p:cNvSpPr txBox="1">
            <a:spLocks/>
          </p:cNvSpPr>
          <p:nvPr/>
        </p:nvSpPr>
        <p:spPr>
          <a:xfrm>
            <a:off x="1668011" y="1493240"/>
            <a:ext cx="9144000" cy="53647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/>
              <a:t>Дело в том</a:t>
            </a:r>
            <a:r>
              <a:rPr lang="en-US" sz="2000" dirty="0"/>
              <a:t>, </a:t>
            </a:r>
            <a:r>
              <a:rPr lang="ru-RU" sz="2000" dirty="0"/>
              <a:t>что мы частотность снимаем не из одного источника.</a:t>
            </a:r>
          </a:p>
          <a:p>
            <a:pPr algn="l"/>
            <a:r>
              <a:rPr lang="ru-RU" sz="2000" dirty="0"/>
              <a:t>Мы можем снимать данные по </a:t>
            </a:r>
            <a:r>
              <a:rPr lang="ru-RU" sz="2000" dirty="0" err="1"/>
              <a:t>Яндекс.Вордстат</a:t>
            </a:r>
            <a:r>
              <a:rPr lang="en-US" sz="2000" dirty="0"/>
              <a:t>, </a:t>
            </a:r>
            <a:r>
              <a:rPr lang="ru-RU" sz="2000" dirty="0"/>
              <a:t>а можем по </a:t>
            </a:r>
            <a:r>
              <a:rPr lang="ru-RU" sz="2000" dirty="0" err="1"/>
              <a:t>Яндекс.Директ</a:t>
            </a:r>
            <a:endParaRPr lang="ru-RU" sz="2000" dirty="0"/>
          </a:p>
          <a:p>
            <a:pPr algn="l"/>
            <a:r>
              <a:rPr lang="ru-RU" sz="2000" dirty="0"/>
              <a:t>Похоже</a:t>
            </a:r>
            <a:r>
              <a:rPr lang="en-US" sz="2000" dirty="0"/>
              <a:t>, </a:t>
            </a:r>
            <a:r>
              <a:rPr lang="ru-RU" sz="2000" dirty="0"/>
              <a:t>что это не одно и то же.</a:t>
            </a:r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Есть древние данные о том </a:t>
            </a:r>
            <a:r>
              <a:rPr lang="en-US" sz="2000" dirty="0"/>
              <a:t>“</a:t>
            </a:r>
            <a:r>
              <a:rPr lang="ru-RU" sz="2000" dirty="0"/>
              <a:t>что за цифры даёт </a:t>
            </a:r>
            <a:r>
              <a:rPr lang="ru-RU" sz="2000" dirty="0" err="1"/>
              <a:t>Вордстат</a:t>
            </a:r>
            <a:r>
              <a:rPr lang="ru-RU" sz="2000" dirty="0"/>
              <a:t> и Яндекс и в чем отличие</a:t>
            </a:r>
            <a:r>
              <a:rPr lang="en-US" sz="2000" dirty="0"/>
              <a:t>”</a:t>
            </a:r>
            <a:r>
              <a:rPr lang="ru-RU" sz="2000" dirty="0"/>
              <a:t>. </a:t>
            </a:r>
          </a:p>
          <a:p>
            <a:pPr algn="l"/>
            <a:r>
              <a:rPr lang="ru-RU" sz="2000" dirty="0"/>
              <a:t>Вопрос крутился вокруг посылов</a:t>
            </a:r>
            <a:r>
              <a:rPr lang="en-US" sz="2000" dirty="0"/>
              <a:t>: </a:t>
            </a:r>
            <a:endParaRPr lang="ru-RU" sz="2000" dirty="0"/>
          </a:p>
          <a:p>
            <a:pPr marL="457200" indent="-457200" algn="l">
              <a:buAutoNum type="arabicParenR"/>
            </a:pPr>
            <a:r>
              <a:rPr lang="en-US" sz="2000" dirty="0"/>
              <a:t>“</a:t>
            </a:r>
            <a:r>
              <a:rPr lang="ru-RU" sz="2000" dirty="0"/>
              <a:t>Это данные ввода запроса или данные показа рекламы</a:t>
            </a:r>
            <a:r>
              <a:rPr lang="en-US" sz="2000" dirty="0"/>
              <a:t>?”</a:t>
            </a:r>
            <a:r>
              <a:rPr lang="ru-RU" sz="2000" dirty="0"/>
              <a:t> (вопросики)</a:t>
            </a:r>
          </a:p>
          <a:p>
            <a:pPr marL="457200" indent="-457200" algn="l">
              <a:buAutoNum type="arabicParenR"/>
            </a:pPr>
            <a:r>
              <a:rPr lang="en-US" sz="2000" dirty="0"/>
              <a:t>“</a:t>
            </a:r>
            <a:r>
              <a:rPr lang="ru-RU" sz="2000" dirty="0"/>
              <a:t>Это данные одни и те же</a:t>
            </a:r>
            <a:r>
              <a:rPr lang="en-US" sz="2000" dirty="0"/>
              <a:t>, </a:t>
            </a:r>
            <a:r>
              <a:rPr lang="ru-RU" sz="2000" dirty="0"/>
              <a:t>просто в Директе – обрезанные</a:t>
            </a:r>
            <a:r>
              <a:rPr lang="en-US" sz="2000" dirty="0"/>
              <a:t>”</a:t>
            </a:r>
            <a:r>
              <a:rPr lang="ru-RU" sz="2000" dirty="0"/>
              <a:t>  </a:t>
            </a:r>
            <a:endParaRPr lang="en-US" sz="2000" dirty="0"/>
          </a:p>
          <a:p>
            <a:pPr algn="l"/>
            <a:r>
              <a:rPr lang="ru-RU" sz="2000" dirty="0"/>
              <a:t>Последних точных и актуальных данных у меня сейчас нет. </a:t>
            </a:r>
            <a:endParaRPr lang="en-US" sz="2000" dirty="0"/>
          </a:p>
          <a:p>
            <a:pPr algn="l"/>
            <a:r>
              <a:rPr lang="ru-RU" sz="2000" dirty="0"/>
              <a:t>Если хотите данных по </a:t>
            </a:r>
            <a:r>
              <a:rPr lang="ru-RU" sz="2000" dirty="0" err="1"/>
              <a:t>НЧШкам</a:t>
            </a:r>
            <a:r>
              <a:rPr lang="ru-RU" sz="2000" dirty="0"/>
              <a:t> – лучше пробовать работать с </a:t>
            </a:r>
            <a:r>
              <a:rPr lang="ru-RU" sz="2000" dirty="0" err="1"/>
              <a:t>Вордстат-парсингом</a:t>
            </a:r>
            <a:endParaRPr lang="en-US" sz="2000" dirty="0"/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Могу только сказать</a:t>
            </a:r>
            <a:r>
              <a:rPr lang="en-US" sz="2000" dirty="0"/>
              <a:t>, </a:t>
            </a:r>
            <a:r>
              <a:rPr lang="ru-RU" sz="2000" dirty="0"/>
              <a:t>что более точные данные в </a:t>
            </a:r>
            <a:r>
              <a:rPr lang="ru-RU" sz="2000" dirty="0" err="1"/>
              <a:t>Яндекс.Вордстат</a:t>
            </a:r>
            <a:r>
              <a:rPr lang="en-US" sz="2000" dirty="0"/>
              <a:t>, </a:t>
            </a:r>
            <a:r>
              <a:rPr lang="ru-RU" sz="2000" dirty="0"/>
              <a:t>но их получать </a:t>
            </a:r>
            <a:r>
              <a:rPr lang="en-US" sz="2000" dirty="0"/>
              <a:t>“</a:t>
            </a:r>
            <a:r>
              <a:rPr lang="ru-RU" sz="2000" dirty="0"/>
              <a:t>сложнее</a:t>
            </a:r>
            <a:r>
              <a:rPr lang="en-US" sz="2000" dirty="0"/>
              <a:t>”,</a:t>
            </a:r>
            <a:r>
              <a:rPr lang="ru-RU" sz="2000" dirty="0"/>
              <a:t> а </a:t>
            </a:r>
            <a:r>
              <a:rPr lang="ru-RU" sz="2000" dirty="0" err="1"/>
              <a:t>Яндекс.Директ</a:t>
            </a:r>
            <a:r>
              <a:rPr lang="ru-RU" sz="2000" dirty="0"/>
              <a:t> даёт данные </a:t>
            </a:r>
            <a:r>
              <a:rPr lang="en-US" sz="2000" dirty="0"/>
              <a:t>“</a:t>
            </a:r>
            <a:r>
              <a:rPr lang="ru-RU" sz="2000" dirty="0"/>
              <a:t>пачками</a:t>
            </a:r>
            <a:r>
              <a:rPr lang="en-US" sz="2000" dirty="0"/>
              <a:t>” </a:t>
            </a:r>
            <a:r>
              <a:rPr lang="ru-RU" sz="2000" dirty="0"/>
              <a:t>и на массивах и их получать проще.</a:t>
            </a:r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На практике выводы следующие</a:t>
            </a:r>
            <a:r>
              <a:rPr lang="en-US" sz="2000" dirty="0"/>
              <a:t>:</a:t>
            </a:r>
          </a:p>
          <a:p>
            <a:pPr marL="457200" indent="-457200" algn="l">
              <a:buAutoNum type="arabicParenR"/>
            </a:pPr>
            <a:r>
              <a:rPr lang="ru-RU" sz="2000" dirty="0"/>
              <a:t>Если вам нужны годовые </a:t>
            </a:r>
            <a:r>
              <a:rPr lang="ru-RU" sz="2000" dirty="0" err="1"/>
              <a:t>частотки</a:t>
            </a:r>
            <a:r>
              <a:rPr lang="ru-RU" sz="2000" dirty="0"/>
              <a:t> запросов – вам нужно работать с Директ</a:t>
            </a:r>
          </a:p>
          <a:p>
            <a:pPr marL="457200" indent="-457200" algn="l">
              <a:buAutoNum type="arabicParenR"/>
            </a:pPr>
            <a:r>
              <a:rPr lang="ru-RU" sz="2000" dirty="0"/>
              <a:t>Если вам нужен </a:t>
            </a:r>
            <a:r>
              <a:rPr lang="ru-RU" sz="2000" dirty="0" err="1"/>
              <a:t>парсинг</a:t>
            </a:r>
            <a:r>
              <a:rPr lang="ru-RU" sz="2000" dirty="0"/>
              <a:t> самих </a:t>
            </a:r>
            <a:r>
              <a:rPr lang="ru-RU" sz="2000" dirty="0" err="1"/>
              <a:t>запосов</a:t>
            </a:r>
            <a:r>
              <a:rPr lang="ru-RU" sz="2000" dirty="0"/>
              <a:t> </a:t>
            </a:r>
            <a:r>
              <a:rPr lang="ru-RU" sz="2000" dirty="0" err="1"/>
              <a:t>Нчшек</a:t>
            </a:r>
            <a:r>
              <a:rPr lang="ru-RU" sz="2000" dirty="0"/>
              <a:t> и их частотности –лучше прошерстить </a:t>
            </a:r>
            <a:r>
              <a:rPr lang="ru-RU" sz="2000" dirty="0" err="1"/>
              <a:t>Вордстат</a:t>
            </a:r>
            <a:endParaRPr lang="ru-RU" sz="2000" dirty="0"/>
          </a:p>
          <a:p>
            <a:pPr algn="l"/>
            <a:r>
              <a:rPr lang="ru-RU" sz="2000" dirty="0"/>
              <a:t>Здесь также есть разница в возможности собрать инфу за год</a:t>
            </a:r>
            <a:r>
              <a:rPr lang="en-US" sz="2000" dirty="0"/>
              <a:t>, </a:t>
            </a:r>
            <a:r>
              <a:rPr lang="ru-RU" sz="2000" dirty="0"/>
              <a:t>за сезон и </a:t>
            </a:r>
            <a:r>
              <a:rPr lang="ru-RU" sz="2000" dirty="0" err="1"/>
              <a:t>рабочести</a:t>
            </a:r>
            <a:r>
              <a:rPr lang="ru-RU" sz="2000" dirty="0"/>
              <a:t> и </a:t>
            </a:r>
            <a:r>
              <a:rPr lang="ru-RU" sz="2000" dirty="0" err="1"/>
              <a:t>нерабочести</a:t>
            </a:r>
            <a:r>
              <a:rPr lang="ru-RU" sz="2000" dirty="0"/>
              <a:t> отдельных операторов. </a:t>
            </a:r>
            <a:endParaRPr lang="en-US" sz="2000" dirty="0"/>
          </a:p>
          <a:p>
            <a:pPr algn="l"/>
            <a:r>
              <a:rPr lang="ru-RU" sz="2000" dirty="0"/>
              <a:t>Но об этом пока не будем (я позорно не до конца знаю матчасть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r>
              <a:rPr lang="ru-RU" sz="2000" dirty="0">
                <a:sym typeface="Wingdings" panose="05000000000000000000" pitchFamily="2" charset="2"/>
              </a:rPr>
              <a:t>)</a:t>
            </a:r>
          </a:p>
          <a:p>
            <a:pPr algn="l"/>
            <a:endParaRPr lang="ru-RU" sz="2000" dirty="0"/>
          </a:p>
          <a:p>
            <a:pPr algn="l"/>
            <a:r>
              <a:rPr lang="en-US" sz="2000" dirty="0"/>
              <a:t>P.S. </a:t>
            </a:r>
            <a:r>
              <a:rPr lang="ru-RU" sz="2000" dirty="0"/>
              <a:t>Всё равно все накручено злостными </a:t>
            </a:r>
            <a:r>
              <a:rPr lang="ru-RU" sz="2000" dirty="0" err="1"/>
              <a:t>поведенологами</a:t>
            </a:r>
            <a:r>
              <a:rPr lang="en-US" sz="2000" dirty="0"/>
              <a:t>, </a:t>
            </a:r>
            <a:r>
              <a:rPr lang="ru-RU" sz="2000" dirty="0"/>
              <a:t>поэтому возможно где-то стоит вообще </a:t>
            </a:r>
            <a:r>
              <a:rPr lang="en-US" sz="2000" dirty="0"/>
              <a:t>Google </a:t>
            </a:r>
            <a:r>
              <a:rPr lang="ru-RU" sz="2000" dirty="0" err="1"/>
              <a:t>парсить</a:t>
            </a:r>
            <a:endParaRPr lang="ru-RU" sz="2100" dirty="0"/>
          </a:p>
          <a:p>
            <a:pPr algn="l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7425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9029350" cy="1153953"/>
          </a:xfrm>
        </p:spPr>
        <p:txBody>
          <a:bodyPr anchor="ctr">
            <a:noAutofit/>
          </a:bodyPr>
          <a:lstStyle/>
          <a:p>
            <a:r>
              <a:rPr lang="ru-RU" sz="3200" dirty="0"/>
              <a:t>Какие операторы важны для сбора семантики и что они делают</a:t>
            </a:r>
            <a:r>
              <a:rPr lang="en-US" sz="3200" dirty="0"/>
              <a:t>?</a:t>
            </a:r>
            <a:endParaRPr lang="ru-RU" sz="32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1DDB33-853C-46D4-8242-CF76ADA7497B}"/>
              </a:ext>
            </a:extLst>
          </p:cNvPr>
          <p:cNvSpPr txBox="1">
            <a:spLocks/>
          </p:cNvSpPr>
          <p:nvPr/>
        </p:nvSpPr>
        <p:spPr>
          <a:xfrm>
            <a:off x="1668011" y="1493240"/>
            <a:ext cx="9144000" cy="53647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330947-7E51-41B0-856F-30C8C1F1D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853" y="1154125"/>
            <a:ext cx="4795348" cy="302149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E2EA4DB-4717-44DB-9D40-AF19E99AFB37}"/>
              </a:ext>
            </a:extLst>
          </p:cNvPr>
          <p:cNvSpPr txBox="1">
            <a:spLocks/>
          </p:cNvSpPr>
          <p:nvPr/>
        </p:nvSpPr>
        <p:spPr>
          <a:xfrm>
            <a:off x="6753137" y="1577130"/>
            <a:ext cx="4937010" cy="441260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0F870C-E4BD-4DA6-A20A-8BDD502CF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6461"/>
            <a:ext cx="7383853" cy="531504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8E26AE9-8436-4288-B63E-9947033A9985}"/>
              </a:ext>
            </a:extLst>
          </p:cNvPr>
          <p:cNvSpPr txBox="1">
            <a:spLocks/>
          </p:cNvSpPr>
          <p:nvPr/>
        </p:nvSpPr>
        <p:spPr>
          <a:xfrm>
            <a:off x="7383853" y="4259509"/>
            <a:ext cx="4795348" cy="25319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/>
              <a:t>Операторы</a:t>
            </a:r>
            <a:r>
              <a:rPr lang="en-US" sz="2000" dirty="0"/>
              <a:t>, </a:t>
            </a:r>
            <a:r>
              <a:rPr lang="ru-RU" sz="2000" dirty="0"/>
              <a:t>которые надо знать</a:t>
            </a:r>
            <a:r>
              <a:rPr lang="en-US" sz="2000" dirty="0"/>
              <a:t>: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+ (обязательно учти это слово (мало букв))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- (вырежи это слово из массива/поиска)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! (только в этой словоформе)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“”</a:t>
            </a:r>
            <a:r>
              <a:rPr lang="ru-RU" sz="2000" dirty="0"/>
              <a:t> (только ЭТИ слова</a:t>
            </a:r>
            <a:r>
              <a:rPr lang="en-US" sz="2000" dirty="0"/>
              <a:t> </a:t>
            </a:r>
            <a:r>
              <a:rPr lang="ru-RU" sz="2000" dirty="0"/>
              <a:t>и ни каких больше)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[]</a:t>
            </a:r>
            <a:r>
              <a:rPr lang="ru-RU" sz="2000" dirty="0"/>
              <a:t> (только ЭТОТ порядок слов)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()</a:t>
            </a:r>
            <a:r>
              <a:rPr lang="ru-RU" sz="2000" dirty="0"/>
              <a:t> и </a:t>
            </a:r>
            <a:r>
              <a:rPr lang="en-US" sz="2000" dirty="0"/>
              <a:t>|</a:t>
            </a:r>
            <a:r>
              <a:rPr lang="ru-RU" sz="2000" dirty="0"/>
              <a:t> (используются вместе для перечисления)</a:t>
            </a:r>
          </a:p>
          <a:p>
            <a:pPr algn="l"/>
            <a:endParaRPr lang="en-US" sz="2000" dirty="0"/>
          </a:p>
          <a:p>
            <a:pPr algn="l"/>
            <a:r>
              <a:rPr lang="ru-RU" sz="2000" dirty="0"/>
              <a:t>Работают </a:t>
            </a:r>
            <a:r>
              <a:rPr lang="ru-RU" sz="2000" b="1" dirty="0"/>
              <a:t>не во всех сервисах </a:t>
            </a:r>
            <a:r>
              <a:rPr lang="ru-RU" sz="2000" dirty="0"/>
              <a:t>и </a:t>
            </a:r>
            <a:r>
              <a:rPr lang="ru-RU" sz="2000" b="1" dirty="0"/>
              <a:t>не при всех съемах.</a:t>
            </a:r>
          </a:p>
        </p:txBody>
      </p:sp>
    </p:spTree>
    <p:extLst>
      <p:ext uri="{BB962C8B-B14F-4D97-AF65-F5344CB8AC3E}">
        <p14:creationId xmlns:p14="http://schemas.microsoft.com/office/powerpoint/2010/main" val="834826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9029350" cy="1153953"/>
          </a:xfrm>
        </p:spPr>
        <p:txBody>
          <a:bodyPr anchor="ctr">
            <a:noAutofit/>
          </a:bodyPr>
          <a:lstStyle/>
          <a:p>
            <a:pPr algn="l"/>
            <a:r>
              <a:rPr lang="ru-RU" sz="3200" b="1" dirty="0"/>
              <a:t>Зачем нужно проверять выдачу (руками/сервисами + как именно) для принятия решения о включении запроса в финальную версию семантики</a:t>
            </a:r>
            <a:r>
              <a:rPr lang="en-US" sz="3200" b="1" dirty="0"/>
              <a:t>?</a:t>
            </a:r>
            <a:endParaRPr lang="ru-RU" sz="32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1DDB33-853C-46D4-8242-CF76ADA7497B}"/>
              </a:ext>
            </a:extLst>
          </p:cNvPr>
          <p:cNvSpPr txBox="1">
            <a:spLocks/>
          </p:cNvSpPr>
          <p:nvPr/>
        </p:nvSpPr>
        <p:spPr>
          <a:xfrm>
            <a:off x="1668011" y="1493240"/>
            <a:ext cx="9144000" cy="53647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2EA4DB-4717-44DB-9D40-AF19E99AFB37}"/>
              </a:ext>
            </a:extLst>
          </p:cNvPr>
          <p:cNvSpPr txBox="1">
            <a:spLocks/>
          </p:cNvSpPr>
          <p:nvPr/>
        </p:nvSpPr>
        <p:spPr>
          <a:xfrm>
            <a:off x="6753137" y="1577130"/>
            <a:ext cx="4937010" cy="441260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E26AE9-8436-4288-B63E-9947033A9985}"/>
              </a:ext>
            </a:extLst>
          </p:cNvPr>
          <p:cNvSpPr txBox="1">
            <a:spLocks/>
          </p:cNvSpPr>
          <p:nvPr/>
        </p:nvSpPr>
        <p:spPr>
          <a:xfrm>
            <a:off x="1524001" y="1731395"/>
            <a:ext cx="9144000" cy="50552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  <a:p>
            <a:pPr algn="l"/>
            <a:r>
              <a:rPr lang="ru-RU" sz="2000" dirty="0"/>
              <a:t>Не проверишь выдачу – будешь опираться на своё мнение.</a:t>
            </a:r>
          </a:p>
          <a:p>
            <a:pPr algn="l"/>
            <a:r>
              <a:rPr lang="ru-RU" sz="2000" dirty="0"/>
              <a:t>А своё мнение гораздо чаще</a:t>
            </a:r>
            <a:r>
              <a:rPr lang="en-US" sz="2000" dirty="0"/>
              <a:t>, </a:t>
            </a:r>
            <a:r>
              <a:rPr lang="ru-RU" sz="2000" dirty="0"/>
              <a:t>чем кажется</a:t>
            </a:r>
            <a:r>
              <a:rPr lang="en-US" sz="2000" dirty="0"/>
              <a:t>, </a:t>
            </a:r>
            <a:r>
              <a:rPr lang="ru-RU" sz="2000" dirty="0"/>
              <a:t>отличается от мнения поисковой системы. </a:t>
            </a:r>
          </a:p>
          <a:p>
            <a:pPr algn="l"/>
            <a:r>
              <a:rPr lang="ru-RU" sz="2000" dirty="0"/>
              <a:t>Там может быть </a:t>
            </a:r>
            <a:r>
              <a:rPr lang="ru-RU" sz="2000" dirty="0" err="1"/>
              <a:t>информационка</a:t>
            </a:r>
            <a:r>
              <a:rPr lang="en-US" sz="2000" dirty="0"/>
              <a:t>, </a:t>
            </a:r>
            <a:r>
              <a:rPr lang="ru-RU" sz="2000" dirty="0"/>
              <a:t>другой тип сайта</a:t>
            </a:r>
            <a:r>
              <a:rPr lang="en-US" sz="2000" dirty="0"/>
              <a:t>, </a:t>
            </a:r>
            <a:r>
              <a:rPr lang="ru-RU" sz="2000" dirty="0"/>
              <a:t>другой тип страницы</a:t>
            </a:r>
            <a:r>
              <a:rPr lang="en-US" sz="2000" dirty="0"/>
              <a:t>, </a:t>
            </a:r>
            <a:r>
              <a:rPr lang="ru-RU" sz="2000" dirty="0"/>
              <a:t>вообще другая тема и так далее.</a:t>
            </a:r>
          </a:p>
          <a:p>
            <a:pPr algn="l"/>
            <a:r>
              <a:rPr lang="ru-RU" sz="2000" dirty="0"/>
              <a:t>Поэтому на свою голову опираться нельзя. Особенно если опыта в </a:t>
            </a:r>
            <a:r>
              <a:rPr lang="en-US" sz="2000" dirty="0"/>
              <a:t>SEO </a:t>
            </a:r>
            <a:r>
              <a:rPr lang="ru-RU" sz="2000" dirty="0"/>
              <a:t>не так много. </a:t>
            </a:r>
          </a:p>
          <a:p>
            <a:pPr algn="l"/>
            <a:endParaRPr lang="en-US" sz="2000" dirty="0"/>
          </a:p>
          <a:p>
            <a:pPr algn="l"/>
            <a:r>
              <a:rPr lang="ru-RU" sz="2000" dirty="0"/>
              <a:t>Проверять можно</a:t>
            </a:r>
            <a:r>
              <a:rPr lang="en-US" sz="2000" dirty="0"/>
              <a:t>: 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Ручками (что в выдаче по запросу в инкогнито в нужном регионе)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Кластеризацией (куда группируются запросы)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/>
              <a:t>Коммерческость</a:t>
            </a:r>
            <a:r>
              <a:rPr lang="ru-RU" sz="2000" dirty="0"/>
              <a:t> (где кривая разбивка на инфо/комм)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/>
              <a:t>Тематизацией</a:t>
            </a:r>
            <a:r>
              <a:rPr lang="ru-RU" sz="2000" dirty="0"/>
              <a:t> (где кривая разбивка запросов по темам)</a:t>
            </a:r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Детальней всего – ручками. Но</a:t>
            </a:r>
            <a:r>
              <a:rPr lang="en-US" sz="2000" dirty="0"/>
              <a:t> </a:t>
            </a:r>
            <a:r>
              <a:rPr lang="ru-RU" sz="2000" dirty="0"/>
              <a:t>неприемлемо долго + завтра выдача может поменяться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ru-RU" sz="2000" dirty="0">
              <a:sym typeface="Wingdings" panose="05000000000000000000" pitchFamily="2" charset="2"/>
            </a:endParaRPr>
          </a:p>
          <a:p>
            <a:pPr algn="l"/>
            <a:r>
              <a:rPr lang="ru-RU" sz="2000" dirty="0">
                <a:sym typeface="Wingdings" panose="05000000000000000000" pitchFamily="2" charset="2"/>
              </a:rPr>
              <a:t>Другие варианты </a:t>
            </a:r>
            <a:r>
              <a:rPr lang="en-US" sz="2000" dirty="0">
                <a:sym typeface="Wingdings" panose="05000000000000000000" pitchFamily="2" charset="2"/>
              </a:rPr>
              <a:t>“</a:t>
            </a:r>
            <a:r>
              <a:rPr lang="ru-RU" sz="2000" dirty="0">
                <a:sym typeface="Wingdings" panose="05000000000000000000" pitchFamily="2" charset="2"/>
              </a:rPr>
              <a:t>как-то нам помогают</a:t>
            </a:r>
            <a:r>
              <a:rPr lang="en-US" sz="2000" dirty="0">
                <a:sym typeface="Wingdings" panose="05000000000000000000" pitchFamily="2" charset="2"/>
              </a:rPr>
              <a:t>”, </a:t>
            </a:r>
            <a:r>
              <a:rPr lang="ru-RU" sz="2000" dirty="0">
                <a:sym typeface="Wingdings" panose="05000000000000000000" pitchFamily="2" charset="2"/>
              </a:rPr>
              <a:t>но точности 100% никогда не будет.</a:t>
            </a:r>
          </a:p>
          <a:p>
            <a:pPr algn="l"/>
            <a:r>
              <a:rPr lang="ru-RU" sz="2000" dirty="0">
                <a:sym typeface="Wingdings" panose="05000000000000000000" pitchFamily="2" charset="2"/>
              </a:rPr>
              <a:t>При этом проверять </a:t>
            </a:r>
            <a:r>
              <a:rPr lang="ru-RU" sz="2000" b="1" dirty="0">
                <a:sym typeface="Wingdings" panose="05000000000000000000" pitchFamily="2" charset="2"/>
              </a:rPr>
              <a:t>НАДО. </a:t>
            </a:r>
            <a:r>
              <a:rPr lang="ru-RU" sz="2000" dirty="0">
                <a:sym typeface="Wingdings" panose="05000000000000000000" pitchFamily="2" charset="2"/>
              </a:rPr>
              <a:t>Отсутствие 100% точности не равно </a:t>
            </a:r>
            <a:r>
              <a:rPr lang="en-US" sz="2000" dirty="0">
                <a:sym typeface="Wingdings" panose="05000000000000000000" pitchFamily="2" charset="2"/>
              </a:rPr>
              <a:t>“</a:t>
            </a:r>
            <a:r>
              <a:rPr lang="ru-RU" sz="2000" dirty="0">
                <a:sym typeface="Wingdings" panose="05000000000000000000" pitchFamily="2" charset="2"/>
              </a:rPr>
              <a:t>нужно забить</a:t>
            </a:r>
            <a:r>
              <a:rPr lang="en-US" sz="2000" dirty="0">
                <a:sym typeface="Wingdings" panose="05000000000000000000" pitchFamily="2" charset="2"/>
              </a:rPr>
              <a:t>”</a:t>
            </a:r>
            <a:endParaRPr lang="en-US" sz="2000" b="1" dirty="0">
              <a:sym typeface="Wingdings" panose="05000000000000000000" pitchFamily="2" charset="2"/>
            </a:endParaRPr>
          </a:p>
          <a:p>
            <a:pPr algn="l"/>
            <a:endParaRPr lang="ru-RU" sz="2000" dirty="0"/>
          </a:p>
          <a:p>
            <a:pPr algn="l"/>
            <a:endParaRPr lang="ru-RU" sz="2000" dirty="0"/>
          </a:p>
          <a:p>
            <a:pPr algn="l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21992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9029350" cy="1153953"/>
          </a:xfrm>
        </p:spPr>
        <p:txBody>
          <a:bodyPr anchor="ctr">
            <a:noAutofit/>
          </a:bodyPr>
          <a:lstStyle/>
          <a:p>
            <a:pPr algn="l"/>
            <a:r>
              <a:rPr lang="ru-RU" sz="3200" b="1" dirty="0"/>
              <a:t>Какую задачу закрывает информация о </a:t>
            </a:r>
            <a:r>
              <a:rPr lang="ru-RU" sz="3200" b="1" dirty="0" err="1"/>
              <a:t>коммерческости</a:t>
            </a:r>
            <a:r>
              <a:rPr lang="ru-RU" sz="3200" b="1" dirty="0"/>
              <a:t> запроса</a:t>
            </a:r>
            <a:r>
              <a:rPr lang="en-US" sz="3200" b="1" dirty="0"/>
              <a:t>? </a:t>
            </a:r>
            <a:br>
              <a:rPr lang="ru-RU" sz="3200" b="1" dirty="0"/>
            </a:br>
            <a:r>
              <a:rPr lang="ru-RU" sz="3200" b="1" dirty="0"/>
              <a:t>Как она получается</a:t>
            </a:r>
            <a:r>
              <a:rPr lang="en-US" sz="3200" b="1" dirty="0"/>
              <a:t>? </a:t>
            </a:r>
            <a:r>
              <a:rPr lang="ru-RU" sz="3200" b="1" dirty="0"/>
              <a:t>Почему это не панацея</a:t>
            </a:r>
            <a:r>
              <a:rPr lang="en-US" sz="3200" b="1" dirty="0"/>
              <a:t>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1DDB33-853C-46D4-8242-CF76ADA7497B}"/>
              </a:ext>
            </a:extLst>
          </p:cNvPr>
          <p:cNvSpPr txBox="1">
            <a:spLocks/>
          </p:cNvSpPr>
          <p:nvPr/>
        </p:nvSpPr>
        <p:spPr>
          <a:xfrm>
            <a:off x="1668011" y="1493240"/>
            <a:ext cx="9144000" cy="53647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2EA4DB-4717-44DB-9D40-AF19E99AFB37}"/>
              </a:ext>
            </a:extLst>
          </p:cNvPr>
          <p:cNvSpPr txBox="1">
            <a:spLocks/>
          </p:cNvSpPr>
          <p:nvPr/>
        </p:nvSpPr>
        <p:spPr>
          <a:xfrm>
            <a:off x="6753137" y="1577130"/>
            <a:ext cx="4937010" cy="441260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E26AE9-8436-4288-B63E-9947033A9985}"/>
              </a:ext>
            </a:extLst>
          </p:cNvPr>
          <p:cNvSpPr txBox="1">
            <a:spLocks/>
          </p:cNvSpPr>
          <p:nvPr/>
        </p:nvSpPr>
        <p:spPr>
          <a:xfrm>
            <a:off x="1524001" y="1731395"/>
            <a:ext cx="9144000" cy="50552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/>
              <a:t>Все сервисы анализа </a:t>
            </a:r>
            <a:r>
              <a:rPr lang="ru-RU" sz="2000" dirty="0" err="1"/>
              <a:t>коммерческости</a:t>
            </a:r>
            <a:r>
              <a:rPr lang="ru-RU" sz="2000" dirty="0"/>
              <a:t> делают 1-2</a:t>
            </a:r>
            <a:r>
              <a:rPr lang="en-US" sz="2000" dirty="0"/>
              <a:t>-3</a:t>
            </a:r>
            <a:r>
              <a:rPr lang="ru-RU" sz="2000" dirty="0"/>
              <a:t> вещи</a:t>
            </a:r>
            <a:r>
              <a:rPr lang="en-US" sz="2000" dirty="0"/>
              <a:t>:</a:t>
            </a:r>
          </a:p>
          <a:p>
            <a:pPr marL="457200" indent="-457200" algn="l">
              <a:buAutoNum type="arabicParenR"/>
            </a:pPr>
            <a:r>
              <a:rPr lang="ru-RU" sz="2000" dirty="0"/>
              <a:t>Анализ запроса на наличие тех или иных слов маркеров</a:t>
            </a:r>
            <a:r>
              <a:rPr lang="en-US" sz="2000" dirty="0"/>
              <a:t>, </a:t>
            </a:r>
            <a:r>
              <a:rPr lang="ru-RU" sz="2000" dirty="0"/>
              <a:t>которые повышают или понижают вероятность того</a:t>
            </a:r>
            <a:r>
              <a:rPr lang="en-US" sz="2000" dirty="0"/>
              <a:t>, </a:t>
            </a:r>
            <a:r>
              <a:rPr lang="ru-RU" sz="2000" dirty="0"/>
              <a:t>что выдача коммерческая</a:t>
            </a:r>
          </a:p>
          <a:p>
            <a:pPr marL="457200" indent="-457200" algn="l">
              <a:buAutoNum type="arabicParenR"/>
            </a:pPr>
            <a:r>
              <a:rPr lang="ru-RU" sz="2000" dirty="0"/>
              <a:t>Анализ </a:t>
            </a:r>
            <a:r>
              <a:rPr lang="en-US" sz="2000" dirty="0"/>
              <a:t>“</a:t>
            </a:r>
            <a:r>
              <a:rPr lang="ru-RU" sz="2000" dirty="0"/>
              <a:t>Малых данных по </a:t>
            </a:r>
            <a:r>
              <a:rPr lang="en-US" sz="2000" dirty="0"/>
              <a:t>URL” (</a:t>
            </a:r>
            <a:r>
              <a:rPr lang="ru-RU" sz="2000" dirty="0"/>
              <a:t>слова в </a:t>
            </a:r>
            <a:r>
              <a:rPr lang="en-US" sz="2000" dirty="0"/>
              <a:t>URL, </a:t>
            </a:r>
            <a:r>
              <a:rPr lang="ru-RU" sz="2000" dirty="0"/>
              <a:t>слова в </a:t>
            </a:r>
            <a:r>
              <a:rPr lang="en-US" sz="2000" dirty="0"/>
              <a:t>Title, Description, H1)</a:t>
            </a:r>
            <a:r>
              <a:rPr lang="ru-RU" sz="2000" dirty="0"/>
              <a:t> – с выявлением тех или иных слов/других маркеров</a:t>
            </a:r>
            <a:r>
              <a:rPr lang="en-US" sz="2000" dirty="0"/>
              <a:t>, </a:t>
            </a:r>
            <a:r>
              <a:rPr lang="ru-RU" sz="2000" dirty="0"/>
              <a:t>которые повышают или понижают вероятность того</a:t>
            </a:r>
            <a:r>
              <a:rPr lang="en-US" sz="2000" dirty="0"/>
              <a:t>, </a:t>
            </a:r>
            <a:r>
              <a:rPr lang="ru-RU" sz="2000" dirty="0"/>
              <a:t>что </a:t>
            </a:r>
            <a:r>
              <a:rPr lang="en-US" sz="2000" dirty="0"/>
              <a:t>URL</a:t>
            </a:r>
            <a:r>
              <a:rPr lang="ru-RU" sz="2000" dirty="0"/>
              <a:t> и его содержимое</a:t>
            </a:r>
            <a:r>
              <a:rPr lang="en-US" sz="2000" dirty="0"/>
              <a:t> </a:t>
            </a:r>
            <a:r>
              <a:rPr lang="ru-RU" sz="2000" dirty="0"/>
              <a:t>коммерческое</a:t>
            </a:r>
          </a:p>
          <a:p>
            <a:pPr marL="457200" indent="-457200" algn="l">
              <a:buAutoNum type="arabicParenR"/>
            </a:pPr>
            <a:r>
              <a:rPr lang="ru-RU" sz="2000" dirty="0"/>
              <a:t>Анализ </a:t>
            </a:r>
            <a:r>
              <a:rPr lang="en-US" sz="2000" dirty="0"/>
              <a:t>“</a:t>
            </a:r>
            <a:r>
              <a:rPr lang="ru-RU" sz="2000" dirty="0"/>
              <a:t>Больших данных по </a:t>
            </a:r>
            <a:r>
              <a:rPr lang="en-US" sz="2000" dirty="0"/>
              <a:t>URL” (</a:t>
            </a:r>
            <a:r>
              <a:rPr lang="ru-RU" sz="2000" dirty="0"/>
              <a:t>анализ текста на странице) – с выявлением тех или иных слов/маркеров</a:t>
            </a:r>
            <a:r>
              <a:rPr lang="en-US" sz="2000" dirty="0"/>
              <a:t>, </a:t>
            </a:r>
            <a:r>
              <a:rPr lang="ru-RU" sz="2000" dirty="0"/>
              <a:t>которые повышают или понижают вероятность того</a:t>
            </a:r>
            <a:r>
              <a:rPr lang="en-US" sz="2000" dirty="0"/>
              <a:t>, </a:t>
            </a:r>
            <a:r>
              <a:rPr lang="ru-RU" sz="2000" dirty="0"/>
              <a:t>что </a:t>
            </a:r>
            <a:r>
              <a:rPr lang="en-US" sz="2000" dirty="0"/>
              <a:t>URL </a:t>
            </a:r>
            <a:r>
              <a:rPr lang="ru-RU" sz="2000" dirty="0"/>
              <a:t>и его содержимое – коммерческие</a:t>
            </a:r>
          </a:p>
          <a:p>
            <a:pPr marL="457200" indent="-457200" algn="l">
              <a:buAutoNum type="arabicParenR"/>
            </a:pPr>
            <a:endParaRPr lang="ru-RU" sz="2000" dirty="0"/>
          </a:p>
          <a:p>
            <a:pPr algn="l"/>
            <a:r>
              <a:rPr lang="ru-RU" sz="2000" dirty="0"/>
              <a:t>И все эти сервисы ни разу не 100% точные</a:t>
            </a:r>
            <a:r>
              <a:rPr lang="en-US" sz="2000" dirty="0"/>
              <a:t>, </a:t>
            </a:r>
            <a:r>
              <a:rPr lang="ru-RU" sz="2000" dirty="0"/>
              <a:t>потому что если подумать – вы можете сами понять как эти алгоритмы могут ошибаться.</a:t>
            </a:r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А самое главное </a:t>
            </a:r>
            <a:r>
              <a:rPr lang="en-US" sz="2000" dirty="0"/>
              <a:t>“</a:t>
            </a:r>
            <a:r>
              <a:rPr lang="ru-RU" sz="2000" dirty="0" err="1"/>
              <a:t>коммерческость</a:t>
            </a:r>
            <a:r>
              <a:rPr lang="en-US" sz="2000" dirty="0"/>
              <a:t> </a:t>
            </a:r>
            <a:r>
              <a:rPr lang="ru-RU" sz="2000" dirty="0" err="1"/>
              <a:t>коммерческости</a:t>
            </a:r>
            <a:r>
              <a:rPr lang="ru-RU" sz="2000" dirty="0"/>
              <a:t> рознь</a:t>
            </a:r>
            <a:r>
              <a:rPr lang="en-US" sz="2000" dirty="0"/>
              <a:t>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Страница услуги будет размечена коммерческой (и соответственно выдача с ней)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Страница листинга будет коммерческой…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Страница товара будет коммерческой…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Даже страница статьи может быть коммерческой</a:t>
            </a:r>
            <a:r>
              <a:rPr lang="en-US" sz="2000" dirty="0"/>
              <a:t>, </a:t>
            </a:r>
            <a:r>
              <a:rPr lang="ru-RU" sz="2000" dirty="0"/>
              <a:t>если в нее встроить слова и/или форму на </a:t>
            </a:r>
            <a:r>
              <a:rPr lang="en-US" sz="2000" dirty="0"/>
              <a:t>“</a:t>
            </a:r>
            <a:r>
              <a:rPr lang="ru-RU" sz="2000" dirty="0"/>
              <a:t>заказ услуги</a:t>
            </a:r>
            <a:r>
              <a:rPr lang="en-US" sz="2000" dirty="0"/>
              <a:t>”</a:t>
            </a:r>
            <a:r>
              <a:rPr lang="ru-RU" sz="2000" dirty="0"/>
              <a:t> в конце…</a:t>
            </a:r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Поэтому </a:t>
            </a:r>
            <a:r>
              <a:rPr lang="en-US" sz="2000" dirty="0"/>
              <a:t>“</a:t>
            </a:r>
            <a:r>
              <a:rPr lang="ru-RU" sz="2000" dirty="0" err="1"/>
              <a:t>коммерческость</a:t>
            </a:r>
            <a:r>
              <a:rPr lang="en-US" sz="2000" dirty="0"/>
              <a:t>”</a:t>
            </a:r>
            <a:r>
              <a:rPr lang="ru-RU" sz="2000" dirty="0"/>
              <a:t> - это хорошая рыба на безрыбье при аналитике массива запросов</a:t>
            </a:r>
            <a:r>
              <a:rPr lang="en-US" sz="2000" dirty="0"/>
              <a:t>, </a:t>
            </a:r>
            <a:r>
              <a:rPr lang="ru-RU" sz="2000" dirty="0"/>
              <a:t>но это ни разу не панацея</a:t>
            </a:r>
          </a:p>
        </p:txBody>
      </p:sp>
    </p:spTree>
    <p:extLst>
      <p:ext uri="{BB962C8B-B14F-4D97-AF65-F5344CB8AC3E}">
        <p14:creationId xmlns:p14="http://schemas.microsoft.com/office/powerpoint/2010/main" val="2874490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9029350" cy="1153953"/>
          </a:xfrm>
        </p:spPr>
        <p:txBody>
          <a:bodyPr anchor="ctr">
            <a:noAutofit/>
          </a:bodyPr>
          <a:lstStyle/>
          <a:p>
            <a:pPr algn="l"/>
            <a:r>
              <a:rPr lang="ru-RU" sz="3200" b="1" dirty="0"/>
              <a:t>Есть ли ограничение на количество запросов на страницу</a:t>
            </a:r>
            <a:r>
              <a:rPr lang="en-US" sz="3200" b="1" dirty="0"/>
              <a:t>? </a:t>
            </a:r>
            <a:r>
              <a:rPr lang="ru-RU" sz="3200" b="1" dirty="0"/>
              <a:t>Почему</a:t>
            </a:r>
            <a:r>
              <a:rPr lang="en-US" sz="3200" b="1" dirty="0"/>
              <a:t>?</a:t>
            </a:r>
            <a:endParaRPr lang="ru-RU" sz="32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1DDB33-853C-46D4-8242-CF76ADA7497B}"/>
              </a:ext>
            </a:extLst>
          </p:cNvPr>
          <p:cNvSpPr txBox="1">
            <a:spLocks/>
          </p:cNvSpPr>
          <p:nvPr/>
        </p:nvSpPr>
        <p:spPr>
          <a:xfrm>
            <a:off x="1668011" y="1493240"/>
            <a:ext cx="9144000" cy="53647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2EA4DB-4717-44DB-9D40-AF19E99AFB37}"/>
              </a:ext>
            </a:extLst>
          </p:cNvPr>
          <p:cNvSpPr txBox="1">
            <a:spLocks/>
          </p:cNvSpPr>
          <p:nvPr/>
        </p:nvSpPr>
        <p:spPr>
          <a:xfrm>
            <a:off x="6753137" y="1577130"/>
            <a:ext cx="4937010" cy="441260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E26AE9-8436-4288-B63E-9947033A9985}"/>
              </a:ext>
            </a:extLst>
          </p:cNvPr>
          <p:cNvSpPr txBox="1">
            <a:spLocks/>
          </p:cNvSpPr>
          <p:nvPr/>
        </p:nvSpPr>
        <p:spPr>
          <a:xfrm>
            <a:off x="1524001" y="1731395"/>
            <a:ext cx="9144000" cy="50552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A5D537-D6D5-4911-BF0D-0BC69A409E28}"/>
              </a:ext>
            </a:extLst>
          </p:cNvPr>
          <p:cNvSpPr txBox="1">
            <a:spLocks/>
          </p:cNvSpPr>
          <p:nvPr/>
        </p:nvSpPr>
        <p:spPr>
          <a:xfrm>
            <a:off x="5658100" y="3913000"/>
            <a:ext cx="5344016" cy="252182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  <a:p>
            <a:pPr algn="l"/>
            <a:r>
              <a:rPr lang="ru-RU" sz="2000" dirty="0" err="1"/>
              <a:t>Парсинг</a:t>
            </a:r>
            <a:r>
              <a:rPr lang="ru-RU" sz="2000" dirty="0"/>
              <a:t> подсказок немного подлечивает эту проблему</a:t>
            </a:r>
            <a:r>
              <a:rPr lang="en-US" sz="2000" dirty="0"/>
              <a:t>, </a:t>
            </a:r>
            <a:r>
              <a:rPr lang="ru-RU" sz="2000" dirty="0"/>
              <a:t>потому что у подсказок нет ограничения на это количество слов. Но мы точно не узнаем их частотность (ни Директ ни </a:t>
            </a:r>
            <a:r>
              <a:rPr lang="ru-RU" sz="2000" dirty="0" err="1"/>
              <a:t>Вордстат</a:t>
            </a:r>
            <a:r>
              <a:rPr lang="ru-RU" sz="2000" dirty="0"/>
              <a:t> не примут запроса на запрос частотности  7+ слов.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03F1E-9B22-4C5A-9DF2-4880F0AAA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8" y="1351048"/>
            <a:ext cx="5405094" cy="26173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4E9F40-0F8B-4C62-887A-2830733726B4}"/>
              </a:ext>
            </a:extLst>
          </p:cNvPr>
          <p:cNvSpPr txBox="1"/>
          <p:nvPr/>
        </p:nvSpPr>
        <p:spPr>
          <a:xfrm>
            <a:off x="5656277" y="1660090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dirty="0"/>
              <a:t>Нет. </a:t>
            </a:r>
          </a:p>
          <a:p>
            <a:pPr algn="l"/>
            <a:r>
              <a:rPr lang="ru-RU" sz="1800" dirty="0"/>
              <a:t>Есть огромное количество комбинаций запросов</a:t>
            </a:r>
            <a:r>
              <a:rPr lang="en-US" sz="1800" dirty="0"/>
              <a:t>, </a:t>
            </a:r>
            <a:r>
              <a:rPr lang="ru-RU" sz="1800" dirty="0"/>
              <a:t>которые можно посадить на одну страницу</a:t>
            </a:r>
            <a:r>
              <a:rPr lang="en-US" sz="1800" dirty="0"/>
              <a:t>, </a:t>
            </a:r>
            <a:r>
              <a:rPr lang="ru-RU" sz="1800" dirty="0"/>
              <a:t>потому что количество слов в запросе очень велико. </a:t>
            </a:r>
          </a:p>
          <a:p>
            <a:pPr algn="l"/>
            <a:r>
              <a:rPr lang="en-US" sz="1800" dirty="0"/>
              <a:t>Yandex Search API </a:t>
            </a:r>
            <a:r>
              <a:rPr lang="ru-RU" sz="1800" dirty="0"/>
              <a:t>примет запросы до 40(!) слов</a:t>
            </a:r>
          </a:p>
          <a:p>
            <a:pPr algn="l"/>
            <a:r>
              <a:rPr lang="ru-RU" sz="1800" dirty="0"/>
              <a:t>Кстати </a:t>
            </a:r>
            <a:r>
              <a:rPr lang="ru-RU" sz="1800" dirty="0" err="1"/>
              <a:t>парсинг</a:t>
            </a:r>
            <a:r>
              <a:rPr lang="ru-RU" sz="1800" dirty="0"/>
              <a:t> запросов даст нам только запросы до 7(!) слов. </a:t>
            </a:r>
          </a:p>
          <a:p>
            <a:pPr algn="l"/>
            <a:r>
              <a:rPr lang="ru-RU" sz="1800" dirty="0"/>
              <a:t>Огромную часть запросов в поиск мы </a:t>
            </a:r>
            <a:r>
              <a:rPr lang="ru-RU" sz="1800" b="1" dirty="0"/>
              <a:t>никогда</a:t>
            </a:r>
            <a:r>
              <a:rPr lang="ru-RU" sz="1800" dirty="0"/>
              <a:t> не узнаем.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D133D-CF4E-4E1B-88EC-42D301EB4464}"/>
              </a:ext>
            </a:extLst>
          </p:cNvPr>
          <p:cNvSpPr txBox="1"/>
          <p:nvPr/>
        </p:nvSpPr>
        <p:spPr>
          <a:xfrm>
            <a:off x="122156" y="3951036"/>
            <a:ext cx="53440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dirty="0"/>
              <a:t>На скриншоте используется </a:t>
            </a:r>
            <a:r>
              <a:rPr lang="ru-RU" sz="1800" dirty="0" err="1"/>
              <a:t>лайфхак</a:t>
            </a:r>
            <a:r>
              <a:rPr lang="en-US" dirty="0"/>
              <a:t>, </a:t>
            </a:r>
            <a:r>
              <a:rPr lang="ru-RU" dirty="0"/>
              <a:t>который я называю </a:t>
            </a:r>
            <a:r>
              <a:rPr lang="en-US" dirty="0"/>
              <a:t>“</a:t>
            </a:r>
            <a:r>
              <a:rPr lang="ru-RU" dirty="0"/>
              <a:t>лесенка</a:t>
            </a:r>
            <a:r>
              <a:rPr lang="en-US" dirty="0"/>
              <a:t>”</a:t>
            </a:r>
            <a:r>
              <a:rPr lang="ru-RU" dirty="0"/>
              <a:t>.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Его можно комбинировать с другим оператором ! – и </a:t>
            </a:r>
            <a:r>
              <a:rPr lang="ru-RU" dirty="0" err="1"/>
              <a:t>морфером</a:t>
            </a:r>
            <a:r>
              <a:rPr lang="en-US" dirty="0"/>
              <a:t> - https://morpher.ru/</a:t>
            </a:r>
            <a:endParaRPr lang="ru-RU" dirty="0"/>
          </a:p>
          <a:p>
            <a:pPr algn="l"/>
            <a:endParaRPr lang="ru-RU" dirty="0"/>
          </a:p>
          <a:p>
            <a:pPr algn="l"/>
            <a:r>
              <a:rPr lang="ru-RU" dirty="0"/>
              <a:t>И получать очень интересные результаты для большого </a:t>
            </a:r>
            <a:r>
              <a:rPr lang="ru-RU" dirty="0" err="1"/>
              <a:t>парсинга</a:t>
            </a:r>
            <a:r>
              <a:rPr lang="ru-RU" dirty="0"/>
              <a:t>. 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Но даже там более 7 слов в запросе не будет.</a:t>
            </a:r>
          </a:p>
        </p:txBody>
      </p:sp>
    </p:spTree>
    <p:extLst>
      <p:ext uri="{BB962C8B-B14F-4D97-AF65-F5344CB8AC3E}">
        <p14:creationId xmlns:p14="http://schemas.microsoft.com/office/powerpoint/2010/main" val="1806246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91F-1762-4882-8369-56917127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177"/>
            <a:ext cx="9029350" cy="1153953"/>
          </a:xfrm>
        </p:spPr>
        <p:txBody>
          <a:bodyPr anchor="ctr">
            <a:noAutofit/>
          </a:bodyPr>
          <a:lstStyle/>
          <a:p>
            <a:r>
              <a:rPr lang="ru-RU" sz="3200" b="1" dirty="0"/>
              <a:t>Что должно и не быть на финальном листе</a:t>
            </a:r>
            <a:r>
              <a:rPr lang="en-US" sz="3200" b="1" dirty="0"/>
              <a:t> </a:t>
            </a:r>
            <a:r>
              <a:rPr lang="ru-RU" sz="3200" b="1" dirty="0"/>
              <a:t>сбора семантики</a:t>
            </a:r>
            <a:r>
              <a:rPr lang="en-US" sz="3200" b="1" dirty="0"/>
              <a:t>? </a:t>
            </a:r>
            <a:r>
              <a:rPr lang="ru-RU" sz="3200" b="1" dirty="0"/>
              <a:t>Какие бывают ошибки на избежание</a:t>
            </a:r>
            <a:r>
              <a:rPr lang="en-US" sz="3200" b="1" dirty="0"/>
              <a:t>?</a:t>
            </a:r>
            <a:endParaRPr lang="ru-RU" sz="32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4DF0B-7FF4-467A-9A62-291C8F0D1F37}"/>
              </a:ext>
            </a:extLst>
          </p:cNvPr>
          <p:cNvSpPr txBox="1">
            <a:spLocks/>
          </p:cNvSpPr>
          <p:nvPr/>
        </p:nvSpPr>
        <p:spPr>
          <a:xfrm>
            <a:off x="1524000" y="1338975"/>
            <a:ext cx="9144000" cy="1153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1DDB33-853C-46D4-8242-CF76ADA7497B}"/>
              </a:ext>
            </a:extLst>
          </p:cNvPr>
          <p:cNvSpPr txBox="1">
            <a:spLocks/>
          </p:cNvSpPr>
          <p:nvPr/>
        </p:nvSpPr>
        <p:spPr>
          <a:xfrm>
            <a:off x="1668011" y="1493240"/>
            <a:ext cx="9144000" cy="53647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2EA4DB-4717-44DB-9D40-AF19E99AFB37}"/>
              </a:ext>
            </a:extLst>
          </p:cNvPr>
          <p:cNvSpPr txBox="1">
            <a:spLocks/>
          </p:cNvSpPr>
          <p:nvPr/>
        </p:nvSpPr>
        <p:spPr>
          <a:xfrm>
            <a:off x="6753137" y="1577130"/>
            <a:ext cx="4937010" cy="441260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E26AE9-8436-4288-B63E-9947033A9985}"/>
              </a:ext>
            </a:extLst>
          </p:cNvPr>
          <p:cNvSpPr txBox="1">
            <a:spLocks/>
          </p:cNvSpPr>
          <p:nvPr/>
        </p:nvSpPr>
        <p:spPr>
          <a:xfrm>
            <a:off x="1524000" y="1379525"/>
            <a:ext cx="9144000" cy="11972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/>
              <a:t>Вообще</a:t>
            </a:r>
            <a:r>
              <a:rPr lang="en-US" sz="2000" dirty="0"/>
              <a:t>, </a:t>
            </a:r>
            <a:r>
              <a:rPr lang="ru-RU" sz="2000" dirty="0"/>
              <a:t>всегда решает постановщик задачи в контакте с исполнителем.</a:t>
            </a:r>
          </a:p>
          <a:p>
            <a:pPr algn="l"/>
            <a:r>
              <a:rPr lang="ru-RU" sz="2000" dirty="0"/>
              <a:t>Бывают разные особенности</a:t>
            </a:r>
            <a:r>
              <a:rPr lang="en-US" sz="2000" dirty="0"/>
              <a:t>, </a:t>
            </a:r>
            <a:r>
              <a:rPr lang="ru-RU" sz="2000" dirty="0"/>
              <a:t>запросы</a:t>
            </a:r>
            <a:r>
              <a:rPr lang="en-US" sz="2000" dirty="0"/>
              <a:t>, </a:t>
            </a:r>
            <a:r>
              <a:rPr lang="ru-RU" sz="2000" dirty="0"/>
              <a:t>кейсы и потребности.</a:t>
            </a:r>
          </a:p>
          <a:p>
            <a:pPr algn="l"/>
            <a:r>
              <a:rPr lang="ru-RU" sz="2000" dirty="0"/>
              <a:t>Однако</a:t>
            </a:r>
            <a:r>
              <a:rPr lang="en-US" sz="2000" dirty="0"/>
              <a:t>, </a:t>
            </a:r>
            <a:r>
              <a:rPr lang="ru-RU" sz="2000" dirty="0"/>
              <a:t>попробуем стандартизировать</a:t>
            </a:r>
            <a:r>
              <a:rPr lang="en-US" sz="2000" dirty="0"/>
              <a:t>, </a:t>
            </a:r>
            <a:r>
              <a:rPr lang="ru-RU" sz="2000" dirty="0"/>
              <a:t>что должно и чего не должно быть в итоговом файле. Какие бывают ошибки</a:t>
            </a:r>
            <a:endParaRPr lang="en-US" sz="2000" dirty="0"/>
          </a:p>
          <a:p>
            <a:pPr algn="l"/>
            <a:endParaRPr lang="en-US" sz="2000" dirty="0"/>
          </a:p>
          <a:p>
            <a:pPr algn="l"/>
            <a:endParaRPr lang="ru-RU" sz="20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72BCA7C-5969-40BC-AA2D-A38688ADA7BE}"/>
              </a:ext>
            </a:extLst>
          </p:cNvPr>
          <p:cNvSpPr txBox="1">
            <a:spLocks/>
          </p:cNvSpPr>
          <p:nvPr/>
        </p:nvSpPr>
        <p:spPr>
          <a:xfrm>
            <a:off x="1596005" y="1577130"/>
            <a:ext cx="9144000" cy="50552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BEC160F-379E-4792-92D7-CBCF9F0EA1EF}"/>
              </a:ext>
            </a:extLst>
          </p:cNvPr>
          <p:cNvSpPr txBox="1">
            <a:spLocks/>
          </p:cNvSpPr>
          <p:nvPr/>
        </p:nvSpPr>
        <p:spPr>
          <a:xfrm>
            <a:off x="981862" y="2695196"/>
            <a:ext cx="4420998" cy="25040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/>
              <a:t>Должно быть (точно)</a:t>
            </a:r>
            <a:endParaRPr lang="en-US" sz="20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Список релевантных запросов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Название групп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Разделение на группы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Годовая частотность</a:t>
            </a:r>
            <a:r>
              <a:rPr lang="en-US" sz="2000" dirty="0"/>
              <a:t> WS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Годовая частотность </a:t>
            </a:r>
            <a:r>
              <a:rPr lang="en-US" sz="2000" dirty="0"/>
              <a:t>“!WS”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Месячная частотность </a:t>
            </a:r>
            <a:r>
              <a:rPr lang="en-US" sz="2000" b="1" dirty="0"/>
              <a:t>“[!]”</a:t>
            </a:r>
            <a:endParaRPr lang="ru-RU" sz="2000" b="1" dirty="0"/>
          </a:p>
          <a:p>
            <a:pPr algn="l"/>
            <a:endParaRPr lang="ru-RU" sz="20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877C4EC-EFD5-4BBE-8462-AD7E4CB13A71}"/>
              </a:ext>
            </a:extLst>
          </p:cNvPr>
          <p:cNvSpPr txBox="1">
            <a:spLocks/>
          </p:cNvSpPr>
          <p:nvPr/>
        </p:nvSpPr>
        <p:spPr>
          <a:xfrm>
            <a:off x="5438863" y="2690533"/>
            <a:ext cx="6251283" cy="25903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/>
              <a:t>Точно НЕ должно быть (ошибки)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dirty="0"/>
              <a:t>Технических (несуществующих) запросов</a:t>
            </a:r>
          </a:p>
          <a:p>
            <a:pPr algn="l"/>
            <a:r>
              <a:rPr lang="ru-RU" sz="2000" b="1" dirty="0"/>
              <a:t>      </a:t>
            </a:r>
            <a:r>
              <a:rPr lang="ru-RU" sz="2000" dirty="0"/>
              <a:t>(просто нужно снять частотности)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dirty="0"/>
              <a:t>Полностью нулевых запросов</a:t>
            </a:r>
          </a:p>
          <a:p>
            <a:pPr algn="l"/>
            <a:r>
              <a:rPr lang="ru-RU" sz="2000" dirty="0"/>
              <a:t>      (просто нужно снять частотности)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dirty="0"/>
              <a:t>Нулевых </a:t>
            </a:r>
            <a:r>
              <a:rPr lang="en-US" sz="2000" b="1" dirty="0"/>
              <a:t>“[!]”</a:t>
            </a:r>
            <a:r>
              <a:rPr lang="ru-RU" sz="2000" b="1" dirty="0"/>
              <a:t> неявных дубликатов </a:t>
            </a:r>
          </a:p>
          <a:p>
            <a:pPr algn="l"/>
            <a:r>
              <a:rPr lang="ru-RU" sz="1800" dirty="0"/>
              <a:t>       (не провели сбор и фильтрацию)</a:t>
            </a:r>
            <a:endParaRPr lang="ru-RU" sz="18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dirty="0"/>
              <a:t>Запросов нерелевантных сайту</a:t>
            </a:r>
          </a:p>
          <a:p>
            <a:pPr algn="l"/>
            <a:r>
              <a:rPr lang="ru-RU" sz="2000" b="1" dirty="0"/>
              <a:t>      </a:t>
            </a:r>
            <a:r>
              <a:rPr lang="ru-RU" sz="2000" dirty="0"/>
              <a:t>(не провели анализ </a:t>
            </a:r>
            <a:r>
              <a:rPr lang="ru-RU" sz="2000" dirty="0" err="1"/>
              <a:t>ТОПа</a:t>
            </a:r>
            <a:r>
              <a:rPr lang="ru-RU" sz="2000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dirty="0"/>
              <a:t>Запросов нерелевантных группе</a:t>
            </a:r>
            <a:r>
              <a:rPr lang="en-US" sz="2000" b="1" dirty="0"/>
              <a:t>/URL</a:t>
            </a:r>
            <a:r>
              <a:rPr lang="ru-RU" sz="2000" b="1" dirty="0"/>
              <a:t> </a:t>
            </a:r>
            <a:endParaRPr lang="ru-RU" sz="2000" dirty="0"/>
          </a:p>
          <a:p>
            <a:pPr algn="l"/>
            <a:r>
              <a:rPr lang="ru-RU" sz="2000" dirty="0"/>
              <a:t>      (не провели анализ </a:t>
            </a:r>
            <a:r>
              <a:rPr lang="ru-RU" sz="2000" dirty="0" err="1"/>
              <a:t>ТОПа</a:t>
            </a:r>
            <a:r>
              <a:rPr lang="ru-RU" sz="2000" dirty="0"/>
              <a:t> и проверку кластеризации) </a:t>
            </a:r>
            <a:endParaRPr lang="ru-RU" sz="20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C5A2B8-8FEC-4C9F-A586-4CAD6F2B4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089" y="5519025"/>
            <a:ext cx="752475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09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2336</Words>
  <Application>Microsoft Office PowerPoint</Application>
  <PresentationFormat>Widescreen</PresentationFormat>
  <Paragraphs>216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Сбор углубленной семантики</vt:lpstr>
      <vt:lpstr>Вопросы на аттестацию</vt:lpstr>
      <vt:lpstr>Зачем нам нужна углублённая семантика?</vt:lpstr>
      <vt:lpstr>Стандартное задание на сбор углублённой семантику включает: 1 страницу, 1 раздел или 1 сайт? Почему именно так? Какие особенности у сбора семантики под раздел в отличие от сбора под страницу?</vt:lpstr>
      <vt:lpstr>Что такое интент запроса и почему он важен? На что влияет понимание интента? Как его выявить? Почему нужно проверять интент на практике?</vt:lpstr>
      <vt:lpstr>Какие этапы у сбора семантики под страницу?</vt:lpstr>
      <vt:lpstr>Какие инструменты используются для сбора углублённой семантики? Часть 1</vt:lpstr>
      <vt:lpstr>Какие инструменты используются для сбора углублённой семантики? Часть 2</vt:lpstr>
      <vt:lpstr>Какие разновидности запросов у Яндекса бывают и какие у них особенности (не про операторы)?</vt:lpstr>
      <vt:lpstr>Какие операторы важны для сбора семантики и что они делают?</vt:lpstr>
      <vt:lpstr>Зачем нужно проверять выдачу (руками/сервисами + как именно) для принятия решения о включении запроса в финальную версию семантики?</vt:lpstr>
      <vt:lpstr>Какую задачу закрывает информация о коммерческости запроса?  Как она получается? Почему это не панацея?</vt:lpstr>
      <vt:lpstr>Есть ли ограничение на количество запросов на страницу? Почему?</vt:lpstr>
      <vt:lpstr>Что должно и не быть на финальном листе сбора семантики? Какие бывают ошибки на избежание?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Сбор углубленной семантики</dc:title>
  <dc:creator>Павел Прахов</dc:creator>
  <cp:lastModifiedBy>Павел Прахов</cp:lastModifiedBy>
  <cp:revision>34</cp:revision>
  <dcterms:created xsi:type="dcterms:W3CDTF">2024-05-29T13:19:38Z</dcterms:created>
  <dcterms:modified xsi:type="dcterms:W3CDTF">2024-05-31T15:27:59Z</dcterms:modified>
</cp:coreProperties>
</file>